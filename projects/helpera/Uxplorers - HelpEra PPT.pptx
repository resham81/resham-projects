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Noto Serif Ethiopic Condensed Bold" charset="1" panose="02020502060505020204"/>
      <p:regular r:id="rId38"/>
    </p:embeddedFont>
    <p:embeddedFont>
      <p:font typeface="Noto Serif Ethiopic Condensed" charset="1" panose="02020502060505020204"/>
      <p:regular r:id="rId39"/>
    </p:embeddedFont>
    <p:embeddedFont>
      <p:font typeface="Inter Bold" charset="1" panose="02000503000000020004"/>
      <p:regular r:id="rId40"/>
    </p:embeddedFont>
    <p:embeddedFont>
      <p:font typeface="Inter" charset="1" panose="02000503000000020004"/>
      <p:regular r:id="rId41"/>
    </p:embeddedFont>
    <p:embeddedFont>
      <p:font typeface="Inter Italics" charset="1" panose="02000503000000020004"/>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20.pn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2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14" Target="../media/image26.png" Type="http://schemas.openxmlformats.org/officeDocument/2006/relationships/image"/><Relationship Id="rId15" Target="../media/image27.svg" Type="http://schemas.openxmlformats.org/officeDocument/2006/relationships/image"/><Relationship Id="rId16" Target="../media/image28.png" Type="http://schemas.openxmlformats.org/officeDocument/2006/relationships/image"/><Relationship Id="rId17" Target="../media/image29.svg" Type="http://schemas.openxmlformats.org/officeDocument/2006/relationships/image"/><Relationship Id="rId18" Target="../media/image30.png" Type="http://schemas.openxmlformats.org/officeDocument/2006/relationships/image"/><Relationship Id="rId19" Target="../media/image31.svg" Type="http://schemas.openxmlformats.org/officeDocument/2006/relationships/image"/><Relationship Id="rId2" Target="../media/image21.png" Type="http://schemas.openxmlformats.org/officeDocument/2006/relationships/image"/><Relationship Id="rId20" Target="../media/image32.png" Type="http://schemas.openxmlformats.org/officeDocument/2006/relationships/image"/><Relationship Id="rId21" Target="../media/image33.sv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png" Type="http://schemas.openxmlformats.org/officeDocument/2006/relationships/image"/><Relationship Id="rId11" Target="../media/image43.png" Type="http://schemas.openxmlformats.org/officeDocument/2006/relationships/image"/><Relationship Id="rId12" Target="../media/image44.svg" Type="http://schemas.openxmlformats.org/officeDocument/2006/relationships/image"/><Relationship Id="rId13" Target="../media/image45.png" Type="http://schemas.openxmlformats.org/officeDocument/2006/relationships/image"/><Relationship Id="rId14" Target="../media/image46.png" Type="http://schemas.openxmlformats.org/officeDocument/2006/relationships/image"/><Relationship Id="rId15" Target="../media/image47.svg" Type="http://schemas.openxmlformats.org/officeDocument/2006/relationships/image"/><Relationship Id="rId16" Target="../media/image48.png" Type="http://schemas.openxmlformats.org/officeDocument/2006/relationships/image"/><Relationship Id="rId2" Target="../media/image34.png" Type="http://schemas.openxmlformats.org/officeDocument/2006/relationships/image"/><Relationship Id="rId3" Target="../media/image35.svg" Type="http://schemas.openxmlformats.org/officeDocument/2006/relationships/image"/><Relationship Id="rId4" Target="../media/image36.png" Type="http://schemas.openxmlformats.org/officeDocument/2006/relationships/image"/><Relationship Id="rId5" Target="../media/image37.svg" Type="http://schemas.openxmlformats.org/officeDocument/2006/relationships/image"/><Relationship Id="rId6" Target="../media/image38.png" Type="http://schemas.openxmlformats.org/officeDocument/2006/relationships/image"/><Relationship Id="rId7" Target="../media/image39.svg" Type="http://schemas.openxmlformats.org/officeDocument/2006/relationships/image"/><Relationship Id="rId8" Target="../media/image40.png" Type="http://schemas.openxmlformats.org/officeDocument/2006/relationships/image"/><Relationship Id="rId9" Target="../media/image4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9.png" Type="http://schemas.openxmlformats.org/officeDocument/2006/relationships/image"/><Relationship Id="rId5" Target="../media/image50.png" Type="http://schemas.openxmlformats.org/officeDocument/2006/relationships/image"/><Relationship Id="rId6" Target="../media/image5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pn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59.png" Type="http://schemas.openxmlformats.org/officeDocument/2006/relationships/image"/><Relationship Id="rId9" Target="../media/image6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1.png" Type="http://schemas.openxmlformats.org/officeDocument/2006/relationships/image"/><Relationship Id="rId11" Target="../media/image62.svg" Type="http://schemas.openxmlformats.org/officeDocument/2006/relationships/image"/><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57.png" Type="http://schemas.openxmlformats.org/officeDocument/2006/relationships/image"/><Relationship Id="rId9" Target="../media/image58.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5.png" Type="http://schemas.openxmlformats.org/officeDocument/2006/relationships/image"/><Relationship Id="rId11" Target="../media/image66.svg" Type="http://schemas.openxmlformats.org/officeDocument/2006/relationships/image"/><Relationship Id="rId12" Target="../media/image67.png" Type="http://schemas.openxmlformats.org/officeDocument/2006/relationships/image"/><Relationship Id="rId13" Target="../media/image68.svg" Type="http://schemas.openxmlformats.org/officeDocument/2006/relationships/image"/><Relationship Id="rId14" Target="../media/image69.png" Type="http://schemas.openxmlformats.org/officeDocument/2006/relationships/image"/><Relationship Id="rId15" Target="../media/image70.svg" Type="http://schemas.openxmlformats.org/officeDocument/2006/relationships/image"/><Relationship Id="rId16" Target="../media/image71.png" Type="http://schemas.openxmlformats.org/officeDocument/2006/relationships/image"/><Relationship Id="rId17" Target="../media/image72.svg" Type="http://schemas.openxmlformats.org/officeDocument/2006/relationships/image"/><Relationship Id="rId18" Target="../media/image73.png" Type="http://schemas.openxmlformats.org/officeDocument/2006/relationships/image"/><Relationship Id="rId19" Target="../media/image74.svg" Type="http://schemas.openxmlformats.org/officeDocument/2006/relationships/image"/><Relationship Id="rId2" Target="../media/image34.png" Type="http://schemas.openxmlformats.org/officeDocument/2006/relationships/image"/><Relationship Id="rId3" Target="../media/image35.svg" Type="http://schemas.openxmlformats.org/officeDocument/2006/relationships/image"/><Relationship Id="rId4" Target="../media/image63.png" Type="http://schemas.openxmlformats.org/officeDocument/2006/relationships/image"/><Relationship Id="rId5" Target="../media/image64.svg" Type="http://schemas.openxmlformats.org/officeDocument/2006/relationships/image"/><Relationship Id="rId6" Target="../media/image36.png" Type="http://schemas.openxmlformats.org/officeDocument/2006/relationships/image"/><Relationship Id="rId7" Target="../media/image37.svg" Type="http://schemas.openxmlformats.org/officeDocument/2006/relationships/image"/><Relationship Id="rId8" Target="../media/image38.png" Type="http://schemas.openxmlformats.org/officeDocument/2006/relationships/image"/><Relationship Id="rId9" Target="../media/image39.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media/image75.png" Type="http://schemas.openxmlformats.org/officeDocument/2006/relationships/image"/><Relationship Id="rId3" Target="../media/image76.svg" Type="http://schemas.openxmlformats.org/officeDocument/2006/relationships/image"/><Relationship Id="rId4" Target="../media/image57.png" Type="http://schemas.openxmlformats.org/officeDocument/2006/relationships/image"/><Relationship Id="rId5" Target="../media/image58.svg" Type="http://schemas.openxmlformats.org/officeDocument/2006/relationships/image"/><Relationship Id="rId6" Target="../media/image34.png" Type="http://schemas.openxmlformats.org/officeDocument/2006/relationships/image"/><Relationship Id="rId7" Target="../media/image35.svg" Type="http://schemas.openxmlformats.org/officeDocument/2006/relationships/image"/><Relationship Id="rId8" Target="../media/image77.png" Type="http://schemas.openxmlformats.org/officeDocument/2006/relationships/image"/><Relationship Id="rId9" Target="../media/image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8.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5.png" Type="http://schemas.openxmlformats.org/officeDocument/2006/relationships/image"/><Relationship Id="rId11" Target="../media/image86.svg" Type="http://schemas.openxmlformats.org/officeDocument/2006/relationships/image"/><Relationship Id="rId12" Target="../media/image87.png" Type="http://schemas.openxmlformats.org/officeDocument/2006/relationships/image"/><Relationship Id="rId13" Target="../media/image88.svg" Type="http://schemas.openxmlformats.org/officeDocument/2006/relationships/image"/><Relationship Id="rId14" Target="../media/image89.png" Type="http://schemas.openxmlformats.org/officeDocument/2006/relationships/image"/><Relationship Id="rId15" Target="../media/image90.svg" Type="http://schemas.openxmlformats.org/officeDocument/2006/relationships/image"/><Relationship Id="rId16" Target="../media/image91.png" Type="http://schemas.openxmlformats.org/officeDocument/2006/relationships/image"/><Relationship Id="rId17" Target="../media/image92.svg" Type="http://schemas.openxmlformats.org/officeDocument/2006/relationships/image"/><Relationship Id="rId2" Target="../media/image38.png" Type="http://schemas.openxmlformats.org/officeDocument/2006/relationships/image"/><Relationship Id="rId3" Target="../media/image39.svg" Type="http://schemas.openxmlformats.org/officeDocument/2006/relationships/image"/><Relationship Id="rId4" Target="../media/image79.png" Type="http://schemas.openxmlformats.org/officeDocument/2006/relationships/image"/><Relationship Id="rId5" Target="../media/image80.svg" Type="http://schemas.openxmlformats.org/officeDocument/2006/relationships/image"/><Relationship Id="rId6" Target="../media/image81.png" Type="http://schemas.openxmlformats.org/officeDocument/2006/relationships/image"/><Relationship Id="rId7" Target="../media/image82.svg" Type="http://schemas.openxmlformats.org/officeDocument/2006/relationships/image"/><Relationship Id="rId8" Target="../media/image83.png" Type="http://schemas.openxmlformats.org/officeDocument/2006/relationships/image"/><Relationship Id="rId9" Target="../media/image84.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3.png" Type="http://schemas.openxmlformats.org/officeDocument/2006/relationships/image"/><Relationship Id="rId3" Target="../media/image94.png" Type="http://schemas.openxmlformats.org/officeDocument/2006/relationships/image"/><Relationship Id="rId4" Target="../media/image95.png" Type="http://schemas.openxmlformats.org/officeDocument/2006/relationships/image"/><Relationship Id="rId5" Target="../media/image96.png" Type="http://schemas.openxmlformats.org/officeDocument/2006/relationships/image"/><Relationship Id="rId6" Target="../media/image97.png" Type="http://schemas.openxmlformats.org/officeDocument/2006/relationships/image"/><Relationship Id="rId7" Target="../media/image57.png" Type="http://schemas.openxmlformats.org/officeDocument/2006/relationships/image"/><Relationship Id="rId8" Target="../media/image58.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98.png" Type="http://schemas.openxmlformats.org/officeDocument/2006/relationships/image"/><Relationship Id="rId7" Target="../media/image99.png" Type="http://schemas.openxmlformats.org/officeDocument/2006/relationships/image"/><Relationship Id="rId8" Target="../media/image12.png" Type="http://schemas.openxmlformats.org/officeDocument/2006/relationships/image"/><Relationship Id="rId9" Target="../media/image13.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00.png" Type="http://schemas.openxmlformats.org/officeDocument/2006/relationships/image"/><Relationship Id="rId7" Target="../media/image101.png" Type="http://schemas.openxmlformats.org/officeDocument/2006/relationships/image"/><Relationship Id="rId8" Target="../media/image102.png" Type="http://schemas.openxmlformats.org/officeDocument/2006/relationships/image"/><Relationship Id="rId9" Target="../media/image10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04.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20.png" Type="http://schemas.openxmlformats.org/officeDocument/2006/relationships/image"/><Relationship Id="rId7" Target="../media/image10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06.png" Type="http://schemas.openxmlformats.org/officeDocument/2006/relationships/image"/><Relationship Id="rId7" Target="../media/image107.pn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0.png" Type="http://schemas.openxmlformats.org/officeDocument/2006/relationships/image"/><Relationship Id="rId11" Target="../media/image25.png" Type="http://schemas.openxmlformats.org/officeDocument/2006/relationships/image"/><Relationship Id="rId12" Target="../media/image111.png" Type="http://schemas.openxmlformats.org/officeDocument/2006/relationships/image"/><Relationship Id="rId13" Target="../media/image112.png" Type="http://schemas.openxmlformats.org/officeDocument/2006/relationships/image"/><Relationship Id="rId14" Target="../media/image113.png" Type="http://schemas.openxmlformats.org/officeDocument/2006/relationships/image"/><Relationship Id="rId15" Target="../media/image114.png" Type="http://schemas.openxmlformats.org/officeDocument/2006/relationships/image"/><Relationship Id="rId16" Target="../media/image115.pn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108.png" Type="http://schemas.openxmlformats.org/officeDocument/2006/relationships/image"/><Relationship Id="rId9" Target="../media/image109.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6.png" Type="http://schemas.openxmlformats.org/officeDocument/2006/relationships/image"/><Relationship Id="rId3" Target="../media/image117.svg" Type="http://schemas.openxmlformats.org/officeDocument/2006/relationships/image"/><Relationship Id="rId4" Target="../media/image118.png" Type="http://schemas.openxmlformats.org/officeDocument/2006/relationships/image"/><Relationship Id="rId5" Target="../media/image119.svg" Type="http://schemas.openxmlformats.org/officeDocument/2006/relationships/image"/><Relationship Id="rId6" Target="../media/image11.png" Type="http://schemas.openxmlformats.org/officeDocument/2006/relationships/image"/><Relationship Id="rId7" Target="../media/image12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TextBox 2" id="2"/>
          <p:cNvSpPr txBox="true"/>
          <p:nvPr/>
        </p:nvSpPr>
        <p:spPr>
          <a:xfrm rot="0">
            <a:off x="9500579" y="2134975"/>
            <a:ext cx="6847762" cy="1723675"/>
          </a:xfrm>
          <a:prstGeom prst="rect">
            <a:avLst/>
          </a:prstGeom>
        </p:spPr>
        <p:txBody>
          <a:bodyPr anchor="t" rtlCol="false" tIns="0" lIns="0" bIns="0" rIns="0">
            <a:spAutoFit/>
          </a:bodyPr>
          <a:lstStyle/>
          <a:p>
            <a:pPr algn="ctr">
              <a:lnSpc>
                <a:spcPts val="12814"/>
              </a:lnSpc>
            </a:pPr>
            <a:r>
              <a:rPr lang="en-US" b="true" sz="13488">
                <a:solidFill>
                  <a:srgbClr val="EDC4BC"/>
                </a:solidFill>
                <a:latin typeface="Noto Serif Ethiopic Condensed Bold"/>
                <a:ea typeface="Noto Serif Ethiopic Condensed Bold"/>
                <a:cs typeface="Noto Serif Ethiopic Condensed Bold"/>
                <a:sym typeface="Noto Serif Ethiopic Condensed Bold"/>
              </a:rPr>
              <a:t>HelpEra</a:t>
            </a:r>
          </a:p>
        </p:txBody>
      </p:sp>
      <p:sp>
        <p:nvSpPr>
          <p:cNvPr name="TextBox 3" id="3"/>
          <p:cNvSpPr txBox="true"/>
          <p:nvPr/>
        </p:nvSpPr>
        <p:spPr>
          <a:xfrm rot="0">
            <a:off x="9772332" y="3984068"/>
            <a:ext cx="5997493" cy="629921"/>
          </a:xfrm>
          <a:prstGeom prst="rect">
            <a:avLst/>
          </a:prstGeom>
        </p:spPr>
        <p:txBody>
          <a:bodyPr anchor="t" rtlCol="false" tIns="0" lIns="0" bIns="0" rIns="0">
            <a:spAutoFit/>
          </a:bodyPr>
          <a:lstStyle/>
          <a:p>
            <a:pPr algn="ctr">
              <a:lnSpc>
                <a:spcPts val="5179"/>
              </a:lnSpc>
            </a:pPr>
            <a:r>
              <a:rPr lang="en-US" sz="3699">
                <a:solidFill>
                  <a:srgbClr val="EDC4BC"/>
                </a:solidFill>
                <a:latin typeface="Noto Serif Ethiopic Condensed"/>
                <a:ea typeface="Noto Serif Ethiopic Condensed"/>
                <a:cs typeface="Noto Serif Ethiopic Condensed"/>
                <a:sym typeface="Noto Serif Ethiopic Condensed"/>
              </a:rPr>
              <a:t>“</a:t>
            </a:r>
            <a:r>
              <a:rPr lang="en-US" sz="3699">
                <a:solidFill>
                  <a:srgbClr val="EDC4BC"/>
                </a:solidFill>
                <a:latin typeface="Noto Serif Ethiopic Condensed"/>
                <a:ea typeface="Noto Serif Ethiopic Condensed"/>
                <a:cs typeface="Noto Serif Ethiopic Condensed"/>
                <a:sym typeface="Noto Serif Ethiopic Condensed"/>
              </a:rPr>
              <a:t>Unbox Your Inner Clarity”</a:t>
            </a:r>
          </a:p>
        </p:txBody>
      </p:sp>
      <p:sp>
        <p:nvSpPr>
          <p:cNvPr name="Freeform 4" id="4"/>
          <p:cNvSpPr/>
          <p:nvPr/>
        </p:nvSpPr>
        <p:spPr>
          <a:xfrm flipH="false" flipV="false" rot="0">
            <a:off x="15597394" y="1119551"/>
            <a:ext cx="1715278" cy="283801"/>
          </a:xfrm>
          <a:custGeom>
            <a:avLst/>
            <a:gdLst/>
            <a:ahLst/>
            <a:cxnLst/>
            <a:rect r="r" b="b" t="t" l="l"/>
            <a:pathLst>
              <a:path h="283801" w="1715278">
                <a:moveTo>
                  <a:pt x="0" y="0"/>
                </a:moveTo>
                <a:lnTo>
                  <a:pt x="1715278" y="0"/>
                </a:lnTo>
                <a:lnTo>
                  <a:pt x="1715278" y="283801"/>
                </a:lnTo>
                <a:lnTo>
                  <a:pt x="0" y="2838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2710418" y="9483880"/>
            <a:ext cx="4658457" cy="2549447"/>
          </a:xfrm>
          <a:custGeom>
            <a:avLst/>
            <a:gdLst/>
            <a:ahLst/>
            <a:cxnLst/>
            <a:rect r="r" b="b" t="t" l="l"/>
            <a:pathLst>
              <a:path h="2549447" w="4658457">
                <a:moveTo>
                  <a:pt x="0" y="0"/>
                </a:moveTo>
                <a:lnTo>
                  <a:pt x="4658458" y="0"/>
                </a:lnTo>
                <a:lnTo>
                  <a:pt x="4658458" y="2549446"/>
                </a:lnTo>
                <a:lnTo>
                  <a:pt x="0" y="25494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478183" y="6176331"/>
            <a:ext cx="2572706" cy="4609083"/>
          </a:xfrm>
          <a:custGeom>
            <a:avLst/>
            <a:gdLst/>
            <a:ahLst/>
            <a:cxnLst/>
            <a:rect r="r" b="b" t="t" l="l"/>
            <a:pathLst>
              <a:path h="4609083" w="2572706">
                <a:moveTo>
                  <a:pt x="0" y="0"/>
                </a:moveTo>
                <a:lnTo>
                  <a:pt x="2572706" y="0"/>
                </a:lnTo>
                <a:lnTo>
                  <a:pt x="2572706" y="4609083"/>
                </a:lnTo>
                <a:lnTo>
                  <a:pt x="0" y="460908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400000">
            <a:off x="17057598" y="2418150"/>
            <a:ext cx="580402" cy="833475"/>
          </a:xfrm>
          <a:custGeom>
            <a:avLst/>
            <a:gdLst/>
            <a:ahLst/>
            <a:cxnLst/>
            <a:rect r="r" b="b" t="t" l="l"/>
            <a:pathLst>
              <a:path h="833475" w="580402">
                <a:moveTo>
                  <a:pt x="0" y="0"/>
                </a:moveTo>
                <a:lnTo>
                  <a:pt x="580402" y="0"/>
                </a:lnTo>
                <a:lnTo>
                  <a:pt x="580402" y="833476"/>
                </a:lnTo>
                <a:lnTo>
                  <a:pt x="0" y="8334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737220" y="9018166"/>
            <a:ext cx="480267" cy="480267"/>
          </a:xfrm>
          <a:custGeom>
            <a:avLst/>
            <a:gdLst/>
            <a:ahLst/>
            <a:cxnLst/>
            <a:rect r="r" b="b" t="t" l="l"/>
            <a:pathLst>
              <a:path h="480267" w="480267">
                <a:moveTo>
                  <a:pt x="0" y="0"/>
                </a:moveTo>
                <a:lnTo>
                  <a:pt x="480267" y="0"/>
                </a:lnTo>
                <a:lnTo>
                  <a:pt x="480267" y="480268"/>
                </a:lnTo>
                <a:lnTo>
                  <a:pt x="0" y="4802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3583091">
            <a:off x="-1262843" y="1657418"/>
            <a:ext cx="2047158" cy="3667547"/>
          </a:xfrm>
          <a:custGeom>
            <a:avLst/>
            <a:gdLst/>
            <a:ahLst/>
            <a:cxnLst/>
            <a:rect r="r" b="b" t="t" l="l"/>
            <a:pathLst>
              <a:path h="3667547" w="2047158">
                <a:moveTo>
                  <a:pt x="0" y="0"/>
                </a:moveTo>
                <a:lnTo>
                  <a:pt x="2047158" y="0"/>
                </a:lnTo>
                <a:lnTo>
                  <a:pt x="2047158" y="3667546"/>
                </a:lnTo>
                <a:lnTo>
                  <a:pt x="0" y="36675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7799541">
            <a:off x="6605604" y="1927987"/>
            <a:ext cx="580402" cy="833475"/>
          </a:xfrm>
          <a:custGeom>
            <a:avLst/>
            <a:gdLst/>
            <a:ahLst/>
            <a:cxnLst/>
            <a:rect r="r" b="b" t="t" l="l"/>
            <a:pathLst>
              <a:path h="833475" w="580402">
                <a:moveTo>
                  <a:pt x="0" y="0"/>
                </a:moveTo>
                <a:lnTo>
                  <a:pt x="580402" y="0"/>
                </a:lnTo>
                <a:lnTo>
                  <a:pt x="580402" y="833476"/>
                </a:lnTo>
                <a:lnTo>
                  <a:pt x="0" y="8334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0">
            <a:off x="1028700" y="1969318"/>
            <a:ext cx="6372888" cy="6372888"/>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3214A"/>
            </a:solidFill>
          </p:spPr>
        </p:sp>
        <p:sp>
          <p:nvSpPr>
            <p:cNvPr name="TextBox 13" id="13"/>
            <p:cNvSpPr txBox="true"/>
            <p:nvPr/>
          </p:nvSpPr>
          <p:spPr>
            <a:xfrm>
              <a:off x="76200" y="38100"/>
              <a:ext cx="660400" cy="698500"/>
            </a:xfrm>
            <a:prstGeom prst="rect">
              <a:avLst/>
            </a:prstGeom>
          </p:spPr>
          <p:txBody>
            <a:bodyPr anchor="ctr" rtlCol="false" tIns="45278" lIns="45278" bIns="45278" rIns="45278"/>
            <a:lstStyle/>
            <a:p>
              <a:pPr algn="ctr">
                <a:lnSpc>
                  <a:spcPts val="2659"/>
                </a:lnSpc>
              </a:pPr>
            </a:p>
          </p:txBody>
        </p:sp>
      </p:grpSp>
      <p:grpSp>
        <p:nvGrpSpPr>
          <p:cNvPr name="Group 14" id="14"/>
          <p:cNvGrpSpPr/>
          <p:nvPr/>
        </p:nvGrpSpPr>
        <p:grpSpPr>
          <a:xfrm rot="0">
            <a:off x="1278359" y="2150926"/>
            <a:ext cx="5995315" cy="5995315"/>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12"/>
              <a:stretch>
                <a:fillRect l="0" t="-11206" r="0" b="-11206"/>
              </a:stretch>
            </a:blipFill>
          </p:spPr>
        </p:sp>
      </p:grpSp>
      <p:sp>
        <p:nvSpPr>
          <p:cNvPr name="Freeform 16" id="16"/>
          <p:cNvSpPr/>
          <p:nvPr/>
        </p:nvSpPr>
        <p:spPr>
          <a:xfrm flipH="false" flipV="false" rot="-1864513">
            <a:off x="6539318" y="6318965"/>
            <a:ext cx="773285" cy="793483"/>
          </a:xfrm>
          <a:custGeom>
            <a:avLst/>
            <a:gdLst/>
            <a:ahLst/>
            <a:cxnLst/>
            <a:rect r="r" b="b" t="t" l="l"/>
            <a:pathLst>
              <a:path h="793483" w="773285">
                <a:moveTo>
                  <a:pt x="0" y="0"/>
                </a:moveTo>
                <a:lnTo>
                  <a:pt x="773285" y="0"/>
                </a:lnTo>
                <a:lnTo>
                  <a:pt x="773285" y="793483"/>
                </a:lnTo>
                <a:lnTo>
                  <a:pt x="0" y="79348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7" id="17"/>
          <p:cNvSpPr/>
          <p:nvPr/>
        </p:nvSpPr>
        <p:spPr>
          <a:xfrm flipH="false" flipV="false" rot="-1864513">
            <a:off x="1087159" y="6560203"/>
            <a:ext cx="1546571" cy="1586966"/>
          </a:xfrm>
          <a:custGeom>
            <a:avLst/>
            <a:gdLst/>
            <a:ahLst/>
            <a:cxnLst/>
            <a:rect r="r" b="b" t="t" l="l"/>
            <a:pathLst>
              <a:path h="1586966" w="1546571">
                <a:moveTo>
                  <a:pt x="0" y="0"/>
                </a:moveTo>
                <a:lnTo>
                  <a:pt x="1546571" y="0"/>
                </a:lnTo>
                <a:lnTo>
                  <a:pt x="1546571" y="1586966"/>
                </a:lnTo>
                <a:lnTo>
                  <a:pt x="0" y="158696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8" id="18"/>
          <p:cNvSpPr txBox="true"/>
          <p:nvPr/>
        </p:nvSpPr>
        <p:spPr>
          <a:xfrm rot="0">
            <a:off x="9944763" y="5813074"/>
            <a:ext cx="5652631" cy="2793100"/>
          </a:xfrm>
          <a:prstGeom prst="rect">
            <a:avLst/>
          </a:prstGeom>
        </p:spPr>
        <p:txBody>
          <a:bodyPr anchor="t" rtlCol="false" tIns="0" lIns="0" bIns="0" rIns="0">
            <a:spAutoFit/>
          </a:bodyPr>
          <a:lstStyle/>
          <a:p>
            <a:pPr algn="ctr">
              <a:lnSpc>
                <a:spcPts val="5656"/>
              </a:lnSpc>
            </a:pPr>
            <a:r>
              <a:rPr lang="en-US" b="true" sz="3041">
                <a:solidFill>
                  <a:srgbClr val="EDC4BC"/>
                </a:solidFill>
                <a:latin typeface="Noto Serif Ethiopic Condensed Bold"/>
                <a:ea typeface="Noto Serif Ethiopic Condensed Bold"/>
                <a:cs typeface="Noto Serif Ethiopic Condensed Bold"/>
                <a:sym typeface="Noto Serif Ethiopic Condensed Bold"/>
              </a:rPr>
              <a:t>Members</a:t>
            </a:r>
            <a:r>
              <a:rPr lang="en-US" sz="3041">
                <a:solidFill>
                  <a:srgbClr val="EDC4BC"/>
                </a:solidFill>
                <a:latin typeface="Noto Serif Ethiopic Condensed"/>
                <a:ea typeface="Noto Serif Ethiopic Condensed"/>
                <a:cs typeface="Noto Serif Ethiopic Condensed"/>
                <a:sym typeface="Noto Serif Ethiopic Condensed"/>
              </a:rPr>
              <a:t>:</a:t>
            </a:r>
          </a:p>
          <a:p>
            <a:pPr algn="ctr">
              <a:lnSpc>
                <a:spcPts val="5656"/>
              </a:lnSpc>
            </a:pPr>
            <a:r>
              <a:rPr lang="en-US" sz="3041">
                <a:solidFill>
                  <a:srgbClr val="EDC4BC"/>
                </a:solidFill>
                <a:latin typeface="Noto Serif Ethiopic Condensed"/>
                <a:ea typeface="Noto Serif Ethiopic Condensed"/>
                <a:cs typeface="Noto Serif Ethiopic Condensed"/>
                <a:sym typeface="Noto Serif Ethiopic Condensed"/>
              </a:rPr>
              <a:t>Resham Furqan, Maria Waheed, </a:t>
            </a:r>
          </a:p>
          <a:p>
            <a:pPr algn="ctr">
              <a:lnSpc>
                <a:spcPts val="5656"/>
              </a:lnSpc>
            </a:pPr>
            <a:r>
              <a:rPr lang="en-US" sz="3041">
                <a:solidFill>
                  <a:srgbClr val="EDC4BC"/>
                </a:solidFill>
                <a:latin typeface="Noto Serif Ethiopic Condensed"/>
                <a:ea typeface="Noto Serif Ethiopic Condensed"/>
                <a:cs typeface="Noto Serif Ethiopic Condensed"/>
                <a:sym typeface="Noto Serif Ethiopic Condensed"/>
              </a:rPr>
              <a:t>Blessed Dendere, Natalee De Silva</a:t>
            </a:r>
          </a:p>
          <a:p>
            <a:pPr algn="ctr">
              <a:lnSpc>
                <a:spcPts val="5656"/>
              </a:lnSpc>
            </a:pPr>
            <a:r>
              <a:rPr lang="en-US" sz="3041">
                <a:solidFill>
                  <a:srgbClr val="EDC4BC"/>
                </a:solidFill>
                <a:latin typeface="Noto Serif Ethiopic Condensed"/>
                <a:ea typeface="Noto Serif Ethiopic Condensed"/>
                <a:cs typeface="Noto Serif Ethiopic Condensed"/>
                <a:sym typeface="Noto Serif Ethiopic Condensed"/>
              </a:rPr>
              <a:t>Kekweditse Mogoshadi Mogoba</a:t>
            </a:r>
          </a:p>
        </p:txBody>
      </p:sp>
      <p:sp>
        <p:nvSpPr>
          <p:cNvPr name="TextBox 19" id="19"/>
          <p:cNvSpPr txBox="true"/>
          <p:nvPr/>
        </p:nvSpPr>
        <p:spPr>
          <a:xfrm rot="0">
            <a:off x="1028700" y="1085850"/>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20" id="20"/>
          <p:cNvSpPr txBox="true"/>
          <p:nvPr/>
        </p:nvSpPr>
        <p:spPr>
          <a:xfrm rot="0">
            <a:off x="10251526" y="5120407"/>
            <a:ext cx="5345868" cy="444501"/>
          </a:xfrm>
          <a:prstGeom prst="rect">
            <a:avLst/>
          </a:prstGeom>
        </p:spPr>
        <p:txBody>
          <a:bodyPr anchor="t" rtlCol="false" tIns="0" lIns="0" bIns="0" rIns="0">
            <a:spAutoFit/>
          </a:bodyPr>
          <a:lstStyle/>
          <a:p>
            <a:pPr algn="ctr">
              <a:lnSpc>
                <a:spcPts val="3325"/>
              </a:lnSpc>
            </a:pPr>
            <a:r>
              <a:rPr lang="en-US" b="true" sz="3500">
                <a:solidFill>
                  <a:srgbClr val="EDC4BC"/>
                </a:solidFill>
                <a:latin typeface="Noto Serif Ethiopic Condensed Bold"/>
                <a:ea typeface="Noto Serif Ethiopic Condensed Bold"/>
                <a:cs typeface="Noto Serif Ethiopic Condensed Bold"/>
                <a:sym typeface="Noto Serif Ethiopic Condensed Bold"/>
              </a:rPr>
              <a:t>Presented By:</a:t>
            </a:r>
            <a:r>
              <a:rPr lang="en-US" sz="3500">
                <a:solidFill>
                  <a:srgbClr val="EDC4BC"/>
                </a:solidFill>
                <a:latin typeface="Noto Serif Ethiopic Condensed"/>
                <a:ea typeface="Noto Serif Ethiopic Condensed"/>
                <a:cs typeface="Noto Serif Ethiopic Condensed"/>
                <a:sym typeface="Noto Serif Ethiopic Condensed"/>
              </a:rPr>
              <a:t> UXplorers</a:t>
            </a:r>
          </a:p>
        </p:txBody>
      </p:sp>
      <p:sp>
        <p:nvSpPr>
          <p:cNvPr name="TextBox 21" id="21"/>
          <p:cNvSpPr txBox="true"/>
          <p:nvPr/>
        </p:nvSpPr>
        <p:spPr>
          <a:xfrm rot="0">
            <a:off x="15107417" y="9541030"/>
            <a:ext cx="2151883"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Resham Furqan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Freeform 2" id="2"/>
          <p:cNvSpPr/>
          <p:nvPr/>
        </p:nvSpPr>
        <p:spPr>
          <a:xfrm flipH="false" flipV="false" rot="0">
            <a:off x="15690270" y="1257506"/>
            <a:ext cx="1715278" cy="283801"/>
          </a:xfrm>
          <a:custGeom>
            <a:avLst/>
            <a:gdLst/>
            <a:ahLst/>
            <a:cxnLst/>
            <a:rect r="r" b="b" t="t" l="l"/>
            <a:pathLst>
              <a:path h="283801" w="1715278">
                <a:moveTo>
                  <a:pt x="0" y="0"/>
                </a:moveTo>
                <a:lnTo>
                  <a:pt x="1715277" y="0"/>
                </a:lnTo>
                <a:lnTo>
                  <a:pt x="1715277" y="283801"/>
                </a:lnTo>
                <a:lnTo>
                  <a:pt x="0" y="2838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596974" y="-1194328"/>
            <a:ext cx="3502048" cy="1916575"/>
          </a:xfrm>
          <a:custGeom>
            <a:avLst/>
            <a:gdLst/>
            <a:ahLst/>
            <a:cxnLst/>
            <a:rect r="r" b="b" t="t" l="l"/>
            <a:pathLst>
              <a:path h="1916575" w="3502048">
                <a:moveTo>
                  <a:pt x="0" y="0"/>
                </a:moveTo>
                <a:lnTo>
                  <a:pt x="3502048" y="0"/>
                </a:lnTo>
                <a:lnTo>
                  <a:pt x="3502048" y="1916576"/>
                </a:lnTo>
                <a:lnTo>
                  <a:pt x="0" y="1916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9258300"/>
            <a:ext cx="3502048" cy="1916575"/>
          </a:xfrm>
          <a:custGeom>
            <a:avLst/>
            <a:gdLst/>
            <a:ahLst/>
            <a:cxnLst/>
            <a:rect r="r" b="b" t="t" l="l"/>
            <a:pathLst>
              <a:path h="1916575" w="3502048">
                <a:moveTo>
                  <a:pt x="0" y="0"/>
                </a:moveTo>
                <a:lnTo>
                  <a:pt x="3502048" y="0"/>
                </a:lnTo>
                <a:lnTo>
                  <a:pt x="3502048" y="1916575"/>
                </a:lnTo>
                <a:lnTo>
                  <a:pt x="0" y="19165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5540215" y="8458968"/>
            <a:ext cx="1345360" cy="252919"/>
          </a:xfrm>
          <a:prstGeom prst="rect">
            <a:avLst/>
          </a:prstGeom>
        </p:spPr>
        <p:txBody>
          <a:bodyPr anchor="t" rtlCol="false" tIns="0" lIns="0" bIns="0" rIns="0">
            <a:spAutoFit/>
          </a:bodyPr>
          <a:lstStyle/>
          <a:p>
            <a:pPr algn="ctr">
              <a:lnSpc>
                <a:spcPts val="1928"/>
              </a:lnSpc>
            </a:pPr>
          </a:p>
        </p:txBody>
      </p:sp>
      <p:sp>
        <p:nvSpPr>
          <p:cNvPr name="TextBox 6" id="6"/>
          <p:cNvSpPr txBox="true"/>
          <p:nvPr/>
        </p:nvSpPr>
        <p:spPr>
          <a:xfrm rot="0">
            <a:off x="1268834" y="1085850"/>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7" id="7"/>
          <p:cNvSpPr txBox="true"/>
          <p:nvPr/>
        </p:nvSpPr>
        <p:spPr>
          <a:xfrm rot="0">
            <a:off x="15107417" y="9541030"/>
            <a:ext cx="2151883"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Resham Furqan</a:t>
            </a:r>
          </a:p>
        </p:txBody>
      </p:sp>
      <p:grpSp>
        <p:nvGrpSpPr>
          <p:cNvPr name="Group 8" id="8"/>
          <p:cNvGrpSpPr/>
          <p:nvPr/>
        </p:nvGrpSpPr>
        <p:grpSpPr>
          <a:xfrm rot="0">
            <a:off x="1028700" y="1781440"/>
            <a:ext cx="14201007" cy="6930447"/>
            <a:chOff x="0" y="0"/>
            <a:chExt cx="3864216" cy="1885834"/>
          </a:xfrm>
        </p:grpSpPr>
        <p:sp>
          <p:nvSpPr>
            <p:cNvPr name="Freeform 9" id="9"/>
            <p:cNvSpPr/>
            <p:nvPr/>
          </p:nvSpPr>
          <p:spPr>
            <a:xfrm flipH="false" flipV="false" rot="0">
              <a:off x="0" y="0"/>
              <a:ext cx="3864216" cy="1885834"/>
            </a:xfrm>
            <a:custGeom>
              <a:avLst/>
              <a:gdLst/>
              <a:ahLst/>
              <a:cxnLst/>
              <a:rect r="r" b="b" t="t" l="l"/>
              <a:pathLst>
                <a:path h="1885834" w="3864216">
                  <a:moveTo>
                    <a:pt x="13629" y="0"/>
                  </a:moveTo>
                  <a:lnTo>
                    <a:pt x="3850587" y="0"/>
                  </a:lnTo>
                  <a:cubicBezTo>
                    <a:pt x="3854201" y="0"/>
                    <a:pt x="3857668" y="1436"/>
                    <a:pt x="3860224" y="3992"/>
                  </a:cubicBezTo>
                  <a:cubicBezTo>
                    <a:pt x="3862780" y="6548"/>
                    <a:pt x="3864216" y="10014"/>
                    <a:pt x="3864216" y="13629"/>
                  </a:cubicBezTo>
                  <a:lnTo>
                    <a:pt x="3864216" y="1872205"/>
                  </a:lnTo>
                  <a:cubicBezTo>
                    <a:pt x="3864216" y="1879732"/>
                    <a:pt x="3858114" y="1885834"/>
                    <a:pt x="3850587" y="1885834"/>
                  </a:cubicBezTo>
                  <a:lnTo>
                    <a:pt x="13629" y="1885834"/>
                  </a:lnTo>
                  <a:cubicBezTo>
                    <a:pt x="10014" y="1885834"/>
                    <a:pt x="6548" y="1884398"/>
                    <a:pt x="3992" y="1881842"/>
                  </a:cubicBezTo>
                  <a:cubicBezTo>
                    <a:pt x="1436" y="1879286"/>
                    <a:pt x="0" y="1875820"/>
                    <a:pt x="0" y="1872205"/>
                  </a:cubicBezTo>
                  <a:lnTo>
                    <a:pt x="0" y="13629"/>
                  </a:lnTo>
                  <a:cubicBezTo>
                    <a:pt x="0" y="10014"/>
                    <a:pt x="1436" y="6548"/>
                    <a:pt x="3992" y="3992"/>
                  </a:cubicBezTo>
                  <a:cubicBezTo>
                    <a:pt x="6548" y="1436"/>
                    <a:pt x="10014" y="0"/>
                    <a:pt x="13629" y="0"/>
                  </a:cubicBezTo>
                  <a:close/>
                </a:path>
              </a:pathLst>
            </a:custGeom>
            <a:solidFill>
              <a:srgbClr val="FFFFFF">
                <a:alpha val="12941"/>
              </a:srgbClr>
            </a:solidFill>
            <a:ln w="38100" cap="rnd">
              <a:solidFill>
                <a:srgbClr val="FFFFFF">
                  <a:alpha val="12941"/>
                </a:srgbClr>
              </a:solidFill>
              <a:prstDash val="solid"/>
              <a:round/>
            </a:ln>
          </p:spPr>
        </p:sp>
        <p:sp>
          <p:nvSpPr>
            <p:cNvPr name="TextBox 10" id="10"/>
            <p:cNvSpPr txBox="true"/>
            <p:nvPr/>
          </p:nvSpPr>
          <p:spPr>
            <a:xfrm>
              <a:off x="0" y="-38100"/>
              <a:ext cx="3864216" cy="1923934"/>
            </a:xfrm>
            <a:prstGeom prst="rect">
              <a:avLst/>
            </a:prstGeom>
          </p:spPr>
          <p:txBody>
            <a:bodyPr anchor="ctr" rtlCol="false" tIns="49169" lIns="49169" bIns="49169" rIns="49169"/>
            <a:lstStyle/>
            <a:p>
              <a:pPr algn="ctr">
                <a:lnSpc>
                  <a:spcPts val="2659"/>
                </a:lnSpc>
              </a:pPr>
            </a:p>
          </p:txBody>
        </p:sp>
      </p:grpSp>
      <p:sp>
        <p:nvSpPr>
          <p:cNvPr name="TextBox 11" id="11"/>
          <p:cNvSpPr txBox="true"/>
          <p:nvPr/>
        </p:nvSpPr>
        <p:spPr>
          <a:xfrm rot="0">
            <a:off x="1268834" y="3654047"/>
            <a:ext cx="12024189" cy="4651267"/>
          </a:xfrm>
          <a:prstGeom prst="rect">
            <a:avLst/>
          </a:prstGeom>
        </p:spPr>
        <p:txBody>
          <a:bodyPr anchor="t" rtlCol="false" tIns="0" lIns="0" bIns="0" rIns="0">
            <a:spAutoFit/>
          </a:bodyPr>
          <a:lstStyle/>
          <a:p>
            <a:pPr algn="l" marL="602206" indent="-301103" lvl="1">
              <a:lnSpc>
                <a:spcPts val="6247"/>
              </a:lnSpc>
              <a:buFont typeface="Arial"/>
              <a:buChar char="•"/>
            </a:pPr>
            <a:r>
              <a:rPr lang="en-US" b="true" sz="2789">
                <a:solidFill>
                  <a:srgbClr val="F0CFC7"/>
                </a:solidFill>
                <a:latin typeface="Noto Serif Ethiopic Condensed Bold"/>
                <a:ea typeface="Noto Serif Ethiopic Condensed Bold"/>
                <a:cs typeface="Noto Serif Ethiopic Condensed Bold"/>
                <a:sym typeface="Noto Serif Ethiopic Condensed Bold"/>
              </a:rPr>
              <a:t>Co</a:t>
            </a:r>
            <a:r>
              <a:rPr lang="en-US" b="true" sz="2789">
                <a:solidFill>
                  <a:srgbClr val="F0CFC7"/>
                </a:solidFill>
                <a:latin typeface="Noto Serif Ethiopic Condensed Bold"/>
                <a:ea typeface="Noto Serif Ethiopic Condensed Bold"/>
                <a:cs typeface="Noto Serif Ethiopic Condensed Bold"/>
                <a:sym typeface="Noto Serif Ethiopic Condensed Bold"/>
              </a:rPr>
              <a:t>re Mission: </a:t>
            </a:r>
            <a:r>
              <a:rPr lang="en-US" sz="2789">
                <a:solidFill>
                  <a:srgbClr val="F0CFC7"/>
                </a:solidFill>
                <a:latin typeface="Noto Serif Ethiopic Condensed"/>
                <a:ea typeface="Noto Serif Ethiopic Condensed"/>
                <a:cs typeface="Noto Serif Ethiopic Condensed"/>
                <a:sym typeface="Noto Serif Ethiopic Condensed"/>
              </a:rPr>
              <a:t>A proactive safety companion designed to bridge the gap between concern and security.</a:t>
            </a:r>
          </a:p>
          <a:p>
            <a:pPr algn="l" marL="602206" indent="-301103" lvl="1">
              <a:lnSpc>
                <a:spcPts val="6247"/>
              </a:lnSpc>
              <a:buFont typeface="Arial"/>
              <a:buChar char="•"/>
            </a:pPr>
            <a:r>
              <a:rPr lang="en-US" b="true" sz="2789">
                <a:solidFill>
                  <a:srgbClr val="F0CFC7"/>
                </a:solidFill>
                <a:latin typeface="Noto Serif Ethiopic Condensed Bold"/>
                <a:ea typeface="Noto Serif Ethiopic Condensed Bold"/>
                <a:cs typeface="Noto Serif Ethiopic Condensed Bold"/>
                <a:sym typeface="Noto Serif Ethiopic Condensed Bold"/>
              </a:rPr>
              <a:t>Design Philosophy: </a:t>
            </a:r>
            <a:r>
              <a:rPr lang="en-US" sz="2789">
                <a:solidFill>
                  <a:srgbClr val="F0CFC7"/>
                </a:solidFill>
                <a:latin typeface="Noto Serif Ethiopic Condensed"/>
                <a:ea typeface="Noto Serif Ethiopic Condensed"/>
                <a:cs typeface="Noto Serif Ethiopic Condensed"/>
                <a:sym typeface="Noto Serif Ethiopic Condensed"/>
              </a:rPr>
              <a:t>Utilising a minimalist glassmorphism aesthetic to reduce user anxiety during high-stress moments.</a:t>
            </a:r>
          </a:p>
          <a:p>
            <a:pPr algn="l" marL="602206" indent="-301103" lvl="1">
              <a:lnSpc>
                <a:spcPts val="6247"/>
              </a:lnSpc>
              <a:buFont typeface="Arial"/>
              <a:buChar char="•"/>
            </a:pPr>
            <a:r>
              <a:rPr lang="en-US" b="true" sz="2789">
                <a:solidFill>
                  <a:srgbClr val="F0CFC7"/>
                </a:solidFill>
                <a:latin typeface="Noto Serif Ethiopic Condensed Bold"/>
                <a:ea typeface="Noto Serif Ethiopic Condensed Bold"/>
                <a:cs typeface="Noto Serif Ethiopic Condensed Bold"/>
                <a:sym typeface="Noto Serif Ethiopic Condensed Bold"/>
              </a:rPr>
              <a:t>Our Passion: </a:t>
            </a:r>
            <a:r>
              <a:rPr lang="en-US" sz="2789">
                <a:solidFill>
                  <a:srgbClr val="F0CFC7"/>
                </a:solidFill>
                <a:latin typeface="Noto Serif Ethiopic Condensed"/>
                <a:ea typeface="Noto Serif Ethiopic Condensed"/>
                <a:cs typeface="Noto Serif Ethiopic Condensed"/>
                <a:sym typeface="Noto Serif Ethiopic Condensed"/>
              </a:rPr>
              <a:t>Transitioning from "clinical" emergency tools to a supportive, community-focused guardian.</a:t>
            </a:r>
          </a:p>
        </p:txBody>
      </p:sp>
      <p:sp>
        <p:nvSpPr>
          <p:cNvPr name="TextBox 12" id="12"/>
          <p:cNvSpPr txBox="true"/>
          <p:nvPr/>
        </p:nvSpPr>
        <p:spPr>
          <a:xfrm rot="0">
            <a:off x="1543490" y="2165854"/>
            <a:ext cx="13171428" cy="1583443"/>
          </a:xfrm>
          <a:prstGeom prst="rect">
            <a:avLst/>
          </a:prstGeom>
        </p:spPr>
        <p:txBody>
          <a:bodyPr anchor="t" rtlCol="false" tIns="0" lIns="0" bIns="0" rIns="0">
            <a:spAutoFit/>
          </a:bodyPr>
          <a:lstStyle/>
          <a:p>
            <a:pPr algn="l">
              <a:lnSpc>
                <a:spcPts val="11753"/>
              </a:lnSpc>
            </a:pPr>
            <a:r>
              <a:rPr lang="en-US" sz="12372" b="true">
                <a:solidFill>
                  <a:srgbClr val="F0CFC7"/>
                </a:solidFill>
                <a:latin typeface="Noto Serif Ethiopic Condensed Bold"/>
                <a:ea typeface="Noto Serif Ethiopic Condensed Bold"/>
                <a:cs typeface="Noto Serif Ethiopic Condensed Bold"/>
                <a:sym typeface="Noto Serif Ethiopic Condensed Bold"/>
              </a:rPr>
              <a:t>What is HelpEra?</a:t>
            </a:r>
          </a:p>
        </p:txBody>
      </p:sp>
      <p:grpSp>
        <p:nvGrpSpPr>
          <p:cNvPr name="Group 13" id="13"/>
          <p:cNvGrpSpPr>
            <a:grpSpLocks noChangeAspect="true"/>
          </p:cNvGrpSpPr>
          <p:nvPr/>
        </p:nvGrpSpPr>
        <p:grpSpPr>
          <a:xfrm rot="613831">
            <a:off x="13676366" y="1862113"/>
            <a:ext cx="3455547" cy="6837394"/>
            <a:chOff x="0" y="0"/>
            <a:chExt cx="2620010" cy="5184140"/>
          </a:xfrm>
        </p:grpSpPr>
        <p:sp>
          <p:nvSpPr>
            <p:cNvPr name="Freeform 14" id="14"/>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5" id="15"/>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6"/>
              <a:stretch>
                <a:fillRect l="-156" t="0" r="-156" b="0"/>
              </a:stretch>
            </a:blipFill>
          </p:spPr>
        </p:sp>
        <p:sp>
          <p:nvSpPr>
            <p:cNvPr name="Freeform 16" id="16"/>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17" id="17"/>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18" id="18"/>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19" id="19"/>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20" id="20"/>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21" id="21"/>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22" id="22"/>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CA7AAA"/>
            </a:solidFill>
          </p:spPr>
        </p:sp>
      </p:grpSp>
      <p:sp>
        <p:nvSpPr>
          <p:cNvPr name="Freeform 23" id="23"/>
          <p:cNvSpPr/>
          <p:nvPr/>
        </p:nvSpPr>
        <p:spPr>
          <a:xfrm flipH="false" flipV="false" rot="0">
            <a:off x="264337" y="3987422"/>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4" id="24"/>
          <p:cNvSpPr/>
          <p:nvPr/>
        </p:nvSpPr>
        <p:spPr>
          <a:xfrm flipH="false" flipV="false" rot="0">
            <a:off x="10819637" y="9258300"/>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5" id="25"/>
          <p:cNvSpPr/>
          <p:nvPr/>
        </p:nvSpPr>
        <p:spPr>
          <a:xfrm flipH="false" flipV="false" rot="0">
            <a:off x="15404139" y="241981"/>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grpSp>
        <p:nvGrpSpPr>
          <p:cNvPr name="Group 2" id="2"/>
          <p:cNvGrpSpPr/>
          <p:nvPr/>
        </p:nvGrpSpPr>
        <p:grpSpPr>
          <a:xfrm rot="0">
            <a:off x="2144070" y="1760959"/>
            <a:ext cx="14095196" cy="7251596"/>
            <a:chOff x="0" y="0"/>
            <a:chExt cx="3572746" cy="1838081"/>
          </a:xfrm>
        </p:grpSpPr>
        <p:sp>
          <p:nvSpPr>
            <p:cNvPr name="Freeform 3" id="3"/>
            <p:cNvSpPr/>
            <p:nvPr/>
          </p:nvSpPr>
          <p:spPr>
            <a:xfrm flipH="false" flipV="false" rot="0">
              <a:off x="0" y="0"/>
              <a:ext cx="3572746" cy="1838081"/>
            </a:xfrm>
            <a:custGeom>
              <a:avLst/>
              <a:gdLst/>
              <a:ahLst/>
              <a:cxnLst/>
              <a:rect r="r" b="b" t="t" l="l"/>
              <a:pathLst>
                <a:path h="1838081" w="3572746">
                  <a:moveTo>
                    <a:pt x="13731" y="0"/>
                  </a:moveTo>
                  <a:lnTo>
                    <a:pt x="3559015" y="0"/>
                  </a:lnTo>
                  <a:cubicBezTo>
                    <a:pt x="3562657" y="0"/>
                    <a:pt x="3566149" y="1447"/>
                    <a:pt x="3568724" y="4022"/>
                  </a:cubicBezTo>
                  <a:cubicBezTo>
                    <a:pt x="3571299" y="6597"/>
                    <a:pt x="3572746" y="10090"/>
                    <a:pt x="3572746" y="13731"/>
                  </a:cubicBezTo>
                  <a:lnTo>
                    <a:pt x="3572746" y="1824349"/>
                  </a:lnTo>
                  <a:cubicBezTo>
                    <a:pt x="3572746" y="1827991"/>
                    <a:pt x="3571299" y="1831484"/>
                    <a:pt x="3568724" y="1834059"/>
                  </a:cubicBezTo>
                  <a:cubicBezTo>
                    <a:pt x="3566149" y="1836634"/>
                    <a:pt x="3562657" y="1838081"/>
                    <a:pt x="3559015" y="1838081"/>
                  </a:cubicBezTo>
                  <a:lnTo>
                    <a:pt x="13731" y="1838081"/>
                  </a:lnTo>
                  <a:cubicBezTo>
                    <a:pt x="10090" y="1838081"/>
                    <a:pt x="6597" y="1836634"/>
                    <a:pt x="4022" y="1834059"/>
                  </a:cubicBezTo>
                  <a:cubicBezTo>
                    <a:pt x="1447" y="1831484"/>
                    <a:pt x="0" y="1827991"/>
                    <a:pt x="0" y="1824349"/>
                  </a:cubicBezTo>
                  <a:lnTo>
                    <a:pt x="0" y="13731"/>
                  </a:lnTo>
                  <a:cubicBezTo>
                    <a:pt x="0" y="10090"/>
                    <a:pt x="1447" y="6597"/>
                    <a:pt x="4022" y="4022"/>
                  </a:cubicBezTo>
                  <a:cubicBezTo>
                    <a:pt x="6597" y="1447"/>
                    <a:pt x="10090" y="0"/>
                    <a:pt x="13731" y="0"/>
                  </a:cubicBezTo>
                  <a:close/>
                </a:path>
              </a:pathLst>
            </a:custGeom>
            <a:solidFill>
              <a:srgbClr val="FFFFFF">
                <a:alpha val="12941"/>
              </a:srgbClr>
            </a:solidFill>
            <a:ln w="38100" cap="rnd">
              <a:solidFill>
                <a:srgbClr val="FFFFFF">
                  <a:alpha val="12941"/>
                </a:srgbClr>
              </a:solidFill>
              <a:prstDash val="solid"/>
              <a:round/>
            </a:ln>
          </p:spPr>
        </p:sp>
        <p:sp>
          <p:nvSpPr>
            <p:cNvPr name="TextBox 4" id="4"/>
            <p:cNvSpPr txBox="true"/>
            <p:nvPr/>
          </p:nvSpPr>
          <p:spPr>
            <a:xfrm>
              <a:off x="0" y="-38100"/>
              <a:ext cx="3572746" cy="1876181"/>
            </a:xfrm>
            <a:prstGeom prst="rect">
              <a:avLst/>
            </a:prstGeom>
          </p:spPr>
          <p:txBody>
            <a:bodyPr anchor="ctr" rtlCol="false" tIns="52784" lIns="52784" bIns="52784" rIns="52784"/>
            <a:lstStyle/>
            <a:p>
              <a:pPr algn="ctr">
                <a:lnSpc>
                  <a:spcPts val="2659"/>
                </a:lnSpc>
              </a:pPr>
            </a:p>
          </p:txBody>
        </p:sp>
      </p:grpSp>
      <p:sp>
        <p:nvSpPr>
          <p:cNvPr name="TextBox 5" id="5"/>
          <p:cNvSpPr txBox="true"/>
          <p:nvPr/>
        </p:nvSpPr>
        <p:spPr>
          <a:xfrm rot="0">
            <a:off x="3158001" y="2113384"/>
            <a:ext cx="12383998" cy="1873570"/>
          </a:xfrm>
          <a:prstGeom prst="rect">
            <a:avLst/>
          </a:prstGeom>
        </p:spPr>
        <p:txBody>
          <a:bodyPr anchor="t" rtlCol="false" tIns="0" lIns="0" bIns="0" rIns="0">
            <a:spAutoFit/>
          </a:bodyPr>
          <a:lstStyle/>
          <a:p>
            <a:pPr algn="l">
              <a:lnSpc>
                <a:spcPts val="13879"/>
              </a:lnSpc>
            </a:pPr>
            <a:r>
              <a:rPr lang="en-US" sz="14610" b="true">
                <a:solidFill>
                  <a:srgbClr val="D9A3A2"/>
                </a:solidFill>
                <a:latin typeface="Noto Serif Ethiopic Condensed Bold"/>
                <a:ea typeface="Noto Serif Ethiopic Condensed Bold"/>
                <a:cs typeface="Noto Serif Ethiopic Condensed Bold"/>
                <a:sym typeface="Noto Serif Ethiopic Condensed Bold"/>
              </a:rPr>
              <a:t>THE PROBLEM</a:t>
            </a:r>
          </a:p>
        </p:txBody>
      </p:sp>
      <p:sp>
        <p:nvSpPr>
          <p:cNvPr name="Freeform 6" id="6"/>
          <p:cNvSpPr/>
          <p:nvPr/>
        </p:nvSpPr>
        <p:spPr>
          <a:xfrm flipH="false" flipV="false" rot="0">
            <a:off x="14468081" y="1172359"/>
            <a:ext cx="1715278" cy="283801"/>
          </a:xfrm>
          <a:custGeom>
            <a:avLst/>
            <a:gdLst/>
            <a:ahLst/>
            <a:cxnLst/>
            <a:rect r="r" b="b" t="t" l="l"/>
            <a:pathLst>
              <a:path h="283801" w="1715278">
                <a:moveTo>
                  <a:pt x="0" y="0"/>
                </a:moveTo>
                <a:lnTo>
                  <a:pt x="1715278" y="0"/>
                </a:lnTo>
                <a:lnTo>
                  <a:pt x="1715278" y="283800"/>
                </a:lnTo>
                <a:lnTo>
                  <a:pt x="0" y="283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596974" y="-1194328"/>
            <a:ext cx="3502048" cy="1916575"/>
          </a:xfrm>
          <a:custGeom>
            <a:avLst/>
            <a:gdLst/>
            <a:ahLst/>
            <a:cxnLst/>
            <a:rect r="r" b="b" t="t" l="l"/>
            <a:pathLst>
              <a:path h="1916575" w="3502048">
                <a:moveTo>
                  <a:pt x="0" y="0"/>
                </a:moveTo>
                <a:lnTo>
                  <a:pt x="3502048" y="0"/>
                </a:lnTo>
                <a:lnTo>
                  <a:pt x="3502048" y="1916576"/>
                </a:lnTo>
                <a:lnTo>
                  <a:pt x="0" y="1916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336045" y="9307830"/>
            <a:ext cx="5570466" cy="3048564"/>
          </a:xfrm>
          <a:custGeom>
            <a:avLst/>
            <a:gdLst/>
            <a:ahLst/>
            <a:cxnLst/>
            <a:rect r="r" b="b" t="t" l="l"/>
            <a:pathLst>
              <a:path h="3048564" w="5570466">
                <a:moveTo>
                  <a:pt x="0" y="0"/>
                </a:moveTo>
                <a:lnTo>
                  <a:pt x="5570466" y="0"/>
                </a:lnTo>
                <a:lnTo>
                  <a:pt x="5570466" y="3048564"/>
                </a:lnTo>
                <a:lnTo>
                  <a:pt x="0" y="3048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9426244" y="932225"/>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1858888" y="9378264"/>
            <a:ext cx="480267" cy="480267"/>
          </a:xfrm>
          <a:custGeom>
            <a:avLst/>
            <a:gdLst/>
            <a:ahLst/>
            <a:cxnLst/>
            <a:rect r="r" b="b" t="t" l="l"/>
            <a:pathLst>
              <a:path h="480267" w="480267">
                <a:moveTo>
                  <a:pt x="0" y="0"/>
                </a:moveTo>
                <a:lnTo>
                  <a:pt x="480268" y="0"/>
                </a:lnTo>
                <a:lnTo>
                  <a:pt x="480268" y="480268"/>
                </a:lnTo>
                <a:lnTo>
                  <a:pt x="0" y="4802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268834" y="1085850"/>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12" id="12"/>
          <p:cNvSpPr txBox="true"/>
          <p:nvPr/>
        </p:nvSpPr>
        <p:spPr>
          <a:xfrm rot="0">
            <a:off x="15107417" y="9541030"/>
            <a:ext cx="2151883"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Resham Furqan</a:t>
            </a:r>
          </a:p>
        </p:txBody>
      </p:sp>
      <p:sp>
        <p:nvSpPr>
          <p:cNvPr name="Freeform 13" id="13"/>
          <p:cNvSpPr/>
          <p:nvPr/>
        </p:nvSpPr>
        <p:spPr>
          <a:xfrm flipH="false" flipV="false" rot="-418351">
            <a:off x="16659576" y="4240031"/>
            <a:ext cx="2494032" cy="4468135"/>
          </a:xfrm>
          <a:custGeom>
            <a:avLst/>
            <a:gdLst/>
            <a:ahLst/>
            <a:cxnLst/>
            <a:rect r="r" b="b" t="t" l="l"/>
            <a:pathLst>
              <a:path h="4468135" w="2494032">
                <a:moveTo>
                  <a:pt x="0" y="0"/>
                </a:moveTo>
                <a:lnTo>
                  <a:pt x="2494032" y="0"/>
                </a:lnTo>
                <a:lnTo>
                  <a:pt x="2494032" y="4468135"/>
                </a:lnTo>
                <a:lnTo>
                  <a:pt x="0" y="44681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3583091">
            <a:off x="-728892" y="6448930"/>
            <a:ext cx="2047158" cy="3667547"/>
          </a:xfrm>
          <a:custGeom>
            <a:avLst/>
            <a:gdLst/>
            <a:ahLst/>
            <a:cxnLst/>
            <a:rect r="r" b="b" t="t" l="l"/>
            <a:pathLst>
              <a:path h="3667547" w="2047158">
                <a:moveTo>
                  <a:pt x="0" y="0"/>
                </a:moveTo>
                <a:lnTo>
                  <a:pt x="2047157" y="0"/>
                </a:lnTo>
                <a:lnTo>
                  <a:pt x="2047157" y="3667546"/>
                </a:lnTo>
                <a:lnTo>
                  <a:pt x="0" y="36675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1864513">
            <a:off x="15840592" y="1809555"/>
            <a:ext cx="1546571" cy="1586966"/>
          </a:xfrm>
          <a:custGeom>
            <a:avLst/>
            <a:gdLst/>
            <a:ahLst/>
            <a:cxnLst/>
            <a:rect r="r" b="b" t="t" l="l"/>
            <a:pathLst>
              <a:path h="1586966" w="1546571">
                <a:moveTo>
                  <a:pt x="0" y="0"/>
                </a:moveTo>
                <a:lnTo>
                  <a:pt x="1546570" y="0"/>
                </a:lnTo>
                <a:lnTo>
                  <a:pt x="1546570" y="1586966"/>
                </a:lnTo>
                <a:lnTo>
                  <a:pt x="0" y="15869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6" id="16"/>
          <p:cNvSpPr/>
          <p:nvPr/>
        </p:nvSpPr>
        <p:spPr>
          <a:xfrm flipH="false" flipV="false" rot="0">
            <a:off x="753256" y="3680937"/>
            <a:ext cx="515578" cy="515578"/>
          </a:xfrm>
          <a:custGeom>
            <a:avLst/>
            <a:gdLst/>
            <a:ahLst/>
            <a:cxnLst/>
            <a:rect r="r" b="b" t="t" l="l"/>
            <a:pathLst>
              <a:path h="515578" w="515578">
                <a:moveTo>
                  <a:pt x="0" y="0"/>
                </a:moveTo>
                <a:lnTo>
                  <a:pt x="515578" y="0"/>
                </a:lnTo>
                <a:lnTo>
                  <a:pt x="515578" y="515577"/>
                </a:lnTo>
                <a:lnTo>
                  <a:pt x="0" y="5155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7" id="17"/>
          <p:cNvGrpSpPr/>
          <p:nvPr/>
        </p:nvGrpSpPr>
        <p:grpSpPr>
          <a:xfrm rot="0">
            <a:off x="2482071" y="3900865"/>
            <a:ext cx="4140779" cy="4510262"/>
            <a:chOff x="0" y="0"/>
            <a:chExt cx="1049574" cy="1143228"/>
          </a:xfrm>
        </p:grpSpPr>
        <p:sp>
          <p:nvSpPr>
            <p:cNvPr name="Freeform 18" id="18"/>
            <p:cNvSpPr/>
            <p:nvPr/>
          </p:nvSpPr>
          <p:spPr>
            <a:xfrm flipH="false" flipV="false" rot="0">
              <a:off x="0" y="0"/>
              <a:ext cx="1049574" cy="1143228"/>
            </a:xfrm>
            <a:custGeom>
              <a:avLst/>
              <a:gdLst/>
              <a:ahLst/>
              <a:cxnLst/>
              <a:rect r="r" b="b" t="t" l="l"/>
              <a:pathLst>
                <a:path h="1143228" w="1049574">
                  <a:moveTo>
                    <a:pt x="46742" y="0"/>
                  </a:moveTo>
                  <a:lnTo>
                    <a:pt x="1002832" y="0"/>
                  </a:lnTo>
                  <a:cubicBezTo>
                    <a:pt x="1015229" y="0"/>
                    <a:pt x="1027118" y="4925"/>
                    <a:pt x="1035884" y="13690"/>
                  </a:cubicBezTo>
                  <a:cubicBezTo>
                    <a:pt x="1044650" y="22456"/>
                    <a:pt x="1049574" y="34345"/>
                    <a:pt x="1049574" y="46742"/>
                  </a:cubicBezTo>
                  <a:lnTo>
                    <a:pt x="1049574" y="1096486"/>
                  </a:lnTo>
                  <a:cubicBezTo>
                    <a:pt x="1049574" y="1108883"/>
                    <a:pt x="1044650" y="1120772"/>
                    <a:pt x="1035884" y="1129538"/>
                  </a:cubicBezTo>
                  <a:cubicBezTo>
                    <a:pt x="1027118" y="1138303"/>
                    <a:pt x="1015229" y="1143228"/>
                    <a:pt x="1002832" y="1143228"/>
                  </a:cubicBezTo>
                  <a:lnTo>
                    <a:pt x="46742" y="1143228"/>
                  </a:lnTo>
                  <a:cubicBezTo>
                    <a:pt x="34345" y="1143228"/>
                    <a:pt x="22456" y="1138303"/>
                    <a:pt x="13690" y="1129538"/>
                  </a:cubicBezTo>
                  <a:cubicBezTo>
                    <a:pt x="4925" y="1120772"/>
                    <a:pt x="0" y="1108883"/>
                    <a:pt x="0" y="1096486"/>
                  </a:cubicBezTo>
                  <a:lnTo>
                    <a:pt x="0" y="46742"/>
                  </a:lnTo>
                  <a:cubicBezTo>
                    <a:pt x="0" y="34345"/>
                    <a:pt x="4925" y="22456"/>
                    <a:pt x="13690" y="13690"/>
                  </a:cubicBezTo>
                  <a:cubicBezTo>
                    <a:pt x="22456" y="4925"/>
                    <a:pt x="34345" y="0"/>
                    <a:pt x="46742" y="0"/>
                  </a:cubicBezTo>
                  <a:close/>
                </a:path>
              </a:pathLst>
            </a:custGeom>
            <a:solidFill>
              <a:srgbClr val="FFFFFF">
                <a:alpha val="12941"/>
              </a:srgbClr>
            </a:solidFill>
            <a:ln w="38100" cap="rnd">
              <a:solidFill>
                <a:srgbClr val="1D0E07">
                  <a:alpha val="12941"/>
                </a:srgbClr>
              </a:solidFill>
              <a:prstDash val="solid"/>
              <a:round/>
            </a:ln>
          </p:spPr>
        </p:sp>
        <p:sp>
          <p:nvSpPr>
            <p:cNvPr name="TextBox 19" id="19"/>
            <p:cNvSpPr txBox="true"/>
            <p:nvPr/>
          </p:nvSpPr>
          <p:spPr>
            <a:xfrm>
              <a:off x="0" y="-38100"/>
              <a:ext cx="1049574" cy="1181328"/>
            </a:xfrm>
            <a:prstGeom prst="rect">
              <a:avLst/>
            </a:prstGeom>
          </p:spPr>
          <p:txBody>
            <a:bodyPr anchor="ctr" rtlCol="false" tIns="52784" lIns="52784" bIns="52784" rIns="52784"/>
            <a:lstStyle/>
            <a:p>
              <a:pPr algn="ctr">
                <a:lnSpc>
                  <a:spcPts val="2659"/>
                </a:lnSpc>
              </a:pPr>
            </a:p>
          </p:txBody>
        </p:sp>
      </p:grpSp>
      <p:sp>
        <p:nvSpPr>
          <p:cNvPr name="TextBox 20" id="20"/>
          <p:cNvSpPr txBox="true"/>
          <p:nvPr/>
        </p:nvSpPr>
        <p:spPr>
          <a:xfrm rot="0">
            <a:off x="2770057" y="4758225"/>
            <a:ext cx="3625757" cy="3239884"/>
          </a:xfrm>
          <a:prstGeom prst="rect">
            <a:avLst/>
          </a:prstGeom>
        </p:spPr>
        <p:txBody>
          <a:bodyPr anchor="t" rtlCol="false" tIns="0" lIns="0" bIns="0" rIns="0">
            <a:spAutoFit/>
          </a:bodyPr>
          <a:lstStyle/>
          <a:p>
            <a:pPr algn="ctr">
              <a:lnSpc>
                <a:spcPts val="5290"/>
              </a:lnSpc>
            </a:pPr>
            <a:r>
              <a:rPr lang="en-US" sz="2361">
                <a:solidFill>
                  <a:srgbClr val="F0CFC7"/>
                </a:solidFill>
                <a:latin typeface="Noto Serif Ethiopic Condensed"/>
                <a:ea typeface="Noto Serif Ethiopic Condensed"/>
                <a:cs typeface="Noto Serif Ethiopic Condensed"/>
                <a:sym typeface="Noto Serif Ethiopic Condensed"/>
              </a:rPr>
              <a:t>Traditional reporting tools are buried under multiple menus, making them nearly impossible to use during an actual crisis.</a:t>
            </a:r>
          </a:p>
        </p:txBody>
      </p:sp>
      <p:sp>
        <p:nvSpPr>
          <p:cNvPr name="TextBox 21" id="21"/>
          <p:cNvSpPr txBox="true"/>
          <p:nvPr/>
        </p:nvSpPr>
        <p:spPr>
          <a:xfrm rot="0">
            <a:off x="2758632" y="4032944"/>
            <a:ext cx="3625757" cy="683749"/>
          </a:xfrm>
          <a:prstGeom prst="rect">
            <a:avLst/>
          </a:prstGeom>
        </p:spPr>
        <p:txBody>
          <a:bodyPr anchor="t" rtlCol="false" tIns="0" lIns="0" bIns="0" rIns="0">
            <a:spAutoFit/>
          </a:bodyPr>
          <a:lstStyle/>
          <a:p>
            <a:pPr algn="ctr">
              <a:lnSpc>
                <a:spcPts val="6011"/>
              </a:lnSpc>
            </a:pPr>
            <a:r>
              <a:rPr lang="en-US" sz="2683" b="true">
                <a:solidFill>
                  <a:srgbClr val="3B1B4E"/>
                </a:solidFill>
                <a:latin typeface="Noto Serif Ethiopic Condensed Bold"/>
                <a:ea typeface="Noto Serif Ethiopic Condensed Bold"/>
                <a:cs typeface="Noto Serif Ethiopic Condensed Bold"/>
                <a:sym typeface="Noto Serif Ethiopic Condensed Bold"/>
              </a:rPr>
              <a:t>High-Stress Complexity</a:t>
            </a:r>
          </a:p>
        </p:txBody>
      </p:sp>
      <p:grpSp>
        <p:nvGrpSpPr>
          <p:cNvPr name="Group 22" id="22"/>
          <p:cNvGrpSpPr/>
          <p:nvPr/>
        </p:nvGrpSpPr>
        <p:grpSpPr>
          <a:xfrm rot="0">
            <a:off x="11587787" y="3900865"/>
            <a:ext cx="4140779" cy="4510262"/>
            <a:chOff x="0" y="0"/>
            <a:chExt cx="1049574" cy="1143228"/>
          </a:xfrm>
        </p:grpSpPr>
        <p:sp>
          <p:nvSpPr>
            <p:cNvPr name="Freeform 23" id="23"/>
            <p:cNvSpPr/>
            <p:nvPr/>
          </p:nvSpPr>
          <p:spPr>
            <a:xfrm flipH="false" flipV="false" rot="0">
              <a:off x="0" y="0"/>
              <a:ext cx="1049574" cy="1143228"/>
            </a:xfrm>
            <a:custGeom>
              <a:avLst/>
              <a:gdLst/>
              <a:ahLst/>
              <a:cxnLst/>
              <a:rect r="r" b="b" t="t" l="l"/>
              <a:pathLst>
                <a:path h="1143228" w="1049574">
                  <a:moveTo>
                    <a:pt x="46742" y="0"/>
                  </a:moveTo>
                  <a:lnTo>
                    <a:pt x="1002832" y="0"/>
                  </a:lnTo>
                  <a:cubicBezTo>
                    <a:pt x="1015229" y="0"/>
                    <a:pt x="1027118" y="4925"/>
                    <a:pt x="1035884" y="13690"/>
                  </a:cubicBezTo>
                  <a:cubicBezTo>
                    <a:pt x="1044650" y="22456"/>
                    <a:pt x="1049574" y="34345"/>
                    <a:pt x="1049574" y="46742"/>
                  </a:cubicBezTo>
                  <a:lnTo>
                    <a:pt x="1049574" y="1096486"/>
                  </a:lnTo>
                  <a:cubicBezTo>
                    <a:pt x="1049574" y="1108883"/>
                    <a:pt x="1044650" y="1120772"/>
                    <a:pt x="1035884" y="1129538"/>
                  </a:cubicBezTo>
                  <a:cubicBezTo>
                    <a:pt x="1027118" y="1138303"/>
                    <a:pt x="1015229" y="1143228"/>
                    <a:pt x="1002832" y="1143228"/>
                  </a:cubicBezTo>
                  <a:lnTo>
                    <a:pt x="46742" y="1143228"/>
                  </a:lnTo>
                  <a:cubicBezTo>
                    <a:pt x="34345" y="1143228"/>
                    <a:pt x="22456" y="1138303"/>
                    <a:pt x="13690" y="1129538"/>
                  </a:cubicBezTo>
                  <a:cubicBezTo>
                    <a:pt x="4925" y="1120772"/>
                    <a:pt x="0" y="1108883"/>
                    <a:pt x="0" y="1096486"/>
                  </a:cubicBezTo>
                  <a:lnTo>
                    <a:pt x="0" y="46742"/>
                  </a:lnTo>
                  <a:cubicBezTo>
                    <a:pt x="0" y="34345"/>
                    <a:pt x="4925" y="22456"/>
                    <a:pt x="13690" y="13690"/>
                  </a:cubicBezTo>
                  <a:cubicBezTo>
                    <a:pt x="22456" y="4925"/>
                    <a:pt x="34345" y="0"/>
                    <a:pt x="46742" y="0"/>
                  </a:cubicBezTo>
                  <a:close/>
                </a:path>
              </a:pathLst>
            </a:custGeom>
            <a:solidFill>
              <a:srgbClr val="FFFFFF">
                <a:alpha val="12941"/>
              </a:srgbClr>
            </a:solidFill>
            <a:ln w="38100" cap="rnd">
              <a:solidFill>
                <a:srgbClr val="1D0E07">
                  <a:alpha val="12941"/>
                </a:srgbClr>
              </a:solidFill>
              <a:prstDash val="solid"/>
              <a:round/>
            </a:ln>
          </p:spPr>
        </p:sp>
        <p:sp>
          <p:nvSpPr>
            <p:cNvPr name="TextBox 24" id="24"/>
            <p:cNvSpPr txBox="true"/>
            <p:nvPr/>
          </p:nvSpPr>
          <p:spPr>
            <a:xfrm>
              <a:off x="0" y="-38100"/>
              <a:ext cx="1049574" cy="1181328"/>
            </a:xfrm>
            <a:prstGeom prst="rect">
              <a:avLst/>
            </a:prstGeom>
          </p:spPr>
          <p:txBody>
            <a:bodyPr anchor="ctr" rtlCol="false" tIns="52784" lIns="52784" bIns="52784" rIns="52784"/>
            <a:lstStyle/>
            <a:p>
              <a:pPr algn="ctr">
                <a:lnSpc>
                  <a:spcPts val="2659"/>
                </a:lnSpc>
              </a:pPr>
            </a:p>
          </p:txBody>
        </p:sp>
      </p:grpSp>
      <p:sp>
        <p:nvSpPr>
          <p:cNvPr name="TextBox 25" id="25"/>
          <p:cNvSpPr txBox="true"/>
          <p:nvPr/>
        </p:nvSpPr>
        <p:spPr>
          <a:xfrm rot="0">
            <a:off x="11858888" y="4832060"/>
            <a:ext cx="3625757" cy="3091158"/>
          </a:xfrm>
          <a:prstGeom prst="rect">
            <a:avLst/>
          </a:prstGeom>
        </p:spPr>
        <p:txBody>
          <a:bodyPr anchor="t" rtlCol="false" tIns="0" lIns="0" bIns="0" rIns="0">
            <a:spAutoFit/>
          </a:bodyPr>
          <a:lstStyle/>
          <a:p>
            <a:pPr algn="ctr">
              <a:lnSpc>
                <a:spcPts val="5049"/>
              </a:lnSpc>
            </a:pPr>
            <a:r>
              <a:rPr lang="en-US" sz="2254">
                <a:solidFill>
                  <a:srgbClr val="F0CFC7"/>
                </a:solidFill>
                <a:latin typeface="Noto Serif Ethiopic Condensed"/>
                <a:ea typeface="Noto Serif Ethiopic Condensed"/>
                <a:cs typeface="Noto Serif Ethiopic Condensed"/>
                <a:sym typeface="Noto Serif Ethiopic Condensed"/>
              </a:rPr>
              <a:t>Existing apps feel like "police tools" rather than supportive companions, leading to low user engagement and a lack of community-based prevention.</a:t>
            </a:r>
          </a:p>
        </p:txBody>
      </p:sp>
      <p:sp>
        <p:nvSpPr>
          <p:cNvPr name="TextBox 26" id="26"/>
          <p:cNvSpPr txBox="true"/>
          <p:nvPr/>
        </p:nvSpPr>
        <p:spPr>
          <a:xfrm rot="0">
            <a:off x="11858888" y="4054153"/>
            <a:ext cx="3625757" cy="724008"/>
          </a:xfrm>
          <a:prstGeom prst="rect">
            <a:avLst/>
          </a:prstGeom>
        </p:spPr>
        <p:txBody>
          <a:bodyPr anchor="t" rtlCol="false" tIns="0" lIns="0" bIns="0" rIns="0">
            <a:spAutoFit/>
          </a:bodyPr>
          <a:lstStyle/>
          <a:p>
            <a:pPr algn="ctr">
              <a:lnSpc>
                <a:spcPts val="6459"/>
              </a:lnSpc>
            </a:pPr>
            <a:r>
              <a:rPr lang="en-US" sz="2883" b="true">
                <a:solidFill>
                  <a:srgbClr val="3B1B4E"/>
                </a:solidFill>
                <a:latin typeface="Noto Serif Ethiopic Condensed Bold"/>
                <a:ea typeface="Noto Serif Ethiopic Condensed Bold"/>
                <a:cs typeface="Noto Serif Ethiopic Condensed Bold"/>
                <a:sym typeface="Noto Serif Ethiopic Condensed Bold"/>
              </a:rPr>
              <a:t>Clinical Isolation</a:t>
            </a:r>
          </a:p>
        </p:txBody>
      </p:sp>
      <p:grpSp>
        <p:nvGrpSpPr>
          <p:cNvPr name="Group 27" id="27"/>
          <p:cNvGrpSpPr/>
          <p:nvPr/>
        </p:nvGrpSpPr>
        <p:grpSpPr>
          <a:xfrm rot="0">
            <a:off x="7121278" y="3900865"/>
            <a:ext cx="4140779" cy="4510262"/>
            <a:chOff x="0" y="0"/>
            <a:chExt cx="1049574" cy="1143228"/>
          </a:xfrm>
        </p:grpSpPr>
        <p:sp>
          <p:nvSpPr>
            <p:cNvPr name="Freeform 28" id="28"/>
            <p:cNvSpPr/>
            <p:nvPr/>
          </p:nvSpPr>
          <p:spPr>
            <a:xfrm flipH="false" flipV="false" rot="0">
              <a:off x="0" y="0"/>
              <a:ext cx="1049574" cy="1143228"/>
            </a:xfrm>
            <a:custGeom>
              <a:avLst/>
              <a:gdLst/>
              <a:ahLst/>
              <a:cxnLst/>
              <a:rect r="r" b="b" t="t" l="l"/>
              <a:pathLst>
                <a:path h="1143228" w="1049574">
                  <a:moveTo>
                    <a:pt x="46742" y="0"/>
                  </a:moveTo>
                  <a:lnTo>
                    <a:pt x="1002832" y="0"/>
                  </a:lnTo>
                  <a:cubicBezTo>
                    <a:pt x="1015229" y="0"/>
                    <a:pt x="1027118" y="4925"/>
                    <a:pt x="1035884" y="13690"/>
                  </a:cubicBezTo>
                  <a:cubicBezTo>
                    <a:pt x="1044650" y="22456"/>
                    <a:pt x="1049574" y="34345"/>
                    <a:pt x="1049574" y="46742"/>
                  </a:cubicBezTo>
                  <a:lnTo>
                    <a:pt x="1049574" y="1096486"/>
                  </a:lnTo>
                  <a:cubicBezTo>
                    <a:pt x="1049574" y="1108883"/>
                    <a:pt x="1044650" y="1120772"/>
                    <a:pt x="1035884" y="1129538"/>
                  </a:cubicBezTo>
                  <a:cubicBezTo>
                    <a:pt x="1027118" y="1138303"/>
                    <a:pt x="1015229" y="1143228"/>
                    <a:pt x="1002832" y="1143228"/>
                  </a:cubicBezTo>
                  <a:lnTo>
                    <a:pt x="46742" y="1143228"/>
                  </a:lnTo>
                  <a:cubicBezTo>
                    <a:pt x="34345" y="1143228"/>
                    <a:pt x="22456" y="1138303"/>
                    <a:pt x="13690" y="1129538"/>
                  </a:cubicBezTo>
                  <a:cubicBezTo>
                    <a:pt x="4925" y="1120772"/>
                    <a:pt x="0" y="1108883"/>
                    <a:pt x="0" y="1096486"/>
                  </a:cubicBezTo>
                  <a:lnTo>
                    <a:pt x="0" y="46742"/>
                  </a:lnTo>
                  <a:cubicBezTo>
                    <a:pt x="0" y="34345"/>
                    <a:pt x="4925" y="22456"/>
                    <a:pt x="13690" y="13690"/>
                  </a:cubicBezTo>
                  <a:cubicBezTo>
                    <a:pt x="22456" y="4925"/>
                    <a:pt x="34345" y="0"/>
                    <a:pt x="46742" y="0"/>
                  </a:cubicBezTo>
                  <a:close/>
                </a:path>
              </a:pathLst>
            </a:custGeom>
            <a:solidFill>
              <a:srgbClr val="FFFFFF">
                <a:alpha val="12941"/>
              </a:srgbClr>
            </a:solidFill>
            <a:ln w="38100" cap="rnd">
              <a:solidFill>
                <a:srgbClr val="1D0E07">
                  <a:alpha val="12941"/>
                </a:srgbClr>
              </a:solidFill>
              <a:prstDash val="solid"/>
              <a:round/>
            </a:ln>
          </p:spPr>
        </p:sp>
        <p:sp>
          <p:nvSpPr>
            <p:cNvPr name="TextBox 29" id="29"/>
            <p:cNvSpPr txBox="true"/>
            <p:nvPr/>
          </p:nvSpPr>
          <p:spPr>
            <a:xfrm>
              <a:off x="0" y="-38100"/>
              <a:ext cx="1049574" cy="1181328"/>
            </a:xfrm>
            <a:prstGeom prst="rect">
              <a:avLst/>
            </a:prstGeom>
          </p:spPr>
          <p:txBody>
            <a:bodyPr anchor="ctr" rtlCol="false" tIns="52784" lIns="52784" bIns="52784" rIns="52784"/>
            <a:lstStyle/>
            <a:p>
              <a:pPr algn="ctr">
                <a:lnSpc>
                  <a:spcPts val="2659"/>
                </a:lnSpc>
              </a:pPr>
            </a:p>
          </p:txBody>
        </p:sp>
      </p:grpSp>
      <p:sp>
        <p:nvSpPr>
          <p:cNvPr name="TextBox 30" id="30"/>
          <p:cNvSpPr txBox="true"/>
          <p:nvPr/>
        </p:nvSpPr>
        <p:spPr>
          <a:xfrm rot="0">
            <a:off x="7331121" y="4832060"/>
            <a:ext cx="3625757" cy="2951957"/>
          </a:xfrm>
          <a:prstGeom prst="rect">
            <a:avLst/>
          </a:prstGeom>
        </p:spPr>
        <p:txBody>
          <a:bodyPr anchor="t" rtlCol="false" tIns="0" lIns="0" bIns="0" rIns="0">
            <a:spAutoFit/>
          </a:bodyPr>
          <a:lstStyle/>
          <a:p>
            <a:pPr algn="ctr">
              <a:lnSpc>
                <a:spcPts val="4809"/>
              </a:lnSpc>
            </a:pPr>
            <a:r>
              <a:rPr lang="en-US" sz="2147">
                <a:solidFill>
                  <a:srgbClr val="F0CFC7"/>
                </a:solidFill>
                <a:latin typeface="Noto Serif Ethiopic Condensed"/>
                <a:ea typeface="Noto Serif Ethiopic Condensed"/>
                <a:cs typeface="Noto Serif Ethiopic Condensed"/>
                <a:sym typeface="Noto Serif Ethiopic Condensed"/>
              </a:rPr>
              <a:t>A significant "Efficiency Gap" exists where the time required to navigate an app exceeds the user’s cognitive capability during a high-adrenaline event.</a:t>
            </a:r>
          </a:p>
        </p:txBody>
      </p:sp>
      <p:sp>
        <p:nvSpPr>
          <p:cNvPr name="TextBox 31" id="31"/>
          <p:cNvSpPr txBox="true"/>
          <p:nvPr/>
        </p:nvSpPr>
        <p:spPr>
          <a:xfrm rot="0">
            <a:off x="7378789" y="4004369"/>
            <a:ext cx="3625757" cy="773793"/>
          </a:xfrm>
          <a:prstGeom prst="rect">
            <a:avLst/>
          </a:prstGeom>
        </p:spPr>
        <p:txBody>
          <a:bodyPr anchor="t" rtlCol="false" tIns="0" lIns="0" bIns="0" rIns="0">
            <a:spAutoFit/>
          </a:bodyPr>
          <a:lstStyle/>
          <a:p>
            <a:pPr algn="ctr">
              <a:lnSpc>
                <a:spcPts val="6907"/>
              </a:lnSpc>
            </a:pPr>
            <a:r>
              <a:rPr lang="en-US" sz="3083" b="true">
                <a:solidFill>
                  <a:srgbClr val="3B1B4E"/>
                </a:solidFill>
                <a:latin typeface="Noto Serif Ethiopic Condensed Bold"/>
                <a:ea typeface="Noto Serif Ethiopic Condensed Bold"/>
                <a:cs typeface="Noto Serif Ethiopic Condensed Bold"/>
                <a:sym typeface="Noto Serif Ethiopic Condensed Bold"/>
              </a:rPr>
              <a:t>Response Lag</a:t>
            </a:r>
          </a:p>
        </p:txBody>
      </p:sp>
      <p:sp>
        <p:nvSpPr>
          <p:cNvPr name="Freeform 32" id="32"/>
          <p:cNvSpPr/>
          <p:nvPr/>
        </p:nvSpPr>
        <p:spPr>
          <a:xfrm flipH="false" flipV="false" rot="-1864513">
            <a:off x="2007753" y="9155189"/>
            <a:ext cx="773285" cy="793483"/>
          </a:xfrm>
          <a:custGeom>
            <a:avLst/>
            <a:gdLst/>
            <a:ahLst/>
            <a:cxnLst/>
            <a:rect r="r" b="b" t="t" l="l"/>
            <a:pathLst>
              <a:path h="793483" w="773285">
                <a:moveTo>
                  <a:pt x="0" y="0"/>
                </a:moveTo>
                <a:lnTo>
                  <a:pt x="773285" y="0"/>
                </a:lnTo>
                <a:lnTo>
                  <a:pt x="773285" y="793484"/>
                </a:lnTo>
                <a:lnTo>
                  <a:pt x="0" y="79348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grpSp>
        <p:nvGrpSpPr>
          <p:cNvPr name="Group 2" id="2"/>
          <p:cNvGrpSpPr/>
          <p:nvPr/>
        </p:nvGrpSpPr>
        <p:grpSpPr>
          <a:xfrm rot="0">
            <a:off x="3099220" y="1696293"/>
            <a:ext cx="14130021" cy="7528403"/>
            <a:chOff x="0" y="0"/>
            <a:chExt cx="3844900" cy="2048543"/>
          </a:xfrm>
        </p:grpSpPr>
        <p:sp>
          <p:nvSpPr>
            <p:cNvPr name="Freeform 3" id="3"/>
            <p:cNvSpPr/>
            <p:nvPr/>
          </p:nvSpPr>
          <p:spPr>
            <a:xfrm flipH="false" flipV="false" rot="0">
              <a:off x="0" y="0"/>
              <a:ext cx="3844900" cy="2048543"/>
            </a:xfrm>
            <a:custGeom>
              <a:avLst/>
              <a:gdLst/>
              <a:ahLst/>
              <a:cxnLst/>
              <a:rect r="r" b="b" t="t" l="l"/>
              <a:pathLst>
                <a:path h="2048543" w="3844900">
                  <a:moveTo>
                    <a:pt x="13698" y="0"/>
                  </a:moveTo>
                  <a:lnTo>
                    <a:pt x="3831202" y="0"/>
                  </a:lnTo>
                  <a:cubicBezTo>
                    <a:pt x="3834835" y="0"/>
                    <a:pt x="3838319" y="1443"/>
                    <a:pt x="3840888" y="4012"/>
                  </a:cubicBezTo>
                  <a:cubicBezTo>
                    <a:pt x="3843456" y="6581"/>
                    <a:pt x="3844900" y="10065"/>
                    <a:pt x="3844900" y="13698"/>
                  </a:cubicBezTo>
                  <a:lnTo>
                    <a:pt x="3844900" y="2034845"/>
                  </a:lnTo>
                  <a:cubicBezTo>
                    <a:pt x="3844900" y="2042410"/>
                    <a:pt x="3838767" y="2048543"/>
                    <a:pt x="3831202" y="2048543"/>
                  </a:cubicBezTo>
                  <a:lnTo>
                    <a:pt x="13698" y="2048543"/>
                  </a:lnTo>
                  <a:cubicBezTo>
                    <a:pt x="6133" y="2048543"/>
                    <a:pt x="0" y="2042410"/>
                    <a:pt x="0" y="2034845"/>
                  </a:cubicBezTo>
                  <a:lnTo>
                    <a:pt x="0" y="13698"/>
                  </a:lnTo>
                  <a:cubicBezTo>
                    <a:pt x="0" y="6133"/>
                    <a:pt x="6133" y="0"/>
                    <a:pt x="13698" y="0"/>
                  </a:cubicBezTo>
                  <a:close/>
                </a:path>
              </a:pathLst>
            </a:custGeom>
            <a:solidFill>
              <a:srgbClr val="FFFFFF">
                <a:alpha val="12941"/>
              </a:srgbClr>
            </a:solidFill>
            <a:ln w="38100" cap="rnd">
              <a:solidFill>
                <a:srgbClr val="FFFFFF">
                  <a:alpha val="12941"/>
                </a:srgbClr>
              </a:solidFill>
              <a:prstDash val="solid"/>
              <a:round/>
            </a:ln>
          </p:spPr>
        </p:sp>
        <p:sp>
          <p:nvSpPr>
            <p:cNvPr name="TextBox 4" id="4"/>
            <p:cNvSpPr txBox="true"/>
            <p:nvPr/>
          </p:nvSpPr>
          <p:spPr>
            <a:xfrm>
              <a:off x="0" y="-38100"/>
              <a:ext cx="3844900" cy="2086643"/>
            </a:xfrm>
            <a:prstGeom prst="rect">
              <a:avLst/>
            </a:prstGeom>
          </p:spPr>
          <p:txBody>
            <a:bodyPr anchor="ctr" rtlCol="false" tIns="49169" lIns="49169" bIns="49169" rIns="49169"/>
            <a:lstStyle/>
            <a:p>
              <a:pPr algn="ctr">
                <a:lnSpc>
                  <a:spcPts val="2659"/>
                </a:lnSpc>
              </a:pPr>
            </a:p>
          </p:txBody>
        </p:sp>
      </p:grpSp>
      <p:sp>
        <p:nvSpPr>
          <p:cNvPr name="Freeform 5" id="5"/>
          <p:cNvSpPr/>
          <p:nvPr/>
        </p:nvSpPr>
        <p:spPr>
          <a:xfrm flipH="false" flipV="false" rot="0">
            <a:off x="14468081" y="1172359"/>
            <a:ext cx="1715278" cy="283801"/>
          </a:xfrm>
          <a:custGeom>
            <a:avLst/>
            <a:gdLst/>
            <a:ahLst/>
            <a:cxnLst/>
            <a:rect r="r" b="b" t="t" l="l"/>
            <a:pathLst>
              <a:path h="283801" w="1715278">
                <a:moveTo>
                  <a:pt x="0" y="0"/>
                </a:moveTo>
                <a:lnTo>
                  <a:pt x="1715278" y="0"/>
                </a:lnTo>
                <a:lnTo>
                  <a:pt x="1715278" y="283800"/>
                </a:lnTo>
                <a:lnTo>
                  <a:pt x="0" y="283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5175309" y="2079934"/>
            <a:ext cx="11535853" cy="1561759"/>
          </a:xfrm>
          <a:prstGeom prst="rect">
            <a:avLst/>
          </a:prstGeom>
        </p:spPr>
        <p:txBody>
          <a:bodyPr anchor="t" rtlCol="false" tIns="0" lIns="0" bIns="0" rIns="0">
            <a:spAutoFit/>
          </a:bodyPr>
          <a:lstStyle/>
          <a:p>
            <a:pPr algn="ctr">
              <a:lnSpc>
                <a:spcPts val="11674"/>
              </a:lnSpc>
            </a:pPr>
            <a:r>
              <a:rPr lang="en-US" b="true" sz="12289">
                <a:solidFill>
                  <a:srgbClr val="D9A3A2"/>
                </a:solidFill>
                <a:latin typeface="Noto Serif Ethiopic Condensed Bold"/>
                <a:ea typeface="Noto Serif Ethiopic Condensed Bold"/>
                <a:cs typeface="Noto Serif Ethiopic Condensed Bold"/>
                <a:sym typeface="Noto Serif Ethiopic Condensed Bold"/>
              </a:rPr>
              <a:t>THE SOLUTION</a:t>
            </a:r>
          </a:p>
        </p:txBody>
      </p:sp>
      <p:sp>
        <p:nvSpPr>
          <p:cNvPr name="Freeform 7" id="7"/>
          <p:cNvSpPr/>
          <p:nvPr/>
        </p:nvSpPr>
        <p:spPr>
          <a:xfrm flipH="false" flipV="false" rot="0">
            <a:off x="8596974" y="-1194328"/>
            <a:ext cx="3502048" cy="1916575"/>
          </a:xfrm>
          <a:custGeom>
            <a:avLst/>
            <a:gdLst/>
            <a:ahLst/>
            <a:cxnLst/>
            <a:rect r="r" b="b" t="t" l="l"/>
            <a:pathLst>
              <a:path h="1916575" w="3502048">
                <a:moveTo>
                  <a:pt x="0" y="0"/>
                </a:moveTo>
                <a:lnTo>
                  <a:pt x="3502048" y="0"/>
                </a:lnTo>
                <a:lnTo>
                  <a:pt x="3502048" y="1916576"/>
                </a:lnTo>
                <a:lnTo>
                  <a:pt x="0" y="1916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744767" y="9577121"/>
            <a:ext cx="3502048" cy="1916575"/>
          </a:xfrm>
          <a:custGeom>
            <a:avLst/>
            <a:gdLst/>
            <a:ahLst/>
            <a:cxnLst/>
            <a:rect r="r" b="b" t="t" l="l"/>
            <a:pathLst>
              <a:path h="1916575" w="3502048">
                <a:moveTo>
                  <a:pt x="0" y="0"/>
                </a:moveTo>
                <a:lnTo>
                  <a:pt x="3502049" y="0"/>
                </a:lnTo>
                <a:lnTo>
                  <a:pt x="3502049" y="1916576"/>
                </a:lnTo>
                <a:lnTo>
                  <a:pt x="0" y="1916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9014641" y="3706386"/>
            <a:ext cx="3857189" cy="5052620"/>
            <a:chOff x="0" y="0"/>
            <a:chExt cx="1049574" cy="1374861"/>
          </a:xfrm>
        </p:grpSpPr>
        <p:sp>
          <p:nvSpPr>
            <p:cNvPr name="Freeform 10" id="10"/>
            <p:cNvSpPr/>
            <p:nvPr/>
          </p:nvSpPr>
          <p:spPr>
            <a:xfrm flipH="false" flipV="false" rot="0">
              <a:off x="0" y="0"/>
              <a:ext cx="1049574" cy="1374861"/>
            </a:xfrm>
            <a:custGeom>
              <a:avLst/>
              <a:gdLst/>
              <a:ahLst/>
              <a:cxnLst/>
              <a:rect r="r" b="b" t="t" l="l"/>
              <a:pathLst>
                <a:path h="1374861" w="1049574">
                  <a:moveTo>
                    <a:pt x="50179" y="0"/>
                  </a:moveTo>
                  <a:lnTo>
                    <a:pt x="999396" y="0"/>
                  </a:lnTo>
                  <a:cubicBezTo>
                    <a:pt x="1012704" y="0"/>
                    <a:pt x="1025467" y="5287"/>
                    <a:pt x="1034877" y="14697"/>
                  </a:cubicBezTo>
                  <a:cubicBezTo>
                    <a:pt x="1044287" y="24107"/>
                    <a:pt x="1049574" y="36870"/>
                    <a:pt x="1049574" y="50179"/>
                  </a:cubicBezTo>
                  <a:lnTo>
                    <a:pt x="1049574" y="1324683"/>
                  </a:lnTo>
                  <a:cubicBezTo>
                    <a:pt x="1049574" y="1337991"/>
                    <a:pt x="1044287" y="1350754"/>
                    <a:pt x="1034877" y="1360164"/>
                  </a:cubicBezTo>
                  <a:cubicBezTo>
                    <a:pt x="1025467" y="1369575"/>
                    <a:pt x="1012704" y="1374861"/>
                    <a:pt x="999396" y="1374861"/>
                  </a:cubicBezTo>
                  <a:lnTo>
                    <a:pt x="50179" y="1374861"/>
                  </a:lnTo>
                  <a:cubicBezTo>
                    <a:pt x="36870" y="1374861"/>
                    <a:pt x="24107" y="1369575"/>
                    <a:pt x="14697" y="1360164"/>
                  </a:cubicBezTo>
                  <a:cubicBezTo>
                    <a:pt x="5287" y="1350754"/>
                    <a:pt x="0" y="1337991"/>
                    <a:pt x="0" y="1324683"/>
                  </a:cubicBezTo>
                  <a:lnTo>
                    <a:pt x="0" y="50179"/>
                  </a:lnTo>
                  <a:cubicBezTo>
                    <a:pt x="0" y="36870"/>
                    <a:pt x="5287" y="24107"/>
                    <a:pt x="14697" y="14697"/>
                  </a:cubicBezTo>
                  <a:cubicBezTo>
                    <a:pt x="24107" y="5287"/>
                    <a:pt x="36870" y="0"/>
                    <a:pt x="50179" y="0"/>
                  </a:cubicBezTo>
                  <a:close/>
                </a:path>
              </a:pathLst>
            </a:custGeom>
            <a:solidFill>
              <a:srgbClr val="FFFFFF">
                <a:alpha val="12941"/>
              </a:srgbClr>
            </a:solidFill>
            <a:ln w="38100" cap="rnd">
              <a:solidFill>
                <a:srgbClr val="1D0E07">
                  <a:alpha val="12941"/>
                </a:srgbClr>
              </a:solidFill>
              <a:prstDash val="solid"/>
              <a:round/>
            </a:ln>
          </p:spPr>
        </p:sp>
        <p:sp>
          <p:nvSpPr>
            <p:cNvPr name="TextBox 11" id="11"/>
            <p:cNvSpPr txBox="true"/>
            <p:nvPr/>
          </p:nvSpPr>
          <p:spPr>
            <a:xfrm>
              <a:off x="0" y="-38100"/>
              <a:ext cx="1049574" cy="1412961"/>
            </a:xfrm>
            <a:prstGeom prst="rect">
              <a:avLst/>
            </a:prstGeom>
          </p:spPr>
          <p:txBody>
            <a:bodyPr anchor="ctr" rtlCol="false" tIns="49169" lIns="49169" bIns="49169" rIns="49169"/>
            <a:lstStyle/>
            <a:p>
              <a:pPr algn="ctr">
                <a:lnSpc>
                  <a:spcPts val="2659"/>
                </a:lnSpc>
              </a:pPr>
            </a:p>
          </p:txBody>
        </p:sp>
      </p:grpSp>
      <p:grpSp>
        <p:nvGrpSpPr>
          <p:cNvPr name="Group 12" id="12"/>
          <p:cNvGrpSpPr/>
          <p:nvPr/>
        </p:nvGrpSpPr>
        <p:grpSpPr>
          <a:xfrm rot="0">
            <a:off x="13094107" y="3706386"/>
            <a:ext cx="3857189" cy="5052620"/>
            <a:chOff x="0" y="0"/>
            <a:chExt cx="1049574" cy="1374861"/>
          </a:xfrm>
        </p:grpSpPr>
        <p:sp>
          <p:nvSpPr>
            <p:cNvPr name="Freeform 13" id="13"/>
            <p:cNvSpPr/>
            <p:nvPr/>
          </p:nvSpPr>
          <p:spPr>
            <a:xfrm flipH="false" flipV="false" rot="0">
              <a:off x="0" y="0"/>
              <a:ext cx="1049574" cy="1374861"/>
            </a:xfrm>
            <a:custGeom>
              <a:avLst/>
              <a:gdLst/>
              <a:ahLst/>
              <a:cxnLst/>
              <a:rect r="r" b="b" t="t" l="l"/>
              <a:pathLst>
                <a:path h="1374861" w="1049574">
                  <a:moveTo>
                    <a:pt x="50179" y="0"/>
                  </a:moveTo>
                  <a:lnTo>
                    <a:pt x="999396" y="0"/>
                  </a:lnTo>
                  <a:cubicBezTo>
                    <a:pt x="1012704" y="0"/>
                    <a:pt x="1025467" y="5287"/>
                    <a:pt x="1034877" y="14697"/>
                  </a:cubicBezTo>
                  <a:cubicBezTo>
                    <a:pt x="1044287" y="24107"/>
                    <a:pt x="1049574" y="36870"/>
                    <a:pt x="1049574" y="50179"/>
                  </a:cubicBezTo>
                  <a:lnTo>
                    <a:pt x="1049574" y="1324683"/>
                  </a:lnTo>
                  <a:cubicBezTo>
                    <a:pt x="1049574" y="1337991"/>
                    <a:pt x="1044287" y="1350754"/>
                    <a:pt x="1034877" y="1360164"/>
                  </a:cubicBezTo>
                  <a:cubicBezTo>
                    <a:pt x="1025467" y="1369575"/>
                    <a:pt x="1012704" y="1374861"/>
                    <a:pt x="999396" y="1374861"/>
                  </a:cubicBezTo>
                  <a:lnTo>
                    <a:pt x="50179" y="1374861"/>
                  </a:lnTo>
                  <a:cubicBezTo>
                    <a:pt x="36870" y="1374861"/>
                    <a:pt x="24107" y="1369575"/>
                    <a:pt x="14697" y="1360164"/>
                  </a:cubicBezTo>
                  <a:cubicBezTo>
                    <a:pt x="5287" y="1350754"/>
                    <a:pt x="0" y="1337991"/>
                    <a:pt x="0" y="1324683"/>
                  </a:cubicBezTo>
                  <a:lnTo>
                    <a:pt x="0" y="50179"/>
                  </a:lnTo>
                  <a:cubicBezTo>
                    <a:pt x="0" y="36870"/>
                    <a:pt x="5287" y="24107"/>
                    <a:pt x="14697" y="14697"/>
                  </a:cubicBezTo>
                  <a:cubicBezTo>
                    <a:pt x="24107" y="5287"/>
                    <a:pt x="36870" y="0"/>
                    <a:pt x="50179" y="0"/>
                  </a:cubicBezTo>
                  <a:close/>
                </a:path>
              </a:pathLst>
            </a:custGeom>
            <a:solidFill>
              <a:srgbClr val="FFFFFF">
                <a:alpha val="12941"/>
              </a:srgbClr>
            </a:solidFill>
            <a:ln w="38100" cap="rnd">
              <a:solidFill>
                <a:srgbClr val="1D0E07">
                  <a:alpha val="12941"/>
                </a:srgbClr>
              </a:solidFill>
              <a:prstDash val="solid"/>
              <a:round/>
            </a:ln>
          </p:spPr>
        </p:sp>
        <p:sp>
          <p:nvSpPr>
            <p:cNvPr name="TextBox 14" id="14"/>
            <p:cNvSpPr txBox="true"/>
            <p:nvPr/>
          </p:nvSpPr>
          <p:spPr>
            <a:xfrm>
              <a:off x="0" y="-38100"/>
              <a:ext cx="1049574" cy="1412961"/>
            </a:xfrm>
            <a:prstGeom prst="rect">
              <a:avLst/>
            </a:prstGeom>
          </p:spPr>
          <p:txBody>
            <a:bodyPr anchor="ctr" rtlCol="false" tIns="49169" lIns="49169" bIns="49169" rIns="49169"/>
            <a:lstStyle/>
            <a:p>
              <a:pPr algn="ctr">
                <a:lnSpc>
                  <a:spcPts val="2659"/>
                </a:lnSpc>
              </a:pPr>
            </a:p>
          </p:txBody>
        </p:sp>
      </p:grpSp>
      <p:sp>
        <p:nvSpPr>
          <p:cNvPr name="TextBox 15" id="15"/>
          <p:cNvSpPr txBox="true"/>
          <p:nvPr/>
        </p:nvSpPr>
        <p:spPr>
          <a:xfrm rot="0">
            <a:off x="13386180" y="4604356"/>
            <a:ext cx="3377439" cy="3748303"/>
          </a:xfrm>
          <a:prstGeom prst="rect">
            <a:avLst/>
          </a:prstGeom>
        </p:spPr>
        <p:txBody>
          <a:bodyPr anchor="t" rtlCol="false" tIns="0" lIns="0" bIns="0" rIns="0">
            <a:spAutoFit/>
          </a:bodyPr>
          <a:lstStyle/>
          <a:p>
            <a:pPr algn="ctr">
              <a:lnSpc>
                <a:spcPts val="5084"/>
              </a:lnSpc>
            </a:pPr>
            <a:r>
              <a:rPr lang="en-US" sz="2270">
                <a:solidFill>
                  <a:srgbClr val="F0CFC7"/>
                </a:solidFill>
                <a:latin typeface="Noto Serif Ethiopic Condensed"/>
                <a:ea typeface="Noto Serif Ethiopic Condensed"/>
                <a:cs typeface="Noto Serif Ethiopic Condensed"/>
                <a:sym typeface="Noto Serif Ethiopic Condensed"/>
              </a:rPr>
              <a:t>Beyond just emergency help, HelpEra provides real-time "Safe Zone" tracking and community-driven insights to prevent incidents before they happen.</a:t>
            </a:r>
          </a:p>
        </p:txBody>
      </p:sp>
      <p:grpSp>
        <p:nvGrpSpPr>
          <p:cNvPr name="Group 16" id="16"/>
          <p:cNvGrpSpPr/>
          <p:nvPr/>
        </p:nvGrpSpPr>
        <p:grpSpPr>
          <a:xfrm rot="0">
            <a:off x="4881753" y="3706386"/>
            <a:ext cx="3857189" cy="5052620"/>
            <a:chOff x="0" y="0"/>
            <a:chExt cx="1049574" cy="1374861"/>
          </a:xfrm>
        </p:grpSpPr>
        <p:sp>
          <p:nvSpPr>
            <p:cNvPr name="Freeform 17" id="17"/>
            <p:cNvSpPr/>
            <p:nvPr/>
          </p:nvSpPr>
          <p:spPr>
            <a:xfrm flipH="false" flipV="false" rot="0">
              <a:off x="0" y="0"/>
              <a:ext cx="1049574" cy="1374861"/>
            </a:xfrm>
            <a:custGeom>
              <a:avLst/>
              <a:gdLst/>
              <a:ahLst/>
              <a:cxnLst/>
              <a:rect r="r" b="b" t="t" l="l"/>
              <a:pathLst>
                <a:path h="1374861" w="1049574">
                  <a:moveTo>
                    <a:pt x="50179" y="0"/>
                  </a:moveTo>
                  <a:lnTo>
                    <a:pt x="999396" y="0"/>
                  </a:lnTo>
                  <a:cubicBezTo>
                    <a:pt x="1012704" y="0"/>
                    <a:pt x="1025467" y="5287"/>
                    <a:pt x="1034877" y="14697"/>
                  </a:cubicBezTo>
                  <a:cubicBezTo>
                    <a:pt x="1044287" y="24107"/>
                    <a:pt x="1049574" y="36870"/>
                    <a:pt x="1049574" y="50179"/>
                  </a:cubicBezTo>
                  <a:lnTo>
                    <a:pt x="1049574" y="1324683"/>
                  </a:lnTo>
                  <a:cubicBezTo>
                    <a:pt x="1049574" y="1337991"/>
                    <a:pt x="1044287" y="1350754"/>
                    <a:pt x="1034877" y="1360164"/>
                  </a:cubicBezTo>
                  <a:cubicBezTo>
                    <a:pt x="1025467" y="1369575"/>
                    <a:pt x="1012704" y="1374861"/>
                    <a:pt x="999396" y="1374861"/>
                  </a:cubicBezTo>
                  <a:lnTo>
                    <a:pt x="50179" y="1374861"/>
                  </a:lnTo>
                  <a:cubicBezTo>
                    <a:pt x="36870" y="1374861"/>
                    <a:pt x="24107" y="1369575"/>
                    <a:pt x="14697" y="1360164"/>
                  </a:cubicBezTo>
                  <a:cubicBezTo>
                    <a:pt x="5287" y="1350754"/>
                    <a:pt x="0" y="1337991"/>
                    <a:pt x="0" y="1324683"/>
                  </a:cubicBezTo>
                  <a:lnTo>
                    <a:pt x="0" y="50179"/>
                  </a:lnTo>
                  <a:cubicBezTo>
                    <a:pt x="0" y="36870"/>
                    <a:pt x="5287" y="24107"/>
                    <a:pt x="14697" y="14697"/>
                  </a:cubicBezTo>
                  <a:cubicBezTo>
                    <a:pt x="24107" y="5287"/>
                    <a:pt x="36870" y="0"/>
                    <a:pt x="50179" y="0"/>
                  </a:cubicBezTo>
                  <a:close/>
                </a:path>
              </a:pathLst>
            </a:custGeom>
            <a:solidFill>
              <a:srgbClr val="FFFFFF">
                <a:alpha val="12941"/>
              </a:srgbClr>
            </a:solidFill>
            <a:ln w="38100" cap="rnd">
              <a:solidFill>
                <a:srgbClr val="1D0E07">
                  <a:alpha val="12941"/>
                </a:srgbClr>
              </a:solidFill>
              <a:prstDash val="solid"/>
              <a:round/>
            </a:ln>
          </p:spPr>
        </p:sp>
        <p:sp>
          <p:nvSpPr>
            <p:cNvPr name="TextBox 18" id="18"/>
            <p:cNvSpPr txBox="true"/>
            <p:nvPr/>
          </p:nvSpPr>
          <p:spPr>
            <a:xfrm>
              <a:off x="0" y="-38100"/>
              <a:ext cx="1049574" cy="1412961"/>
            </a:xfrm>
            <a:prstGeom prst="rect">
              <a:avLst/>
            </a:prstGeom>
          </p:spPr>
          <p:txBody>
            <a:bodyPr anchor="ctr" rtlCol="false" tIns="49169" lIns="49169" bIns="49169" rIns="49169"/>
            <a:lstStyle/>
            <a:p>
              <a:pPr algn="ctr">
                <a:lnSpc>
                  <a:spcPts val="2659"/>
                </a:lnSpc>
              </a:pPr>
            </a:p>
          </p:txBody>
        </p:sp>
      </p:grpSp>
      <p:sp>
        <p:nvSpPr>
          <p:cNvPr name="TextBox 19" id="19"/>
          <p:cNvSpPr txBox="true"/>
          <p:nvPr/>
        </p:nvSpPr>
        <p:spPr>
          <a:xfrm rot="0">
            <a:off x="5121628" y="3742012"/>
            <a:ext cx="3377439" cy="696978"/>
          </a:xfrm>
          <a:prstGeom prst="rect">
            <a:avLst/>
          </a:prstGeom>
        </p:spPr>
        <p:txBody>
          <a:bodyPr anchor="t" rtlCol="false" tIns="0" lIns="0" bIns="0" rIns="0">
            <a:spAutoFit/>
          </a:bodyPr>
          <a:lstStyle/>
          <a:p>
            <a:pPr algn="ctr">
              <a:lnSpc>
                <a:spcPts val="6271"/>
              </a:lnSpc>
            </a:pPr>
            <a:r>
              <a:rPr lang="en-US" sz="2799" b="true">
                <a:solidFill>
                  <a:srgbClr val="3B1B4E"/>
                </a:solidFill>
                <a:latin typeface="Noto Serif Ethiopic Condensed Bold"/>
                <a:ea typeface="Noto Serif Ethiopic Condensed Bold"/>
                <a:cs typeface="Noto Serif Ethiopic Condensed Bold"/>
                <a:sym typeface="Noto Serif Ethiopic Condensed Bold"/>
              </a:rPr>
              <a:t>One-Tap Efficiency</a:t>
            </a:r>
          </a:p>
        </p:txBody>
      </p:sp>
      <p:sp>
        <p:nvSpPr>
          <p:cNvPr name="Freeform 20" id="20"/>
          <p:cNvSpPr/>
          <p:nvPr/>
        </p:nvSpPr>
        <p:spPr>
          <a:xfrm flipH="false" flipV="false" rot="0">
            <a:off x="17514991" y="3226119"/>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1" id="21"/>
          <p:cNvSpPr/>
          <p:nvPr/>
        </p:nvSpPr>
        <p:spPr>
          <a:xfrm flipH="false" flipV="false" rot="0">
            <a:off x="12099022" y="9387789"/>
            <a:ext cx="480267" cy="480267"/>
          </a:xfrm>
          <a:custGeom>
            <a:avLst/>
            <a:gdLst/>
            <a:ahLst/>
            <a:cxnLst/>
            <a:rect r="r" b="b" t="t" l="l"/>
            <a:pathLst>
              <a:path h="480267" w="480267">
                <a:moveTo>
                  <a:pt x="0" y="0"/>
                </a:moveTo>
                <a:lnTo>
                  <a:pt x="480267" y="0"/>
                </a:lnTo>
                <a:lnTo>
                  <a:pt x="480267" y="480268"/>
                </a:lnTo>
                <a:lnTo>
                  <a:pt x="0" y="4802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3146046" y="692092"/>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548433" y="7324243"/>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4" id="24"/>
          <p:cNvGrpSpPr>
            <a:grpSpLocks noChangeAspect="true"/>
          </p:cNvGrpSpPr>
          <p:nvPr/>
        </p:nvGrpSpPr>
        <p:grpSpPr>
          <a:xfrm rot="-649921">
            <a:off x="1080537" y="1957647"/>
            <a:ext cx="3423660" cy="6774299"/>
            <a:chOff x="0" y="0"/>
            <a:chExt cx="2620010" cy="5184140"/>
          </a:xfrm>
        </p:grpSpPr>
        <p:sp>
          <p:nvSpPr>
            <p:cNvPr name="Freeform 25" id="25"/>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6" id="26"/>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8"/>
              <a:stretch>
                <a:fillRect l="0" t="-4895" r="0" b="-4895"/>
              </a:stretch>
            </a:blipFill>
          </p:spPr>
        </p:sp>
        <p:sp>
          <p:nvSpPr>
            <p:cNvPr name="Freeform 27" id="27"/>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28" id="28"/>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29" id="29"/>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30" id="30"/>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31" id="31"/>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32" id="32"/>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33" id="33"/>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F68E8F"/>
            </a:solidFill>
          </p:spPr>
        </p:sp>
      </p:grpSp>
      <p:sp>
        <p:nvSpPr>
          <p:cNvPr name="TextBox 34" id="34"/>
          <p:cNvSpPr txBox="true"/>
          <p:nvPr/>
        </p:nvSpPr>
        <p:spPr>
          <a:xfrm rot="0">
            <a:off x="1268834" y="1085850"/>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35" id="35"/>
          <p:cNvSpPr txBox="true"/>
          <p:nvPr/>
        </p:nvSpPr>
        <p:spPr>
          <a:xfrm rot="0">
            <a:off x="15107417" y="9541030"/>
            <a:ext cx="2151883"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Resham Furqan</a:t>
            </a:r>
          </a:p>
        </p:txBody>
      </p:sp>
      <p:sp>
        <p:nvSpPr>
          <p:cNvPr name="TextBox 36" id="36"/>
          <p:cNvSpPr txBox="true"/>
          <p:nvPr/>
        </p:nvSpPr>
        <p:spPr>
          <a:xfrm rot="0">
            <a:off x="9254516" y="4541643"/>
            <a:ext cx="3377439" cy="3811017"/>
          </a:xfrm>
          <a:prstGeom prst="rect">
            <a:avLst/>
          </a:prstGeom>
        </p:spPr>
        <p:txBody>
          <a:bodyPr anchor="t" rtlCol="false" tIns="0" lIns="0" bIns="0" rIns="0">
            <a:spAutoFit/>
          </a:bodyPr>
          <a:lstStyle/>
          <a:p>
            <a:pPr algn="ctr">
              <a:lnSpc>
                <a:spcPts val="5151"/>
              </a:lnSpc>
            </a:pPr>
            <a:r>
              <a:rPr lang="en-US" sz="2299">
                <a:solidFill>
                  <a:srgbClr val="F0CFC7"/>
                </a:solidFill>
                <a:latin typeface="Noto Serif Ethiopic Condensed"/>
                <a:ea typeface="Noto Serif Ethiopic Condensed"/>
                <a:cs typeface="Noto Serif Ethiopic Condensed"/>
                <a:sym typeface="Noto Serif Ethiopic Condensed"/>
              </a:rPr>
              <a:t>The glassmorphism and minimalist layout were intentionally chosen to reduce cognitive load and soothe user anxiety, unlike traditional clinical apps.</a:t>
            </a:r>
          </a:p>
        </p:txBody>
      </p:sp>
      <p:sp>
        <p:nvSpPr>
          <p:cNvPr name="TextBox 37" id="37"/>
          <p:cNvSpPr txBox="true"/>
          <p:nvPr/>
        </p:nvSpPr>
        <p:spPr>
          <a:xfrm rot="0">
            <a:off x="5119769" y="4541643"/>
            <a:ext cx="3377439" cy="3811017"/>
          </a:xfrm>
          <a:prstGeom prst="rect">
            <a:avLst/>
          </a:prstGeom>
        </p:spPr>
        <p:txBody>
          <a:bodyPr anchor="t" rtlCol="false" tIns="0" lIns="0" bIns="0" rIns="0">
            <a:spAutoFit/>
          </a:bodyPr>
          <a:lstStyle/>
          <a:p>
            <a:pPr algn="ctr">
              <a:lnSpc>
                <a:spcPts val="5151"/>
              </a:lnSpc>
            </a:pPr>
            <a:r>
              <a:rPr lang="en-US" sz="2299">
                <a:solidFill>
                  <a:srgbClr val="F0CFC7"/>
                </a:solidFill>
                <a:latin typeface="Noto Serif Ethiopic Condensed"/>
                <a:ea typeface="Noto Serif Ethiopic Condensed"/>
                <a:cs typeface="Noto Serif Ethiopic Condensed"/>
                <a:sym typeface="Noto Serif Ethiopic Condensed"/>
              </a:rPr>
              <a:t>We eliminated complexity by placing critical reporting tools just one tap away, ensuring action is possible even in high-stress moments.</a:t>
            </a:r>
          </a:p>
        </p:txBody>
      </p:sp>
      <p:sp>
        <p:nvSpPr>
          <p:cNvPr name="TextBox 38" id="38"/>
          <p:cNvSpPr txBox="true"/>
          <p:nvPr/>
        </p:nvSpPr>
        <p:spPr>
          <a:xfrm rot="0">
            <a:off x="13333723" y="3774588"/>
            <a:ext cx="3377439" cy="696978"/>
          </a:xfrm>
          <a:prstGeom prst="rect">
            <a:avLst/>
          </a:prstGeom>
        </p:spPr>
        <p:txBody>
          <a:bodyPr anchor="t" rtlCol="false" tIns="0" lIns="0" bIns="0" rIns="0">
            <a:spAutoFit/>
          </a:bodyPr>
          <a:lstStyle/>
          <a:p>
            <a:pPr algn="ctr">
              <a:lnSpc>
                <a:spcPts val="6271"/>
              </a:lnSpc>
            </a:pPr>
            <a:r>
              <a:rPr lang="en-US" sz="2799" b="true">
                <a:solidFill>
                  <a:srgbClr val="3B1B4E"/>
                </a:solidFill>
                <a:latin typeface="Noto Serif Ethiopic Condensed Bold"/>
                <a:ea typeface="Noto Serif Ethiopic Condensed Bold"/>
                <a:cs typeface="Noto Serif Ethiopic Condensed Bold"/>
                <a:sym typeface="Noto Serif Ethiopic Condensed Bold"/>
              </a:rPr>
              <a:t>Proactive Security</a:t>
            </a:r>
          </a:p>
        </p:txBody>
      </p:sp>
      <p:sp>
        <p:nvSpPr>
          <p:cNvPr name="TextBox 39" id="39"/>
          <p:cNvSpPr txBox="true"/>
          <p:nvPr/>
        </p:nvSpPr>
        <p:spPr>
          <a:xfrm rot="0">
            <a:off x="9254516" y="3774588"/>
            <a:ext cx="3377439" cy="696978"/>
          </a:xfrm>
          <a:prstGeom prst="rect">
            <a:avLst/>
          </a:prstGeom>
        </p:spPr>
        <p:txBody>
          <a:bodyPr anchor="t" rtlCol="false" tIns="0" lIns="0" bIns="0" rIns="0">
            <a:spAutoFit/>
          </a:bodyPr>
          <a:lstStyle/>
          <a:p>
            <a:pPr algn="ctr">
              <a:lnSpc>
                <a:spcPts val="6271"/>
              </a:lnSpc>
            </a:pPr>
            <a:r>
              <a:rPr lang="en-US" sz="2799" b="true">
                <a:solidFill>
                  <a:srgbClr val="3B1B4E"/>
                </a:solidFill>
                <a:latin typeface="Noto Serif Ethiopic Condensed Bold"/>
                <a:ea typeface="Noto Serif Ethiopic Condensed Bold"/>
                <a:cs typeface="Noto Serif Ethiopic Condensed Bold"/>
                <a:sym typeface="Noto Serif Ethiopic Condensed Bold"/>
              </a:rPr>
              <a:t>Calming Aesthetic</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grpSp>
        <p:nvGrpSpPr>
          <p:cNvPr name="Group 2" id="2"/>
          <p:cNvGrpSpPr/>
          <p:nvPr/>
        </p:nvGrpSpPr>
        <p:grpSpPr>
          <a:xfrm rot="0">
            <a:off x="1626501" y="1524286"/>
            <a:ext cx="14556857" cy="7734014"/>
            <a:chOff x="0" y="0"/>
            <a:chExt cx="3689765" cy="1960361"/>
          </a:xfrm>
        </p:grpSpPr>
        <p:sp>
          <p:nvSpPr>
            <p:cNvPr name="Freeform 3" id="3"/>
            <p:cNvSpPr/>
            <p:nvPr/>
          </p:nvSpPr>
          <p:spPr>
            <a:xfrm flipH="false" flipV="false" rot="0">
              <a:off x="0" y="0"/>
              <a:ext cx="3689765" cy="1960361"/>
            </a:xfrm>
            <a:custGeom>
              <a:avLst/>
              <a:gdLst/>
              <a:ahLst/>
              <a:cxnLst/>
              <a:rect r="r" b="b" t="t" l="l"/>
              <a:pathLst>
                <a:path h="1960361" w="3689765">
                  <a:moveTo>
                    <a:pt x="13296" y="0"/>
                  </a:moveTo>
                  <a:lnTo>
                    <a:pt x="3676469" y="0"/>
                  </a:lnTo>
                  <a:cubicBezTo>
                    <a:pt x="3683812" y="0"/>
                    <a:pt x="3689765" y="5953"/>
                    <a:pt x="3689765" y="13296"/>
                  </a:cubicBezTo>
                  <a:lnTo>
                    <a:pt x="3689765" y="1947065"/>
                  </a:lnTo>
                  <a:cubicBezTo>
                    <a:pt x="3689765" y="1954408"/>
                    <a:pt x="3683812" y="1960361"/>
                    <a:pt x="3676469" y="1960361"/>
                  </a:cubicBezTo>
                  <a:lnTo>
                    <a:pt x="13296" y="1960361"/>
                  </a:lnTo>
                  <a:cubicBezTo>
                    <a:pt x="5953" y="1960361"/>
                    <a:pt x="0" y="1954408"/>
                    <a:pt x="0" y="1947065"/>
                  </a:cubicBezTo>
                  <a:lnTo>
                    <a:pt x="0" y="13296"/>
                  </a:lnTo>
                  <a:cubicBezTo>
                    <a:pt x="0" y="5953"/>
                    <a:pt x="5953" y="0"/>
                    <a:pt x="13296" y="0"/>
                  </a:cubicBezTo>
                  <a:close/>
                </a:path>
              </a:pathLst>
            </a:custGeom>
            <a:solidFill>
              <a:srgbClr val="FFFFFF">
                <a:alpha val="12941"/>
              </a:srgbClr>
            </a:solidFill>
            <a:ln w="38100" cap="rnd">
              <a:solidFill>
                <a:srgbClr val="FFFFFF">
                  <a:alpha val="12941"/>
                </a:srgbClr>
              </a:solidFill>
              <a:prstDash val="solid"/>
              <a:round/>
            </a:ln>
          </p:spPr>
        </p:sp>
        <p:sp>
          <p:nvSpPr>
            <p:cNvPr name="TextBox 4" id="4"/>
            <p:cNvSpPr txBox="true"/>
            <p:nvPr/>
          </p:nvSpPr>
          <p:spPr>
            <a:xfrm>
              <a:off x="0" y="-38100"/>
              <a:ext cx="3689765" cy="1998461"/>
            </a:xfrm>
            <a:prstGeom prst="rect">
              <a:avLst/>
            </a:prstGeom>
          </p:spPr>
          <p:txBody>
            <a:bodyPr anchor="ctr" rtlCol="false" tIns="52784" lIns="52784" bIns="52784" rIns="52784"/>
            <a:lstStyle/>
            <a:p>
              <a:pPr algn="ctr">
                <a:lnSpc>
                  <a:spcPts val="2659"/>
                </a:lnSpc>
              </a:pPr>
            </a:p>
          </p:txBody>
        </p:sp>
      </p:grpSp>
      <p:sp>
        <p:nvSpPr>
          <p:cNvPr name="TextBox 5" id="5"/>
          <p:cNvSpPr txBox="true"/>
          <p:nvPr/>
        </p:nvSpPr>
        <p:spPr>
          <a:xfrm rot="0">
            <a:off x="2520753" y="2002254"/>
            <a:ext cx="13544357" cy="1092239"/>
          </a:xfrm>
          <a:prstGeom prst="rect">
            <a:avLst/>
          </a:prstGeom>
        </p:spPr>
        <p:txBody>
          <a:bodyPr anchor="t" rtlCol="false" tIns="0" lIns="0" bIns="0" rIns="0">
            <a:spAutoFit/>
          </a:bodyPr>
          <a:lstStyle/>
          <a:p>
            <a:pPr algn="l">
              <a:lnSpc>
                <a:spcPts val="8171"/>
              </a:lnSpc>
            </a:pPr>
            <a:r>
              <a:rPr lang="en-US" sz="8601" b="true">
                <a:solidFill>
                  <a:srgbClr val="D9A3A2"/>
                </a:solidFill>
                <a:latin typeface="Noto Serif Ethiopic Condensed Bold"/>
                <a:ea typeface="Noto Serif Ethiopic Condensed Bold"/>
                <a:cs typeface="Noto Serif Ethiopic Condensed Bold"/>
                <a:sym typeface="Noto Serif Ethiopic Condensed Bold"/>
              </a:rPr>
              <a:t>USER RESEARCH METHODS</a:t>
            </a:r>
          </a:p>
        </p:txBody>
      </p:sp>
      <p:sp>
        <p:nvSpPr>
          <p:cNvPr name="Freeform 6" id="6"/>
          <p:cNvSpPr/>
          <p:nvPr/>
        </p:nvSpPr>
        <p:spPr>
          <a:xfrm flipH="false" flipV="false" rot="0">
            <a:off x="14468081" y="1009650"/>
            <a:ext cx="1715278" cy="283801"/>
          </a:xfrm>
          <a:custGeom>
            <a:avLst/>
            <a:gdLst/>
            <a:ahLst/>
            <a:cxnLst/>
            <a:rect r="r" b="b" t="t" l="l"/>
            <a:pathLst>
              <a:path h="283801" w="1715278">
                <a:moveTo>
                  <a:pt x="0" y="0"/>
                </a:moveTo>
                <a:lnTo>
                  <a:pt x="1715278" y="0"/>
                </a:lnTo>
                <a:lnTo>
                  <a:pt x="1715278" y="283801"/>
                </a:lnTo>
                <a:lnTo>
                  <a:pt x="0" y="2838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596974" y="-906925"/>
            <a:ext cx="3502048" cy="1916575"/>
          </a:xfrm>
          <a:custGeom>
            <a:avLst/>
            <a:gdLst/>
            <a:ahLst/>
            <a:cxnLst/>
            <a:rect r="r" b="b" t="t" l="l"/>
            <a:pathLst>
              <a:path h="1916575" w="3502048">
                <a:moveTo>
                  <a:pt x="0" y="0"/>
                </a:moveTo>
                <a:lnTo>
                  <a:pt x="3502048" y="0"/>
                </a:lnTo>
                <a:lnTo>
                  <a:pt x="3502048" y="1916575"/>
                </a:lnTo>
                <a:lnTo>
                  <a:pt x="0" y="19165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576227" y="9439275"/>
            <a:ext cx="5330284" cy="2917119"/>
          </a:xfrm>
          <a:custGeom>
            <a:avLst/>
            <a:gdLst/>
            <a:ahLst/>
            <a:cxnLst/>
            <a:rect r="r" b="b" t="t" l="l"/>
            <a:pathLst>
              <a:path h="2917119" w="5330284">
                <a:moveTo>
                  <a:pt x="0" y="0"/>
                </a:moveTo>
                <a:lnTo>
                  <a:pt x="5330284" y="0"/>
                </a:lnTo>
                <a:lnTo>
                  <a:pt x="5330284" y="2917119"/>
                </a:lnTo>
                <a:lnTo>
                  <a:pt x="0" y="291711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1858888" y="9440597"/>
            <a:ext cx="480267" cy="480267"/>
          </a:xfrm>
          <a:custGeom>
            <a:avLst/>
            <a:gdLst/>
            <a:ahLst/>
            <a:cxnLst/>
            <a:rect r="r" b="b" t="t" l="l"/>
            <a:pathLst>
              <a:path h="480267" w="480267">
                <a:moveTo>
                  <a:pt x="0" y="0"/>
                </a:moveTo>
                <a:lnTo>
                  <a:pt x="480268" y="0"/>
                </a:lnTo>
                <a:lnTo>
                  <a:pt x="480268"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418351">
            <a:off x="16864437" y="4240031"/>
            <a:ext cx="2494032" cy="4468135"/>
          </a:xfrm>
          <a:custGeom>
            <a:avLst/>
            <a:gdLst/>
            <a:ahLst/>
            <a:cxnLst/>
            <a:rect r="r" b="b" t="t" l="l"/>
            <a:pathLst>
              <a:path h="4468135" w="2494032">
                <a:moveTo>
                  <a:pt x="0" y="0"/>
                </a:moveTo>
                <a:lnTo>
                  <a:pt x="2494032" y="0"/>
                </a:lnTo>
                <a:lnTo>
                  <a:pt x="2494032" y="4468135"/>
                </a:lnTo>
                <a:lnTo>
                  <a:pt x="0" y="44681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3583091">
            <a:off x="-1023579" y="6448930"/>
            <a:ext cx="2047158" cy="3667547"/>
          </a:xfrm>
          <a:custGeom>
            <a:avLst/>
            <a:gdLst/>
            <a:ahLst/>
            <a:cxnLst/>
            <a:rect r="r" b="b" t="t" l="l"/>
            <a:pathLst>
              <a:path h="3667547" w="2047158">
                <a:moveTo>
                  <a:pt x="0" y="0"/>
                </a:moveTo>
                <a:lnTo>
                  <a:pt x="2047158" y="0"/>
                </a:lnTo>
                <a:lnTo>
                  <a:pt x="2047158" y="3667546"/>
                </a:lnTo>
                <a:lnTo>
                  <a:pt x="0" y="36675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864513">
            <a:off x="16442837" y="1808701"/>
            <a:ext cx="1546571" cy="1586966"/>
          </a:xfrm>
          <a:custGeom>
            <a:avLst/>
            <a:gdLst/>
            <a:ahLst/>
            <a:cxnLst/>
            <a:rect r="r" b="b" t="t" l="l"/>
            <a:pathLst>
              <a:path h="1586966" w="1546571">
                <a:moveTo>
                  <a:pt x="0" y="0"/>
                </a:moveTo>
                <a:lnTo>
                  <a:pt x="1546570" y="0"/>
                </a:lnTo>
                <a:lnTo>
                  <a:pt x="1546570" y="1586967"/>
                </a:lnTo>
                <a:lnTo>
                  <a:pt x="0" y="158696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513122" y="3680937"/>
            <a:ext cx="515578" cy="515578"/>
          </a:xfrm>
          <a:custGeom>
            <a:avLst/>
            <a:gdLst/>
            <a:ahLst/>
            <a:cxnLst/>
            <a:rect r="r" b="b" t="t" l="l"/>
            <a:pathLst>
              <a:path h="515578" w="515578">
                <a:moveTo>
                  <a:pt x="0" y="0"/>
                </a:moveTo>
                <a:lnTo>
                  <a:pt x="515578" y="0"/>
                </a:lnTo>
                <a:lnTo>
                  <a:pt x="515578" y="515577"/>
                </a:lnTo>
                <a:lnTo>
                  <a:pt x="0" y="5155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1864513">
            <a:off x="1950704" y="9435590"/>
            <a:ext cx="477801" cy="490281"/>
          </a:xfrm>
          <a:custGeom>
            <a:avLst/>
            <a:gdLst/>
            <a:ahLst/>
            <a:cxnLst/>
            <a:rect r="r" b="b" t="t" l="l"/>
            <a:pathLst>
              <a:path h="490281" w="477801">
                <a:moveTo>
                  <a:pt x="0" y="0"/>
                </a:moveTo>
                <a:lnTo>
                  <a:pt x="477801" y="0"/>
                </a:lnTo>
                <a:lnTo>
                  <a:pt x="477801" y="490281"/>
                </a:lnTo>
                <a:lnTo>
                  <a:pt x="0" y="49028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5" id="15"/>
          <p:cNvGrpSpPr/>
          <p:nvPr/>
        </p:nvGrpSpPr>
        <p:grpSpPr>
          <a:xfrm rot="0">
            <a:off x="2520753" y="3361193"/>
            <a:ext cx="13246495" cy="4510262"/>
            <a:chOff x="0" y="0"/>
            <a:chExt cx="17661993" cy="6013683"/>
          </a:xfrm>
        </p:grpSpPr>
        <p:grpSp>
          <p:nvGrpSpPr>
            <p:cNvPr name="Group 16" id="16"/>
            <p:cNvGrpSpPr/>
            <p:nvPr/>
          </p:nvGrpSpPr>
          <p:grpSpPr>
            <a:xfrm rot="0">
              <a:off x="0" y="0"/>
              <a:ext cx="5521039" cy="6013683"/>
              <a:chOff x="0" y="0"/>
              <a:chExt cx="1049574" cy="1143228"/>
            </a:xfrm>
          </p:grpSpPr>
          <p:sp>
            <p:nvSpPr>
              <p:cNvPr name="Freeform 17" id="17"/>
              <p:cNvSpPr/>
              <p:nvPr/>
            </p:nvSpPr>
            <p:spPr>
              <a:xfrm flipH="false" flipV="false" rot="0">
                <a:off x="0" y="0"/>
                <a:ext cx="1049574" cy="1143228"/>
              </a:xfrm>
              <a:custGeom>
                <a:avLst/>
                <a:gdLst/>
                <a:ahLst/>
                <a:cxnLst/>
                <a:rect r="r" b="b" t="t" l="l"/>
                <a:pathLst>
                  <a:path h="1143228" w="1049574">
                    <a:moveTo>
                      <a:pt x="46742" y="0"/>
                    </a:moveTo>
                    <a:lnTo>
                      <a:pt x="1002832" y="0"/>
                    </a:lnTo>
                    <a:cubicBezTo>
                      <a:pt x="1015229" y="0"/>
                      <a:pt x="1027118" y="4925"/>
                      <a:pt x="1035884" y="13690"/>
                    </a:cubicBezTo>
                    <a:cubicBezTo>
                      <a:pt x="1044650" y="22456"/>
                      <a:pt x="1049574" y="34345"/>
                      <a:pt x="1049574" y="46742"/>
                    </a:cubicBezTo>
                    <a:lnTo>
                      <a:pt x="1049574" y="1096486"/>
                    </a:lnTo>
                    <a:cubicBezTo>
                      <a:pt x="1049574" y="1108883"/>
                      <a:pt x="1044650" y="1120772"/>
                      <a:pt x="1035884" y="1129538"/>
                    </a:cubicBezTo>
                    <a:cubicBezTo>
                      <a:pt x="1027118" y="1138303"/>
                      <a:pt x="1015229" y="1143228"/>
                      <a:pt x="1002832" y="1143228"/>
                    </a:cubicBezTo>
                    <a:lnTo>
                      <a:pt x="46742" y="1143228"/>
                    </a:lnTo>
                    <a:cubicBezTo>
                      <a:pt x="34345" y="1143228"/>
                      <a:pt x="22456" y="1138303"/>
                      <a:pt x="13690" y="1129538"/>
                    </a:cubicBezTo>
                    <a:cubicBezTo>
                      <a:pt x="4925" y="1120772"/>
                      <a:pt x="0" y="1108883"/>
                      <a:pt x="0" y="1096486"/>
                    </a:cubicBezTo>
                    <a:lnTo>
                      <a:pt x="0" y="46742"/>
                    </a:lnTo>
                    <a:cubicBezTo>
                      <a:pt x="0" y="34345"/>
                      <a:pt x="4925" y="22456"/>
                      <a:pt x="13690" y="13690"/>
                    </a:cubicBezTo>
                    <a:cubicBezTo>
                      <a:pt x="22456" y="4925"/>
                      <a:pt x="34345" y="0"/>
                      <a:pt x="46742" y="0"/>
                    </a:cubicBezTo>
                    <a:close/>
                  </a:path>
                </a:pathLst>
              </a:custGeom>
              <a:solidFill>
                <a:srgbClr val="FFFFFF">
                  <a:alpha val="12941"/>
                </a:srgbClr>
              </a:solidFill>
              <a:ln w="38100" cap="rnd">
                <a:solidFill>
                  <a:srgbClr val="1D0E07">
                    <a:alpha val="12941"/>
                  </a:srgbClr>
                </a:solidFill>
                <a:prstDash val="solid"/>
                <a:round/>
              </a:ln>
            </p:spPr>
          </p:sp>
          <p:sp>
            <p:nvSpPr>
              <p:cNvPr name="TextBox 18" id="18"/>
              <p:cNvSpPr txBox="true"/>
              <p:nvPr/>
            </p:nvSpPr>
            <p:spPr>
              <a:xfrm>
                <a:off x="0" y="-38100"/>
                <a:ext cx="1049574" cy="1181328"/>
              </a:xfrm>
              <a:prstGeom prst="rect">
                <a:avLst/>
              </a:prstGeom>
            </p:spPr>
            <p:txBody>
              <a:bodyPr anchor="ctr" rtlCol="false" tIns="52784" lIns="52784" bIns="52784" rIns="52784"/>
              <a:lstStyle/>
              <a:p>
                <a:pPr algn="ctr">
                  <a:lnSpc>
                    <a:spcPts val="2659"/>
                  </a:lnSpc>
                </a:pPr>
              </a:p>
            </p:txBody>
          </p:sp>
        </p:grpSp>
        <p:sp>
          <p:nvSpPr>
            <p:cNvPr name="Freeform 19" id="19"/>
            <p:cNvSpPr/>
            <p:nvPr/>
          </p:nvSpPr>
          <p:spPr>
            <a:xfrm flipH="false" flipV="false" rot="0">
              <a:off x="4153609" y="538180"/>
              <a:ext cx="554013" cy="633487"/>
            </a:xfrm>
            <a:custGeom>
              <a:avLst/>
              <a:gdLst/>
              <a:ahLst/>
              <a:cxnLst/>
              <a:rect r="r" b="b" t="t" l="l"/>
              <a:pathLst>
                <a:path h="633487" w="554013">
                  <a:moveTo>
                    <a:pt x="0" y="0"/>
                  </a:moveTo>
                  <a:lnTo>
                    <a:pt x="554013" y="0"/>
                  </a:lnTo>
                  <a:lnTo>
                    <a:pt x="554013" y="633486"/>
                  </a:lnTo>
                  <a:lnTo>
                    <a:pt x="0" y="63348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20" id="20"/>
            <p:cNvGrpSpPr/>
            <p:nvPr/>
          </p:nvGrpSpPr>
          <p:grpSpPr>
            <a:xfrm rot="0">
              <a:off x="12140955" y="0"/>
              <a:ext cx="5521039" cy="6013683"/>
              <a:chOff x="0" y="0"/>
              <a:chExt cx="1049574" cy="1143228"/>
            </a:xfrm>
          </p:grpSpPr>
          <p:sp>
            <p:nvSpPr>
              <p:cNvPr name="Freeform 21" id="21"/>
              <p:cNvSpPr/>
              <p:nvPr/>
            </p:nvSpPr>
            <p:spPr>
              <a:xfrm flipH="false" flipV="false" rot="0">
                <a:off x="0" y="0"/>
                <a:ext cx="1049574" cy="1143228"/>
              </a:xfrm>
              <a:custGeom>
                <a:avLst/>
                <a:gdLst/>
                <a:ahLst/>
                <a:cxnLst/>
                <a:rect r="r" b="b" t="t" l="l"/>
                <a:pathLst>
                  <a:path h="1143228" w="1049574">
                    <a:moveTo>
                      <a:pt x="46742" y="0"/>
                    </a:moveTo>
                    <a:lnTo>
                      <a:pt x="1002832" y="0"/>
                    </a:lnTo>
                    <a:cubicBezTo>
                      <a:pt x="1015229" y="0"/>
                      <a:pt x="1027118" y="4925"/>
                      <a:pt x="1035884" y="13690"/>
                    </a:cubicBezTo>
                    <a:cubicBezTo>
                      <a:pt x="1044650" y="22456"/>
                      <a:pt x="1049574" y="34345"/>
                      <a:pt x="1049574" y="46742"/>
                    </a:cubicBezTo>
                    <a:lnTo>
                      <a:pt x="1049574" y="1096486"/>
                    </a:lnTo>
                    <a:cubicBezTo>
                      <a:pt x="1049574" y="1108883"/>
                      <a:pt x="1044650" y="1120772"/>
                      <a:pt x="1035884" y="1129538"/>
                    </a:cubicBezTo>
                    <a:cubicBezTo>
                      <a:pt x="1027118" y="1138303"/>
                      <a:pt x="1015229" y="1143228"/>
                      <a:pt x="1002832" y="1143228"/>
                    </a:cubicBezTo>
                    <a:lnTo>
                      <a:pt x="46742" y="1143228"/>
                    </a:lnTo>
                    <a:cubicBezTo>
                      <a:pt x="34345" y="1143228"/>
                      <a:pt x="22456" y="1138303"/>
                      <a:pt x="13690" y="1129538"/>
                    </a:cubicBezTo>
                    <a:cubicBezTo>
                      <a:pt x="4925" y="1120772"/>
                      <a:pt x="0" y="1108883"/>
                      <a:pt x="0" y="1096486"/>
                    </a:cubicBezTo>
                    <a:lnTo>
                      <a:pt x="0" y="46742"/>
                    </a:lnTo>
                    <a:cubicBezTo>
                      <a:pt x="0" y="34345"/>
                      <a:pt x="4925" y="22456"/>
                      <a:pt x="13690" y="13690"/>
                    </a:cubicBezTo>
                    <a:cubicBezTo>
                      <a:pt x="22456" y="4925"/>
                      <a:pt x="34345" y="0"/>
                      <a:pt x="46742" y="0"/>
                    </a:cubicBezTo>
                    <a:close/>
                  </a:path>
                </a:pathLst>
              </a:custGeom>
              <a:solidFill>
                <a:srgbClr val="FFFFFF">
                  <a:alpha val="12941"/>
                </a:srgbClr>
              </a:solidFill>
              <a:ln w="38100" cap="rnd">
                <a:solidFill>
                  <a:srgbClr val="1D0E07">
                    <a:alpha val="12941"/>
                  </a:srgbClr>
                </a:solidFill>
                <a:prstDash val="solid"/>
                <a:round/>
              </a:ln>
            </p:spPr>
          </p:sp>
          <p:sp>
            <p:nvSpPr>
              <p:cNvPr name="TextBox 22" id="22"/>
              <p:cNvSpPr txBox="true"/>
              <p:nvPr/>
            </p:nvSpPr>
            <p:spPr>
              <a:xfrm>
                <a:off x="0" y="-38100"/>
                <a:ext cx="1049574" cy="1181328"/>
              </a:xfrm>
              <a:prstGeom prst="rect">
                <a:avLst/>
              </a:prstGeom>
            </p:spPr>
            <p:txBody>
              <a:bodyPr anchor="ctr" rtlCol="false" tIns="52784" lIns="52784" bIns="52784" rIns="52784"/>
              <a:lstStyle/>
              <a:p>
                <a:pPr algn="ctr">
                  <a:lnSpc>
                    <a:spcPts val="2659"/>
                  </a:lnSpc>
                </a:pPr>
              </a:p>
            </p:txBody>
          </p:sp>
        </p:grpSp>
        <p:grpSp>
          <p:nvGrpSpPr>
            <p:cNvPr name="Group 23" id="23"/>
            <p:cNvGrpSpPr/>
            <p:nvPr/>
          </p:nvGrpSpPr>
          <p:grpSpPr>
            <a:xfrm rot="0">
              <a:off x="6185609" y="0"/>
              <a:ext cx="5521039" cy="6013683"/>
              <a:chOff x="0" y="0"/>
              <a:chExt cx="1049574" cy="1143228"/>
            </a:xfrm>
          </p:grpSpPr>
          <p:sp>
            <p:nvSpPr>
              <p:cNvPr name="Freeform 24" id="24"/>
              <p:cNvSpPr/>
              <p:nvPr/>
            </p:nvSpPr>
            <p:spPr>
              <a:xfrm flipH="false" flipV="false" rot="0">
                <a:off x="0" y="0"/>
                <a:ext cx="1049574" cy="1143228"/>
              </a:xfrm>
              <a:custGeom>
                <a:avLst/>
                <a:gdLst/>
                <a:ahLst/>
                <a:cxnLst/>
                <a:rect r="r" b="b" t="t" l="l"/>
                <a:pathLst>
                  <a:path h="1143228" w="1049574">
                    <a:moveTo>
                      <a:pt x="46742" y="0"/>
                    </a:moveTo>
                    <a:lnTo>
                      <a:pt x="1002832" y="0"/>
                    </a:lnTo>
                    <a:cubicBezTo>
                      <a:pt x="1015229" y="0"/>
                      <a:pt x="1027118" y="4925"/>
                      <a:pt x="1035884" y="13690"/>
                    </a:cubicBezTo>
                    <a:cubicBezTo>
                      <a:pt x="1044650" y="22456"/>
                      <a:pt x="1049574" y="34345"/>
                      <a:pt x="1049574" y="46742"/>
                    </a:cubicBezTo>
                    <a:lnTo>
                      <a:pt x="1049574" y="1096486"/>
                    </a:lnTo>
                    <a:cubicBezTo>
                      <a:pt x="1049574" y="1108883"/>
                      <a:pt x="1044650" y="1120772"/>
                      <a:pt x="1035884" y="1129538"/>
                    </a:cubicBezTo>
                    <a:cubicBezTo>
                      <a:pt x="1027118" y="1138303"/>
                      <a:pt x="1015229" y="1143228"/>
                      <a:pt x="1002832" y="1143228"/>
                    </a:cubicBezTo>
                    <a:lnTo>
                      <a:pt x="46742" y="1143228"/>
                    </a:lnTo>
                    <a:cubicBezTo>
                      <a:pt x="34345" y="1143228"/>
                      <a:pt x="22456" y="1138303"/>
                      <a:pt x="13690" y="1129538"/>
                    </a:cubicBezTo>
                    <a:cubicBezTo>
                      <a:pt x="4925" y="1120772"/>
                      <a:pt x="0" y="1108883"/>
                      <a:pt x="0" y="1096486"/>
                    </a:cubicBezTo>
                    <a:lnTo>
                      <a:pt x="0" y="46742"/>
                    </a:lnTo>
                    <a:cubicBezTo>
                      <a:pt x="0" y="34345"/>
                      <a:pt x="4925" y="22456"/>
                      <a:pt x="13690" y="13690"/>
                    </a:cubicBezTo>
                    <a:cubicBezTo>
                      <a:pt x="22456" y="4925"/>
                      <a:pt x="34345" y="0"/>
                      <a:pt x="46742" y="0"/>
                    </a:cubicBezTo>
                    <a:close/>
                  </a:path>
                </a:pathLst>
              </a:custGeom>
              <a:solidFill>
                <a:srgbClr val="FFFFFF">
                  <a:alpha val="12941"/>
                </a:srgbClr>
              </a:solidFill>
              <a:ln w="38100" cap="rnd">
                <a:solidFill>
                  <a:srgbClr val="1D0E07">
                    <a:alpha val="12941"/>
                  </a:srgbClr>
                </a:solidFill>
                <a:prstDash val="solid"/>
                <a:round/>
              </a:ln>
            </p:spPr>
          </p:sp>
          <p:sp>
            <p:nvSpPr>
              <p:cNvPr name="TextBox 25" id="25"/>
              <p:cNvSpPr txBox="true"/>
              <p:nvPr/>
            </p:nvSpPr>
            <p:spPr>
              <a:xfrm>
                <a:off x="0" y="-38100"/>
                <a:ext cx="1049574" cy="1181328"/>
              </a:xfrm>
              <a:prstGeom prst="rect">
                <a:avLst/>
              </a:prstGeom>
            </p:spPr>
            <p:txBody>
              <a:bodyPr anchor="ctr" rtlCol="false" tIns="52784" lIns="52784" bIns="52784" rIns="52784"/>
              <a:lstStyle/>
              <a:p>
                <a:pPr algn="ctr">
                  <a:lnSpc>
                    <a:spcPts val="2659"/>
                  </a:lnSpc>
                </a:pPr>
              </a:p>
            </p:txBody>
          </p:sp>
        </p:grpSp>
        <p:sp>
          <p:nvSpPr>
            <p:cNvPr name="TextBox 26" id="26"/>
            <p:cNvSpPr txBox="true"/>
            <p:nvPr/>
          </p:nvSpPr>
          <p:spPr>
            <a:xfrm rot="0">
              <a:off x="383982" y="1228871"/>
              <a:ext cx="4834343" cy="4077335"/>
            </a:xfrm>
            <a:prstGeom prst="rect">
              <a:avLst/>
            </a:prstGeom>
          </p:spPr>
          <p:txBody>
            <a:bodyPr anchor="t" rtlCol="false" tIns="0" lIns="0" bIns="0" rIns="0">
              <a:spAutoFit/>
            </a:bodyPr>
            <a:lstStyle/>
            <a:p>
              <a:pPr algn="ctr">
                <a:lnSpc>
                  <a:spcPts val="5040"/>
                </a:lnSpc>
              </a:pPr>
              <a:r>
                <a:rPr lang="en-US" sz="2250">
                  <a:solidFill>
                    <a:srgbClr val="F0CFC7"/>
                  </a:solidFill>
                  <a:latin typeface="Noto Serif Ethiopic Condensed"/>
                  <a:ea typeface="Noto Serif Ethiopic Condensed"/>
                  <a:cs typeface="Noto Serif Ethiopic Condensed"/>
                  <a:sym typeface="Noto Serif Ethiopic Condensed"/>
                </a:rPr>
                <a:t>Surveyed students and young adults to collect data on stress, anxiety, app usage, support needs, and common user problems.</a:t>
              </a:r>
            </a:p>
          </p:txBody>
        </p:sp>
        <p:sp>
          <p:nvSpPr>
            <p:cNvPr name="TextBox 27" id="27"/>
            <p:cNvSpPr txBox="true"/>
            <p:nvPr/>
          </p:nvSpPr>
          <p:spPr>
            <a:xfrm rot="0">
              <a:off x="12502423" y="1314618"/>
              <a:ext cx="4834343" cy="3203227"/>
            </a:xfrm>
            <a:prstGeom prst="rect">
              <a:avLst/>
            </a:prstGeom>
          </p:spPr>
          <p:txBody>
            <a:bodyPr anchor="t" rtlCol="false" tIns="0" lIns="0" bIns="0" rIns="0">
              <a:spAutoFit/>
            </a:bodyPr>
            <a:lstStyle/>
            <a:p>
              <a:pPr algn="ctr">
                <a:lnSpc>
                  <a:spcPts val="5049"/>
                </a:lnSpc>
              </a:pPr>
              <a:r>
                <a:rPr lang="en-US" sz="2254">
                  <a:solidFill>
                    <a:srgbClr val="F0CFC7"/>
                  </a:solidFill>
                  <a:latin typeface="Noto Serif Ethiopic Condensed"/>
                  <a:ea typeface="Noto Serif Ethiopic Condensed"/>
                  <a:cs typeface="Noto Serif Ethiopic Condensed"/>
                  <a:sym typeface="Noto Serif Ethiopic Condensed"/>
                </a:rPr>
                <a:t>Studied existing mental health apps and user behavior, and reviewed research to identify design gaps and opportunities.</a:t>
              </a:r>
            </a:p>
          </p:txBody>
        </p:sp>
        <p:sp>
          <p:nvSpPr>
            <p:cNvPr name="TextBox 28" id="28"/>
            <p:cNvSpPr txBox="true"/>
            <p:nvPr/>
          </p:nvSpPr>
          <p:spPr>
            <a:xfrm rot="0">
              <a:off x="6465401" y="1314618"/>
              <a:ext cx="4834343" cy="4077855"/>
            </a:xfrm>
            <a:prstGeom prst="rect">
              <a:avLst/>
            </a:prstGeom>
          </p:spPr>
          <p:txBody>
            <a:bodyPr anchor="t" rtlCol="false" tIns="0" lIns="0" bIns="0" rIns="0">
              <a:spAutoFit/>
            </a:bodyPr>
            <a:lstStyle/>
            <a:p>
              <a:pPr algn="ctr">
                <a:lnSpc>
                  <a:spcPts val="5033"/>
                </a:lnSpc>
              </a:pPr>
              <a:r>
                <a:rPr lang="en-US" sz="2247">
                  <a:solidFill>
                    <a:srgbClr val="F0CFC7"/>
                  </a:solidFill>
                  <a:latin typeface="Noto Serif Ethiopic Condensed"/>
                  <a:ea typeface="Noto Serif Ethiopic Condensed"/>
                  <a:cs typeface="Noto Serif Ethiopic Condensed"/>
                  <a:sym typeface="Noto Serif Ethiopic Condensed"/>
                </a:rPr>
                <a:t>Conducted interviews and questionnaires to understand user experiences, challenges, pain points, and expectations from a mental health app.</a:t>
              </a:r>
            </a:p>
          </p:txBody>
        </p:sp>
        <p:sp>
          <p:nvSpPr>
            <p:cNvPr name="Freeform 29" id="29"/>
            <p:cNvSpPr/>
            <p:nvPr/>
          </p:nvSpPr>
          <p:spPr>
            <a:xfrm flipH="false" flipV="false" rot="0">
              <a:off x="16298846" y="484382"/>
              <a:ext cx="623578" cy="683203"/>
            </a:xfrm>
            <a:custGeom>
              <a:avLst/>
              <a:gdLst/>
              <a:ahLst/>
              <a:cxnLst/>
              <a:rect r="r" b="b" t="t" l="l"/>
              <a:pathLst>
                <a:path h="683203" w="623578">
                  <a:moveTo>
                    <a:pt x="0" y="0"/>
                  </a:moveTo>
                  <a:lnTo>
                    <a:pt x="623579" y="0"/>
                  </a:lnTo>
                  <a:lnTo>
                    <a:pt x="623579" y="683203"/>
                  </a:lnTo>
                  <a:lnTo>
                    <a:pt x="0" y="68320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0" id="30"/>
            <p:cNvSpPr txBox="true"/>
            <p:nvPr/>
          </p:nvSpPr>
          <p:spPr>
            <a:xfrm rot="0">
              <a:off x="694161" y="263100"/>
              <a:ext cx="3459448" cy="908566"/>
            </a:xfrm>
            <a:prstGeom prst="rect">
              <a:avLst/>
            </a:prstGeom>
          </p:spPr>
          <p:txBody>
            <a:bodyPr anchor="t" rtlCol="false" tIns="0" lIns="0" bIns="0" rIns="0">
              <a:spAutoFit/>
            </a:bodyPr>
            <a:lstStyle/>
            <a:p>
              <a:pPr algn="l">
                <a:lnSpc>
                  <a:spcPts val="6899"/>
                </a:lnSpc>
              </a:pPr>
              <a:r>
                <a:rPr lang="en-US" sz="3080" b="true">
                  <a:solidFill>
                    <a:srgbClr val="3B1B4E"/>
                  </a:solidFill>
                  <a:latin typeface="Noto Serif Ethiopic Condensed Bold"/>
                  <a:ea typeface="Noto Serif Ethiopic Condensed Bold"/>
                  <a:cs typeface="Noto Serif Ethiopic Condensed Bold"/>
                  <a:sym typeface="Noto Serif Ethiopic Condensed Bold"/>
                </a:rPr>
                <a:t>Online Survey</a:t>
              </a:r>
            </a:p>
          </p:txBody>
        </p:sp>
        <p:sp>
          <p:nvSpPr>
            <p:cNvPr name="TextBox 31" id="31"/>
            <p:cNvSpPr txBox="true"/>
            <p:nvPr/>
          </p:nvSpPr>
          <p:spPr>
            <a:xfrm rot="0">
              <a:off x="12975943" y="237461"/>
              <a:ext cx="3478923" cy="930124"/>
            </a:xfrm>
            <a:prstGeom prst="rect">
              <a:avLst/>
            </a:prstGeom>
          </p:spPr>
          <p:txBody>
            <a:bodyPr anchor="t" rtlCol="false" tIns="0" lIns="0" bIns="0" rIns="0">
              <a:spAutoFit/>
            </a:bodyPr>
            <a:lstStyle/>
            <a:p>
              <a:pPr algn="l">
                <a:lnSpc>
                  <a:spcPts val="6907"/>
                </a:lnSpc>
              </a:pPr>
              <a:r>
                <a:rPr lang="en-US" sz="3083" b="true">
                  <a:solidFill>
                    <a:srgbClr val="3B1B4E"/>
                  </a:solidFill>
                  <a:latin typeface="Noto Serif Ethiopic Condensed Bold"/>
                  <a:ea typeface="Noto Serif Ethiopic Condensed Bold"/>
                  <a:cs typeface="Noto Serif Ethiopic Condensed Bold"/>
                  <a:sym typeface="Noto Serif Ethiopic Condensed Bold"/>
                </a:rPr>
                <a:t>Observations</a:t>
              </a:r>
            </a:p>
          </p:txBody>
        </p:sp>
        <p:sp>
          <p:nvSpPr>
            <p:cNvPr name="TextBox 32" id="32"/>
            <p:cNvSpPr txBox="true"/>
            <p:nvPr/>
          </p:nvSpPr>
          <p:spPr>
            <a:xfrm rot="0">
              <a:off x="7216332" y="179582"/>
              <a:ext cx="2688982" cy="930124"/>
            </a:xfrm>
            <a:prstGeom prst="rect">
              <a:avLst/>
            </a:prstGeom>
          </p:spPr>
          <p:txBody>
            <a:bodyPr anchor="t" rtlCol="false" tIns="0" lIns="0" bIns="0" rIns="0">
              <a:spAutoFit/>
            </a:bodyPr>
            <a:lstStyle/>
            <a:p>
              <a:pPr algn="l">
                <a:lnSpc>
                  <a:spcPts val="6907"/>
                </a:lnSpc>
              </a:pPr>
              <a:r>
                <a:rPr lang="en-US" sz="3083" b="true">
                  <a:solidFill>
                    <a:srgbClr val="3B1B4E"/>
                  </a:solidFill>
                  <a:latin typeface="Noto Serif Ethiopic Condensed Bold"/>
                  <a:ea typeface="Noto Serif Ethiopic Condensed Bold"/>
                  <a:cs typeface="Noto Serif Ethiopic Condensed Bold"/>
                  <a:sym typeface="Noto Serif Ethiopic Condensed Bold"/>
                </a:rPr>
                <a:t>Interviews</a:t>
              </a:r>
            </a:p>
          </p:txBody>
        </p:sp>
        <p:sp>
          <p:nvSpPr>
            <p:cNvPr name="Freeform 33" id="33"/>
            <p:cNvSpPr/>
            <p:nvPr/>
          </p:nvSpPr>
          <p:spPr>
            <a:xfrm flipH="false" flipV="false" rot="0">
              <a:off x="9905314" y="542261"/>
              <a:ext cx="759308" cy="677855"/>
            </a:xfrm>
            <a:custGeom>
              <a:avLst/>
              <a:gdLst/>
              <a:ahLst/>
              <a:cxnLst/>
              <a:rect r="r" b="b" t="t" l="l"/>
              <a:pathLst>
                <a:path h="677855" w="759308">
                  <a:moveTo>
                    <a:pt x="0" y="0"/>
                  </a:moveTo>
                  <a:lnTo>
                    <a:pt x="759308" y="0"/>
                  </a:lnTo>
                  <a:lnTo>
                    <a:pt x="759308" y="677855"/>
                  </a:lnTo>
                  <a:lnTo>
                    <a:pt x="0" y="677855"/>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34" id="34"/>
            <p:cNvSpPr/>
            <p:nvPr/>
          </p:nvSpPr>
          <p:spPr>
            <a:xfrm flipH="false" flipV="false" rot="0">
              <a:off x="10002646" y="745181"/>
              <a:ext cx="103726" cy="103726"/>
            </a:xfrm>
            <a:custGeom>
              <a:avLst/>
              <a:gdLst/>
              <a:ahLst/>
              <a:cxnLst/>
              <a:rect r="r" b="b" t="t" l="l"/>
              <a:pathLst>
                <a:path h="103726" w="103726">
                  <a:moveTo>
                    <a:pt x="0" y="0"/>
                  </a:moveTo>
                  <a:lnTo>
                    <a:pt x="103726" y="0"/>
                  </a:lnTo>
                  <a:lnTo>
                    <a:pt x="103726" y="103726"/>
                  </a:lnTo>
                  <a:lnTo>
                    <a:pt x="0" y="10372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35" id="35"/>
            <p:cNvSpPr/>
            <p:nvPr/>
          </p:nvSpPr>
          <p:spPr>
            <a:xfrm flipH="false" flipV="false" rot="0">
              <a:off x="10231778" y="745181"/>
              <a:ext cx="103726" cy="103726"/>
            </a:xfrm>
            <a:custGeom>
              <a:avLst/>
              <a:gdLst/>
              <a:ahLst/>
              <a:cxnLst/>
              <a:rect r="r" b="b" t="t" l="l"/>
              <a:pathLst>
                <a:path h="103726" w="103726">
                  <a:moveTo>
                    <a:pt x="0" y="0"/>
                  </a:moveTo>
                  <a:lnTo>
                    <a:pt x="103725" y="0"/>
                  </a:lnTo>
                  <a:lnTo>
                    <a:pt x="103725" y="103726"/>
                  </a:lnTo>
                  <a:lnTo>
                    <a:pt x="0" y="10372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36" id="36"/>
            <p:cNvSpPr/>
            <p:nvPr/>
          </p:nvSpPr>
          <p:spPr>
            <a:xfrm flipH="false" flipV="false" rot="0">
              <a:off x="10460909" y="745181"/>
              <a:ext cx="103726" cy="103726"/>
            </a:xfrm>
            <a:custGeom>
              <a:avLst/>
              <a:gdLst/>
              <a:ahLst/>
              <a:cxnLst/>
              <a:rect r="r" b="b" t="t" l="l"/>
              <a:pathLst>
                <a:path h="103726" w="103726">
                  <a:moveTo>
                    <a:pt x="0" y="0"/>
                  </a:moveTo>
                  <a:lnTo>
                    <a:pt x="103726" y="0"/>
                  </a:lnTo>
                  <a:lnTo>
                    <a:pt x="103726" y="103726"/>
                  </a:lnTo>
                  <a:lnTo>
                    <a:pt x="0" y="10372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sp>
        <p:nvSpPr>
          <p:cNvPr name="TextBox 37" id="37"/>
          <p:cNvSpPr txBox="true"/>
          <p:nvPr/>
        </p:nvSpPr>
        <p:spPr>
          <a:xfrm rot="0">
            <a:off x="1626501" y="1021374"/>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38" id="38"/>
          <p:cNvSpPr txBox="true"/>
          <p:nvPr/>
        </p:nvSpPr>
        <p:spPr>
          <a:xfrm rot="0">
            <a:off x="15107417" y="9541030"/>
            <a:ext cx="2151883"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Maria Waheed</a:t>
            </a:r>
          </a:p>
        </p:txBody>
      </p:sp>
      <p:sp>
        <p:nvSpPr>
          <p:cNvPr name="TextBox 39" id="39"/>
          <p:cNvSpPr txBox="true"/>
          <p:nvPr/>
        </p:nvSpPr>
        <p:spPr>
          <a:xfrm rot="0">
            <a:off x="4171335" y="8100055"/>
            <a:ext cx="10296745" cy="1118870"/>
          </a:xfrm>
          <a:prstGeom prst="rect">
            <a:avLst/>
          </a:prstGeom>
        </p:spPr>
        <p:txBody>
          <a:bodyPr anchor="t" rtlCol="false" tIns="0" lIns="0" bIns="0" rIns="0">
            <a:spAutoFit/>
          </a:bodyPr>
          <a:lstStyle/>
          <a:p>
            <a:pPr algn="ctr">
              <a:lnSpc>
                <a:spcPts val="3149"/>
              </a:lnSpc>
            </a:pPr>
            <a:r>
              <a:rPr lang="en-US" sz="2250">
                <a:solidFill>
                  <a:srgbClr val="F0CFC7"/>
                </a:solidFill>
                <a:latin typeface="Noto Serif Ethiopic Condensed"/>
                <a:ea typeface="Noto Serif Ethiopic Condensed"/>
                <a:cs typeface="Noto Serif Ethiopic Condensed"/>
                <a:sym typeface="Noto Serif Ethiopic Condensed"/>
              </a:rPr>
              <a:t>Target users: Young adults &amp; students</a:t>
            </a:r>
          </a:p>
          <a:p>
            <a:pPr algn="ctr">
              <a:lnSpc>
                <a:spcPts val="3149"/>
              </a:lnSpc>
            </a:pPr>
            <a:r>
              <a:rPr lang="en-US" sz="2250">
                <a:solidFill>
                  <a:srgbClr val="F0CFC7"/>
                </a:solidFill>
                <a:latin typeface="Noto Serif Ethiopic Condensed"/>
                <a:ea typeface="Noto Serif Ethiopic Condensed"/>
                <a:cs typeface="Noto Serif Ethiopic Condensed"/>
                <a:sym typeface="Noto Serif Ethiopic Condensed"/>
              </a:rPr>
              <a:t>Goal: Understand user problems, needs, and expectations</a:t>
            </a:r>
          </a:p>
          <a:p>
            <a:pPr algn="ctr">
              <a:lnSpc>
                <a:spcPts val="2659"/>
              </a:lnSpc>
              <a:spcBef>
                <a:spcPct val="0"/>
              </a:spcBef>
            </a:pP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TextBox 2" id="2"/>
          <p:cNvSpPr txBox="true"/>
          <p:nvPr/>
        </p:nvSpPr>
        <p:spPr>
          <a:xfrm rot="0">
            <a:off x="981843" y="1861192"/>
            <a:ext cx="16324314" cy="949022"/>
          </a:xfrm>
          <a:prstGeom prst="rect">
            <a:avLst/>
          </a:prstGeom>
        </p:spPr>
        <p:txBody>
          <a:bodyPr anchor="t" rtlCol="false" tIns="0" lIns="0" bIns="0" rIns="0">
            <a:spAutoFit/>
          </a:bodyPr>
          <a:lstStyle/>
          <a:p>
            <a:pPr algn="ctr">
              <a:lnSpc>
                <a:spcPts val="7020"/>
              </a:lnSpc>
            </a:pPr>
            <a:r>
              <a:rPr lang="en-US" b="true" sz="7390">
                <a:solidFill>
                  <a:srgbClr val="F1D0C7"/>
                </a:solidFill>
                <a:latin typeface="Noto Serif Ethiopic Condensed Bold"/>
                <a:ea typeface="Noto Serif Ethiopic Condensed Bold"/>
                <a:cs typeface="Noto Serif Ethiopic Condensed Bold"/>
                <a:sym typeface="Noto Serif Ethiopic Condensed Bold"/>
              </a:rPr>
              <a:t>K</a:t>
            </a:r>
            <a:r>
              <a:rPr lang="en-US" b="true" sz="7390">
                <a:solidFill>
                  <a:srgbClr val="F1D0C7"/>
                </a:solidFill>
                <a:latin typeface="Noto Serif Ethiopic Condensed Bold"/>
                <a:ea typeface="Noto Serif Ethiopic Condensed Bold"/>
                <a:cs typeface="Noto Serif Ethiopic Condensed Bold"/>
                <a:sym typeface="Noto Serif Ethiopic Condensed Bold"/>
              </a:rPr>
              <a:t>EY FINDINGS FROM USER RESEARCH</a:t>
            </a:r>
          </a:p>
        </p:txBody>
      </p:sp>
      <p:sp>
        <p:nvSpPr>
          <p:cNvPr name="TextBox 3" id="3"/>
          <p:cNvSpPr txBox="true"/>
          <p:nvPr/>
        </p:nvSpPr>
        <p:spPr>
          <a:xfrm rot="0">
            <a:off x="3238723" y="2921618"/>
            <a:ext cx="11852890" cy="620729"/>
          </a:xfrm>
          <a:prstGeom prst="rect">
            <a:avLst/>
          </a:prstGeom>
        </p:spPr>
        <p:txBody>
          <a:bodyPr anchor="t" rtlCol="false" tIns="0" lIns="0" bIns="0" rIns="0">
            <a:spAutoFit/>
          </a:bodyPr>
          <a:lstStyle/>
          <a:p>
            <a:pPr algn="l">
              <a:lnSpc>
                <a:spcPts val="5161"/>
              </a:lnSpc>
            </a:pPr>
            <a:r>
              <a:rPr lang="en-US" sz="3686">
                <a:solidFill>
                  <a:srgbClr val="FFFFFF"/>
                </a:solidFill>
                <a:latin typeface="Noto Serif Ethiopic Condensed"/>
                <a:ea typeface="Noto Serif Ethiopic Condensed"/>
                <a:cs typeface="Noto Serif Ethiopic Condensed"/>
                <a:sym typeface="Noto Serif Ethiopic Condensed"/>
              </a:rPr>
              <a:t>I</a:t>
            </a:r>
            <a:r>
              <a:rPr lang="en-US" sz="3686">
                <a:solidFill>
                  <a:srgbClr val="FFFFFF"/>
                </a:solidFill>
                <a:latin typeface="Noto Serif Ethiopic Condensed"/>
                <a:ea typeface="Noto Serif Ethiopic Condensed"/>
                <a:cs typeface="Noto Serif Ethiopic Condensed"/>
                <a:sym typeface="Noto Serif Ethiopic Condensed"/>
              </a:rPr>
              <a:t>nsights gathered from surveys, interviews, and observations</a:t>
            </a:r>
          </a:p>
        </p:txBody>
      </p:sp>
      <p:sp>
        <p:nvSpPr>
          <p:cNvPr name="AutoShape 4" id="4"/>
          <p:cNvSpPr/>
          <p:nvPr/>
        </p:nvSpPr>
        <p:spPr>
          <a:xfrm>
            <a:off x="1028700" y="3950656"/>
            <a:ext cx="16230600" cy="0"/>
          </a:xfrm>
          <a:prstGeom prst="line">
            <a:avLst/>
          </a:prstGeom>
          <a:ln cap="rnd" w="38100">
            <a:solidFill>
              <a:srgbClr val="F0CFC7"/>
            </a:solidFill>
            <a:prstDash val="solid"/>
            <a:headEnd type="none" len="sm" w="sm"/>
            <a:tailEnd type="none" len="sm" w="sm"/>
          </a:ln>
        </p:spPr>
      </p:sp>
      <p:sp>
        <p:nvSpPr>
          <p:cNvPr name="Freeform 5" id="5"/>
          <p:cNvSpPr/>
          <p:nvPr/>
        </p:nvSpPr>
        <p:spPr>
          <a:xfrm flipH="false" flipV="false" rot="-1864513">
            <a:off x="17365431" y="7254951"/>
            <a:ext cx="549707" cy="564065"/>
          </a:xfrm>
          <a:custGeom>
            <a:avLst/>
            <a:gdLst/>
            <a:ahLst/>
            <a:cxnLst/>
            <a:rect r="r" b="b" t="t" l="l"/>
            <a:pathLst>
              <a:path h="564065" w="549707">
                <a:moveTo>
                  <a:pt x="0" y="0"/>
                </a:moveTo>
                <a:lnTo>
                  <a:pt x="549707" y="0"/>
                </a:lnTo>
                <a:lnTo>
                  <a:pt x="549707" y="564066"/>
                </a:lnTo>
                <a:lnTo>
                  <a:pt x="0" y="5640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5526417" y="371759"/>
            <a:ext cx="632183" cy="632183"/>
          </a:xfrm>
          <a:custGeom>
            <a:avLst/>
            <a:gdLst/>
            <a:ahLst/>
            <a:cxnLst/>
            <a:rect r="r" b="b" t="t" l="l"/>
            <a:pathLst>
              <a:path h="632183" w="632183">
                <a:moveTo>
                  <a:pt x="0" y="0"/>
                </a:moveTo>
                <a:lnTo>
                  <a:pt x="632183" y="0"/>
                </a:lnTo>
                <a:lnTo>
                  <a:pt x="632183" y="632183"/>
                </a:lnTo>
                <a:lnTo>
                  <a:pt x="0" y="6321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630880" y="9124677"/>
            <a:ext cx="4247691" cy="2324645"/>
          </a:xfrm>
          <a:custGeom>
            <a:avLst/>
            <a:gdLst/>
            <a:ahLst/>
            <a:cxnLst/>
            <a:rect r="r" b="b" t="t" l="l"/>
            <a:pathLst>
              <a:path h="2324645" w="4247691">
                <a:moveTo>
                  <a:pt x="0" y="0"/>
                </a:moveTo>
                <a:lnTo>
                  <a:pt x="4247690" y="0"/>
                </a:lnTo>
                <a:lnTo>
                  <a:pt x="4247690" y="2324646"/>
                </a:lnTo>
                <a:lnTo>
                  <a:pt x="0" y="23246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8366572" y="-1162323"/>
            <a:ext cx="4247691" cy="2324645"/>
          </a:xfrm>
          <a:custGeom>
            <a:avLst/>
            <a:gdLst/>
            <a:ahLst/>
            <a:cxnLst/>
            <a:rect r="r" b="b" t="t" l="l"/>
            <a:pathLst>
              <a:path h="2324645" w="4247691">
                <a:moveTo>
                  <a:pt x="0" y="0"/>
                </a:moveTo>
                <a:lnTo>
                  <a:pt x="4247691" y="0"/>
                </a:lnTo>
                <a:lnTo>
                  <a:pt x="4247691" y="2324646"/>
                </a:lnTo>
                <a:lnTo>
                  <a:pt x="0" y="23246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864513">
            <a:off x="17041692" y="3180394"/>
            <a:ext cx="454266" cy="466131"/>
          </a:xfrm>
          <a:custGeom>
            <a:avLst/>
            <a:gdLst/>
            <a:ahLst/>
            <a:cxnLst/>
            <a:rect r="r" b="b" t="t" l="l"/>
            <a:pathLst>
              <a:path h="466131" w="454266">
                <a:moveTo>
                  <a:pt x="0" y="0"/>
                </a:moveTo>
                <a:lnTo>
                  <a:pt x="454266" y="0"/>
                </a:lnTo>
                <a:lnTo>
                  <a:pt x="454266" y="466131"/>
                </a:lnTo>
                <a:lnTo>
                  <a:pt x="0" y="4661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6606205" y="4409591"/>
            <a:ext cx="4783048" cy="1907611"/>
            <a:chOff x="0" y="0"/>
            <a:chExt cx="1368315" cy="545721"/>
          </a:xfrm>
        </p:grpSpPr>
        <p:sp>
          <p:nvSpPr>
            <p:cNvPr name="Freeform 11" id="11"/>
            <p:cNvSpPr/>
            <p:nvPr/>
          </p:nvSpPr>
          <p:spPr>
            <a:xfrm flipH="false" flipV="false" rot="0">
              <a:off x="0" y="0"/>
              <a:ext cx="1368315" cy="545721"/>
            </a:xfrm>
            <a:custGeom>
              <a:avLst/>
              <a:gdLst/>
              <a:ahLst/>
              <a:cxnLst/>
              <a:rect r="r" b="b" t="t" l="l"/>
              <a:pathLst>
                <a:path h="545721" w="1368315">
                  <a:moveTo>
                    <a:pt x="45321" y="0"/>
                  </a:moveTo>
                  <a:lnTo>
                    <a:pt x="1322994" y="0"/>
                  </a:lnTo>
                  <a:cubicBezTo>
                    <a:pt x="1348024" y="0"/>
                    <a:pt x="1368315" y="20291"/>
                    <a:pt x="1368315" y="45321"/>
                  </a:cubicBezTo>
                  <a:lnTo>
                    <a:pt x="1368315" y="500400"/>
                  </a:lnTo>
                  <a:cubicBezTo>
                    <a:pt x="1368315" y="525430"/>
                    <a:pt x="1348024" y="545721"/>
                    <a:pt x="1322994" y="545721"/>
                  </a:cubicBezTo>
                  <a:lnTo>
                    <a:pt x="45321" y="545721"/>
                  </a:lnTo>
                  <a:cubicBezTo>
                    <a:pt x="20291" y="545721"/>
                    <a:pt x="0" y="525430"/>
                    <a:pt x="0" y="500400"/>
                  </a:cubicBezTo>
                  <a:lnTo>
                    <a:pt x="0" y="45321"/>
                  </a:lnTo>
                  <a:cubicBezTo>
                    <a:pt x="0" y="20291"/>
                    <a:pt x="20291" y="0"/>
                    <a:pt x="45321" y="0"/>
                  </a:cubicBezTo>
                  <a:close/>
                </a:path>
              </a:pathLst>
            </a:custGeom>
            <a:gradFill rotWithShape="true">
              <a:gsLst>
                <a:gs pos="0">
                  <a:srgbClr val="542D5C">
                    <a:alpha val="100000"/>
                  </a:srgbClr>
                </a:gs>
                <a:gs pos="100000">
                  <a:srgbClr val="C87D96">
                    <a:alpha val="100000"/>
                  </a:srgbClr>
                </a:gs>
              </a:gsLst>
              <a:path path="circle">
                <a:fillToRect l="0" r="100000" t="0" b="100000"/>
              </a:path>
              <a:tileRect r="0" l="-100000" b="0" t="-100000"/>
            </a:gradFill>
            <a:ln w="38100" cap="rnd">
              <a:solidFill>
                <a:srgbClr val="EDC4BC"/>
              </a:solidFill>
              <a:prstDash val="solid"/>
              <a:round/>
            </a:ln>
          </p:spPr>
        </p:sp>
        <p:sp>
          <p:nvSpPr>
            <p:cNvPr name="TextBox 12" id="12"/>
            <p:cNvSpPr txBox="true"/>
            <p:nvPr/>
          </p:nvSpPr>
          <p:spPr>
            <a:xfrm>
              <a:off x="0" y="-38100"/>
              <a:ext cx="1368315" cy="583821"/>
            </a:xfrm>
            <a:prstGeom prst="rect">
              <a:avLst/>
            </a:prstGeom>
          </p:spPr>
          <p:txBody>
            <a:bodyPr anchor="ctr" rtlCol="false" tIns="46769" lIns="46769" bIns="46769" rIns="46769"/>
            <a:lstStyle/>
            <a:p>
              <a:pPr algn="ctr">
                <a:lnSpc>
                  <a:spcPts val="2659"/>
                </a:lnSpc>
              </a:pPr>
            </a:p>
          </p:txBody>
        </p:sp>
      </p:grpSp>
      <p:sp>
        <p:nvSpPr>
          <p:cNvPr name="Freeform 13" id="13"/>
          <p:cNvSpPr/>
          <p:nvPr/>
        </p:nvSpPr>
        <p:spPr>
          <a:xfrm flipH="false" flipV="false" rot="0">
            <a:off x="8759415" y="4651045"/>
            <a:ext cx="476628" cy="712352"/>
          </a:xfrm>
          <a:custGeom>
            <a:avLst/>
            <a:gdLst/>
            <a:ahLst/>
            <a:cxnLst/>
            <a:rect r="r" b="b" t="t" l="l"/>
            <a:pathLst>
              <a:path h="712352" w="476628">
                <a:moveTo>
                  <a:pt x="0" y="0"/>
                </a:moveTo>
                <a:lnTo>
                  <a:pt x="476628" y="0"/>
                </a:lnTo>
                <a:lnTo>
                  <a:pt x="476628" y="712351"/>
                </a:lnTo>
                <a:lnTo>
                  <a:pt x="0" y="7123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4" id="14"/>
          <p:cNvSpPr txBox="true"/>
          <p:nvPr/>
        </p:nvSpPr>
        <p:spPr>
          <a:xfrm rot="0">
            <a:off x="6837691" y="5384745"/>
            <a:ext cx="4320077" cy="677916"/>
          </a:xfrm>
          <a:prstGeom prst="rect">
            <a:avLst/>
          </a:prstGeom>
        </p:spPr>
        <p:txBody>
          <a:bodyPr anchor="t" rtlCol="false" tIns="0" lIns="0" bIns="0" rIns="0">
            <a:spAutoFit/>
          </a:bodyPr>
          <a:lstStyle/>
          <a:p>
            <a:pPr algn="ctr">
              <a:lnSpc>
                <a:spcPts val="3091"/>
              </a:lnSpc>
            </a:pPr>
            <a:r>
              <a:rPr lang="en-US" sz="2117" b="true">
                <a:solidFill>
                  <a:srgbClr val="FFFFFF"/>
                </a:solidFill>
                <a:latin typeface="Inter Bold"/>
                <a:ea typeface="Inter Bold"/>
                <a:cs typeface="Inter Bold"/>
                <a:sym typeface="Inter Bold"/>
              </a:rPr>
              <a:t>Help</a:t>
            </a:r>
          </a:p>
          <a:p>
            <a:pPr algn="ctr">
              <a:lnSpc>
                <a:spcPts val="2432"/>
              </a:lnSpc>
            </a:pPr>
            <a:r>
              <a:rPr lang="en-US" sz="1666">
                <a:solidFill>
                  <a:srgbClr val="FFFFFF"/>
                </a:solidFill>
                <a:latin typeface="Noto Serif Ethiopic Condensed"/>
                <a:ea typeface="Noto Serif Ethiopic Condensed"/>
                <a:cs typeface="Noto Serif Ethiopic Condensed"/>
                <a:sym typeface="Noto Serif Ethiopic Condensed"/>
              </a:rPr>
              <a:t>Don’t know where to seek help</a:t>
            </a:r>
          </a:p>
        </p:txBody>
      </p:sp>
      <p:grpSp>
        <p:nvGrpSpPr>
          <p:cNvPr name="Group 15" id="15"/>
          <p:cNvGrpSpPr/>
          <p:nvPr/>
        </p:nvGrpSpPr>
        <p:grpSpPr>
          <a:xfrm rot="0">
            <a:off x="1268834" y="4409591"/>
            <a:ext cx="4776146" cy="1907611"/>
            <a:chOff x="0" y="0"/>
            <a:chExt cx="1366341" cy="545721"/>
          </a:xfrm>
        </p:grpSpPr>
        <p:sp>
          <p:nvSpPr>
            <p:cNvPr name="Freeform 16" id="16"/>
            <p:cNvSpPr/>
            <p:nvPr/>
          </p:nvSpPr>
          <p:spPr>
            <a:xfrm flipH="false" flipV="false" rot="0">
              <a:off x="0" y="0"/>
              <a:ext cx="1366341" cy="545721"/>
            </a:xfrm>
            <a:custGeom>
              <a:avLst/>
              <a:gdLst/>
              <a:ahLst/>
              <a:cxnLst/>
              <a:rect r="r" b="b" t="t" l="l"/>
              <a:pathLst>
                <a:path h="545721" w="1366341">
                  <a:moveTo>
                    <a:pt x="45387" y="0"/>
                  </a:moveTo>
                  <a:lnTo>
                    <a:pt x="1320954" y="0"/>
                  </a:lnTo>
                  <a:cubicBezTo>
                    <a:pt x="1332991" y="0"/>
                    <a:pt x="1344535" y="4782"/>
                    <a:pt x="1353047" y="13293"/>
                  </a:cubicBezTo>
                  <a:cubicBezTo>
                    <a:pt x="1361559" y="21805"/>
                    <a:pt x="1366341" y="33349"/>
                    <a:pt x="1366341" y="45387"/>
                  </a:cubicBezTo>
                  <a:lnTo>
                    <a:pt x="1366341" y="500335"/>
                  </a:lnTo>
                  <a:cubicBezTo>
                    <a:pt x="1366341" y="525401"/>
                    <a:pt x="1346020" y="545721"/>
                    <a:pt x="1320954" y="545721"/>
                  </a:cubicBezTo>
                  <a:lnTo>
                    <a:pt x="45387" y="545721"/>
                  </a:lnTo>
                  <a:cubicBezTo>
                    <a:pt x="20320" y="545721"/>
                    <a:pt x="0" y="525401"/>
                    <a:pt x="0" y="500335"/>
                  </a:cubicBezTo>
                  <a:lnTo>
                    <a:pt x="0" y="45387"/>
                  </a:lnTo>
                  <a:cubicBezTo>
                    <a:pt x="0" y="20320"/>
                    <a:pt x="20320" y="0"/>
                    <a:pt x="45387" y="0"/>
                  </a:cubicBezTo>
                  <a:close/>
                </a:path>
              </a:pathLst>
            </a:custGeom>
            <a:gradFill rotWithShape="true">
              <a:gsLst>
                <a:gs pos="0">
                  <a:srgbClr val="542D5C">
                    <a:alpha val="100000"/>
                  </a:srgbClr>
                </a:gs>
                <a:gs pos="100000">
                  <a:srgbClr val="C87D96">
                    <a:alpha val="100000"/>
                  </a:srgbClr>
                </a:gs>
              </a:gsLst>
              <a:path path="circle">
                <a:fillToRect l="0" r="100000" t="0" b="100000"/>
              </a:path>
              <a:tileRect r="0" l="-100000" b="0" t="-100000"/>
            </a:gradFill>
            <a:ln w="38100" cap="rnd">
              <a:solidFill>
                <a:srgbClr val="EDC4BC"/>
              </a:solidFill>
              <a:prstDash val="solid"/>
              <a:round/>
            </a:ln>
          </p:spPr>
        </p:sp>
        <p:sp>
          <p:nvSpPr>
            <p:cNvPr name="TextBox 17" id="17"/>
            <p:cNvSpPr txBox="true"/>
            <p:nvPr/>
          </p:nvSpPr>
          <p:spPr>
            <a:xfrm>
              <a:off x="0" y="-38100"/>
              <a:ext cx="1366341" cy="583821"/>
            </a:xfrm>
            <a:prstGeom prst="rect">
              <a:avLst/>
            </a:prstGeom>
          </p:spPr>
          <p:txBody>
            <a:bodyPr anchor="ctr" rtlCol="false" tIns="46769" lIns="46769" bIns="46769" rIns="46769"/>
            <a:lstStyle/>
            <a:p>
              <a:pPr algn="ctr">
                <a:lnSpc>
                  <a:spcPts val="2659"/>
                </a:lnSpc>
              </a:pPr>
            </a:p>
          </p:txBody>
        </p:sp>
      </p:grpSp>
      <p:sp>
        <p:nvSpPr>
          <p:cNvPr name="Freeform 18" id="18"/>
          <p:cNvSpPr/>
          <p:nvPr/>
        </p:nvSpPr>
        <p:spPr>
          <a:xfrm flipH="false" flipV="false" rot="0">
            <a:off x="3238723" y="4527030"/>
            <a:ext cx="836367" cy="836367"/>
          </a:xfrm>
          <a:custGeom>
            <a:avLst/>
            <a:gdLst/>
            <a:ahLst/>
            <a:cxnLst/>
            <a:rect r="r" b="b" t="t" l="l"/>
            <a:pathLst>
              <a:path h="836367" w="836367">
                <a:moveTo>
                  <a:pt x="0" y="0"/>
                </a:moveTo>
                <a:lnTo>
                  <a:pt x="836367" y="0"/>
                </a:lnTo>
                <a:lnTo>
                  <a:pt x="836367" y="836366"/>
                </a:lnTo>
                <a:lnTo>
                  <a:pt x="0" y="836366"/>
                </a:lnTo>
                <a:lnTo>
                  <a:pt x="0" y="0"/>
                </a:lnTo>
                <a:close/>
              </a:path>
            </a:pathLst>
          </a:custGeom>
          <a:blipFill>
            <a:blip r:embed="rId10"/>
            <a:stretch>
              <a:fillRect l="0" t="0" r="0" b="0"/>
            </a:stretch>
          </a:blipFill>
        </p:spPr>
      </p:sp>
      <p:grpSp>
        <p:nvGrpSpPr>
          <p:cNvPr name="Group 19" id="19"/>
          <p:cNvGrpSpPr/>
          <p:nvPr/>
        </p:nvGrpSpPr>
        <p:grpSpPr>
          <a:xfrm rot="0">
            <a:off x="11948013" y="4409591"/>
            <a:ext cx="4780985" cy="1907611"/>
            <a:chOff x="0" y="0"/>
            <a:chExt cx="1367725" cy="545721"/>
          </a:xfrm>
        </p:grpSpPr>
        <p:sp>
          <p:nvSpPr>
            <p:cNvPr name="Freeform 20" id="20"/>
            <p:cNvSpPr/>
            <p:nvPr/>
          </p:nvSpPr>
          <p:spPr>
            <a:xfrm flipH="false" flipV="false" rot="0">
              <a:off x="0" y="0"/>
              <a:ext cx="1367725" cy="545721"/>
            </a:xfrm>
            <a:custGeom>
              <a:avLst/>
              <a:gdLst/>
              <a:ahLst/>
              <a:cxnLst/>
              <a:rect r="r" b="b" t="t" l="l"/>
              <a:pathLst>
                <a:path h="545721" w="1367725">
                  <a:moveTo>
                    <a:pt x="45341" y="0"/>
                  </a:moveTo>
                  <a:lnTo>
                    <a:pt x="1322384" y="0"/>
                  </a:lnTo>
                  <a:cubicBezTo>
                    <a:pt x="1347425" y="0"/>
                    <a:pt x="1367725" y="20300"/>
                    <a:pt x="1367725" y="45341"/>
                  </a:cubicBezTo>
                  <a:lnTo>
                    <a:pt x="1367725" y="500381"/>
                  </a:lnTo>
                  <a:cubicBezTo>
                    <a:pt x="1367725" y="512406"/>
                    <a:pt x="1362948" y="523938"/>
                    <a:pt x="1354445" y="532441"/>
                  </a:cubicBezTo>
                  <a:cubicBezTo>
                    <a:pt x="1345942" y="540945"/>
                    <a:pt x="1334409" y="545721"/>
                    <a:pt x="1322384" y="545721"/>
                  </a:cubicBezTo>
                  <a:lnTo>
                    <a:pt x="45341" y="545721"/>
                  </a:lnTo>
                  <a:cubicBezTo>
                    <a:pt x="20300" y="545721"/>
                    <a:pt x="0" y="525422"/>
                    <a:pt x="0" y="500381"/>
                  </a:cubicBezTo>
                  <a:lnTo>
                    <a:pt x="0" y="45341"/>
                  </a:lnTo>
                  <a:cubicBezTo>
                    <a:pt x="0" y="20300"/>
                    <a:pt x="20300" y="0"/>
                    <a:pt x="45341" y="0"/>
                  </a:cubicBezTo>
                  <a:close/>
                </a:path>
              </a:pathLst>
            </a:custGeom>
            <a:gradFill rotWithShape="true">
              <a:gsLst>
                <a:gs pos="0">
                  <a:srgbClr val="542D5C">
                    <a:alpha val="100000"/>
                  </a:srgbClr>
                </a:gs>
                <a:gs pos="100000">
                  <a:srgbClr val="C87D96">
                    <a:alpha val="100000"/>
                  </a:srgbClr>
                </a:gs>
              </a:gsLst>
              <a:path path="circle">
                <a:fillToRect l="0" r="100000" t="0" b="100000"/>
              </a:path>
              <a:tileRect r="0" l="-100000" b="0" t="-100000"/>
            </a:gradFill>
            <a:ln w="38100" cap="rnd">
              <a:solidFill>
                <a:srgbClr val="EDC4BC"/>
              </a:solidFill>
              <a:prstDash val="solid"/>
              <a:round/>
            </a:ln>
          </p:spPr>
        </p:sp>
        <p:sp>
          <p:nvSpPr>
            <p:cNvPr name="TextBox 21" id="21"/>
            <p:cNvSpPr txBox="true"/>
            <p:nvPr/>
          </p:nvSpPr>
          <p:spPr>
            <a:xfrm>
              <a:off x="0" y="-38100"/>
              <a:ext cx="1367725" cy="583821"/>
            </a:xfrm>
            <a:prstGeom prst="rect">
              <a:avLst/>
            </a:prstGeom>
          </p:spPr>
          <p:txBody>
            <a:bodyPr anchor="ctr" rtlCol="false" tIns="46769" lIns="46769" bIns="46769" rIns="46769"/>
            <a:lstStyle/>
            <a:p>
              <a:pPr algn="ctr">
                <a:lnSpc>
                  <a:spcPts val="2659"/>
                </a:lnSpc>
              </a:pPr>
            </a:p>
          </p:txBody>
        </p:sp>
      </p:grpSp>
      <p:sp>
        <p:nvSpPr>
          <p:cNvPr name="Freeform 22" id="22"/>
          <p:cNvSpPr/>
          <p:nvPr/>
        </p:nvSpPr>
        <p:spPr>
          <a:xfrm flipH="false" flipV="false" rot="0">
            <a:off x="14050771" y="4589538"/>
            <a:ext cx="575470" cy="773859"/>
          </a:xfrm>
          <a:custGeom>
            <a:avLst/>
            <a:gdLst/>
            <a:ahLst/>
            <a:cxnLst/>
            <a:rect r="r" b="b" t="t" l="l"/>
            <a:pathLst>
              <a:path h="773859" w="575470">
                <a:moveTo>
                  <a:pt x="0" y="0"/>
                </a:moveTo>
                <a:lnTo>
                  <a:pt x="575470" y="0"/>
                </a:lnTo>
                <a:lnTo>
                  <a:pt x="575470" y="773858"/>
                </a:lnTo>
                <a:lnTo>
                  <a:pt x="0" y="77385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3" id="23"/>
          <p:cNvSpPr txBox="true"/>
          <p:nvPr/>
        </p:nvSpPr>
        <p:spPr>
          <a:xfrm rot="0">
            <a:off x="11974396" y="5441033"/>
            <a:ext cx="4728220" cy="647731"/>
          </a:xfrm>
          <a:prstGeom prst="rect">
            <a:avLst/>
          </a:prstGeom>
        </p:spPr>
        <p:txBody>
          <a:bodyPr anchor="t" rtlCol="false" tIns="0" lIns="0" bIns="0" rIns="0">
            <a:spAutoFit/>
          </a:bodyPr>
          <a:lstStyle/>
          <a:p>
            <a:pPr algn="ctr">
              <a:lnSpc>
                <a:spcPts val="2964"/>
              </a:lnSpc>
            </a:pPr>
            <a:r>
              <a:rPr lang="en-US" sz="2117" b="true">
                <a:solidFill>
                  <a:srgbClr val="FFFFFF"/>
                </a:solidFill>
                <a:latin typeface="Inter Bold"/>
                <a:ea typeface="Inter Bold"/>
                <a:cs typeface="Inter Bold"/>
                <a:sym typeface="Inter Bold"/>
              </a:rPr>
              <a:t>Privacy</a:t>
            </a:r>
          </a:p>
          <a:p>
            <a:pPr algn="ctr">
              <a:lnSpc>
                <a:spcPts val="2332"/>
              </a:lnSpc>
              <a:spcBef>
                <a:spcPct val="0"/>
              </a:spcBef>
            </a:pPr>
            <a:r>
              <a:rPr lang="en-US" sz="1666">
                <a:solidFill>
                  <a:srgbClr val="FFFFFF"/>
                </a:solidFill>
                <a:latin typeface="Noto Serif Ethiopic Condensed"/>
                <a:ea typeface="Noto Serif Ethiopic Condensed"/>
                <a:cs typeface="Noto Serif Ethiopic Condensed"/>
                <a:sym typeface="Noto Serif Ethiopic Condensed"/>
              </a:rPr>
              <a:t>Need privacy and anonymity</a:t>
            </a:r>
          </a:p>
        </p:txBody>
      </p:sp>
      <p:grpSp>
        <p:nvGrpSpPr>
          <p:cNvPr name="Group 24" id="24"/>
          <p:cNvGrpSpPr/>
          <p:nvPr/>
        </p:nvGrpSpPr>
        <p:grpSpPr>
          <a:xfrm rot="0">
            <a:off x="1268834" y="6887196"/>
            <a:ext cx="4776146" cy="1907611"/>
            <a:chOff x="0" y="0"/>
            <a:chExt cx="1366341" cy="545721"/>
          </a:xfrm>
        </p:grpSpPr>
        <p:sp>
          <p:nvSpPr>
            <p:cNvPr name="Freeform 25" id="25"/>
            <p:cNvSpPr/>
            <p:nvPr/>
          </p:nvSpPr>
          <p:spPr>
            <a:xfrm flipH="false" flipV="false" rot="0">
              <a:off x="0" y="0"/>
              <a:ext cx="1366341" cy="545721"/>
            </a:xfrm>
            <a:custGeom>
              <a:avLst/>
              <a:gdLst/>
              <a:ahLst/>
              <a:cxnLst/>
              <a:rect r="r" b="b" t="t" l="l"/>
              <a:pathLst>
                <a:path h="545721" w="1366341">
                  <a:moveTo>
                    <a:pt x="45387" y="0"/>
                  </a:moveTo>
                  <a:lnTo>
                    <a:pt x="1320954" y="0"/>
                  </a:lnTo>
                  <a:cubicBezTo>
                    <a:pt x="1332991" y="0"/>
                    <a:pt x="1344535" y="4782"/>
                    <a:pt x="1353047" y="13293"/>
                  </a:cubicBezTo>
                  <a:cubicBezTo>
                    <a:pt x="1361559" y="21805"/>
                    <a:pt x="1366341" y="33349"/>
                    <a:pt x="1366341" y="45387"/>
                  </a:cubicBezTo>
                  <a:lnTo>
                    <a:pt x="1366341" y="500335"/>
                  </a:lnTo>
                  <a:cubicBezTo>
                    <a:pt x="1366341" y="525401"/>
                    <a:pt x="1346020" y="545721"/>
                    <a:pt x="1320954" y="545721"/>
                  </a:cubicBezTo>
                  <a:lnTo>
                    <a:pt x="45387" y="545721"/>
                  </a:lnTo>
                  <a:cubicBezTo>
                    <a:pt x="20320" y="545721"/>
                    <a:pt x="0" y="525401"/>
                    <a:pt x="0" y="500335"/>
                  </a:cubicBezTo>
                  <a:lnTo>
                    <a:pt x="0" y="45387"/>
                  </a:lnTo>
                  <a:cubicBezTo>
                    <a:pt x="0" y="20320"/>
                    <a:pt x="20320" y="0"/>
                    <a:pt x="45387" y="0"/>
                  </a:cubicBezTo>
                  <a:close/>
                </a:path>
              </a:pathLst>
            </a:custGeom>
            <a:gradFill rotWithShape="true">
              <a:gsLst>
                <a:gs pos="0">
                  <a:srgbClr val="542D5C">
                    <a:alpha val="100000"/>
                  </a:srgbClr>
                </a:gs>
                <a:gs pos="100000">
                  <a:srgbClr val="C87D96">
                    <a:alpha val="100000"/>
                  </a:srgbClr>
                </a:gs>
              </a:gsLst>
              <a:path path="circle">
                <a:fillToRect l="0" r="100000" t="0" b="100000"/>
              </a:path>
              <a:tileRect r="0" l="-100000" b="0" t="-100000"/>
            </a:gradFill>
            <a:ln w="38100" cap="rnd">
              <a:solidFill>
                <a:srgbClr val="EDC4BC"/>
              </a:solidFill>
              <a:prstDash val="solid"/>
              <a:round/>
            </a:ln>
          </p:spPr>
        </p:sp>
        <p:sp>
          <p:nvSpPr>
            <p:cNvPr name="TextBox 26" id="26"/>
            <p:cNvSpPr txBox="true"/>
            <p:nvPr/>
          </p:nvSpPr>
          <p:spPr>
            <a:xfrm>
              <a:off x="0" y="-38100"/>
              <a:ext cx="1366341" cy="583821"/>
            </a:xfrm>
            <a:prstGeom prst="rect">
              <a:avLst/>
            </a:prstGeom>
          </p:spPr>
          <p:txBody>
            <a:bodyPr anchor="ctr" rtlCol="false" tIns="46769" lIns="46769" bIns="46769" rIns="46769"/>
            <a:lstStyle/>
            <a:p>
              <a:pPr algn="ctr">
                <a:lnSpc>
                  <a:spcPts val="2659"/>
                </a:lnSpc>
              </a:pPr>
            </a:p>
          </p:txBody>
        </p:sp>
      </p:grpSp>
      <p:grpSp>
        <p:nvGrpSpPr>
          <p:cNvPr name="Group 27" id="27"/>
          <p:cNvGrpSpPr/>
          <p:nvPr/>
        </p:nvGrpSpPr>
        <p:grpSpPr>
          <a:xfrm rot="0">
            <a:off x="6613107" y="6892289"/>
            <a:ext cx="4776146" cy="1907611"/>
            <a:chOff x="0" y="0"/>
            <a:chExt cx="1366341" cy="545721"/>
          </a:xfrm>
        </p:grpSpPr>
        <p:sp>
          <p:nvSpPr>
            <p:cNvPr name="Freeform 28" id="28"/>
            <p:cNvSpPr/>
            <p:nvPr/>
          </p:nvSpPr>
          <p:spPr>
            <a:xfrm flipH="false" flipV="false" rot="0">
              <a:off x="0" y="0"/>
              <a:ext cx="1366341" cy="545721"/>
            </a:xfrm>
            <a:custGeom>
              <a:avLst/>
              <a:gdLst/>
              <a:ahLst/>
              <a:cxnLst/>
              <a:rect r="r" b="b" t="t" l="l"/>
              <a:pathLst>
                <a:path h="545721" w="1366341">
                  <a:moveTo>
                    <a:pt x="45387" y="0"/>
                  </a:moveTo>
                  <a:lnTo>
                    <a:pt x="1320954" y="0"/>
                  </a:lnTo>
                  <a:cubicBezTo>
                    <a:pt x="1332991" y="0"/>
                    <a:pt x="1344535" y="4782"/>
                    <a:pt x="1353047" y="13293"/>
                  </a:cubicBezTo>
                  <a:cubicBezTo>
                    <a:pt x="1361559" y="21805"/>
                    <a:pt x="1366341" y="33349"/>
                    <a:pt x="1366341" y="45387"/>
                  </a:cubicBezTo>
                  <a:lnTo>
                    <a:pt x="1366341" y="500335"/>
                  </a:lnTo>
                  <a:cubicBezTo>
                    <a:pt x="1366341" y="525401"/>
                    <a:pt x="1346020" y="545721"/>
                    <a:pt x="1320954" y="545721"/>
                  </a:cubicBezTo>
                  <a:lnTo>
                    <a:pt x="45387" y="545721"/>
                  </a:lnTo>
                  <a:cubicBezTo>
                    <a:pt x="20320" y="545721"/>
                    <a:pt x="0" y="525401"/>
                    <a:pt x="0" y="500335"/>
                  </a:cubicBezTo>
                  <a:lnTo>
                    <a:pt x="0" y="45387"/>
                  </a:lnTo>
                  <a:cubicBezTo>
                    <a:pt x="0" y="20320"/>
                    <a:pt x="20320" y="0"/>
                    <a:pt x="45387" y="0"/>
                  </a:cubicBezTo>
                  <a:close/>
                </a:path>
              </a:pathLst>
            </a:custGeom>
            <a:gradFill rotWithShape="true">
              <a:gsLst>
                <a:gs pos="0">
                  <a:srgbClr val="542D5C">
                    <a:alpha val="100000"/>
                  </a:srgbClr>
                </a:gs>
                <a:gs pos="100000">
                  <a:srgbClr val="C87D96">
                    <a:alpha val="100000"/>
                  </a:srgbClr>
                </a:gs>
              </a:gsLst>
              <a:path path="circle">
                <a:fillToRect l="0" r="100000" t="0" b="100000"/>
              </a:path>
              <a:tileRect r="0" l="-100000" b="0" t="-100000"/>
            </a:gradFill>
            <a:ln w="38100" cap="rnd">
              <a:solidFill>
                <a:srgbClr val="EDC4BC"/>
              </a:solidFill>
              <a:prstDash val="solid"/>
              <a:round/>
            </a:ln>
          </p:spPr>
        </p:sp>
        <p:sp>
          <p:nvSpPr>
            <p:cNvPr name="TextBox 29" id="29"/>
            <p:cNvSpPr txBox="true"/>
            <p:nvPr/>
          </p:nvSpPr>
          <p:spPr>
            <a:xfrm>
              <a:off x="0" y="-38100"/>
              <a:ext cx="1366341" cy="583821"/>
            </a:xfrm>
            <a:prstGeom prst="rect">
              <a:avLst/>
            </a:prstGeom>
          </p:spPr>
          <p:txBody>
            <a:bodyPr anchor="ctr" rtlCol="false" tIns="46769" lIns="46769" bIns="46769" rIns="46769"/>
            <a:lstStyle/>
            <a:p>
              <a:pPr algn="ctr">
                <a:lnSpc>
                  <a:spcPts val="2659"/>
                </a:lnSpc>
              </a:pPr>
            </a:p>
          </p:txBody>
        </p:sp>
      </p:grpSp>
      <p:grpSp>
        <p:nvGrpSpPr>
          <p:cNvPr name="Group 30" id="30"/>
          <p:cNvGrpSpPr/>
          <p:nvPr/>
        </p:nvGrpSpPr>
        <p:grpSpPr>
          <a:xfrm rot="0">
            <a:off x="11952853" y="6892289"/>
            <a:ext cx="4776146" cy="1907611"/>
            <a:chOff x="0" y="0"/>
            <a:chExt cx="1366341" cy="545721"/>
          </a:xfrm>
        </p:grpSpPr>
        <p:sp>
          <p:nvSpPr>
            <p:cNvPr name="Freeform 31" id="31"/>
            <p:cNvSpPr/>
            <p:nvPr/>
          </p:nvSpPr>
          <p:spPr>
            <a:xfrm flipH="false" flipV="false" rot="0">
              <a:off x="0" y="0"/>
              <a:ext cx="1366341" cy="545721"/>
            </a:xfrm>
            <a:custGeom>
              <a:avLst/>
              <a:gdLst/>
              <a:ahLst/>
              <a:cxnLst/>
              <a:rect r="r" b="b" t="t" l="l"/>
              <a:pathLst>
                <a:path h="545721" w="1366341">
                  <a:moveTo>
                    <a:pt x="45387" y="0"/>
                  </a:moveTo>
                  <a:lnTo>
                    <a:pt x="1320954" y="0"/>
                  </a:lnTo>
                  <a:cubicBezTo>
                    <a:pt x="1332991" y="0"/>
                    <a:pt x="1344535" y="4782"/>
                    <a:pt x="1353047" y="13293"/>
                  </a:cubicBezTo>
                  <a:cubicBezTo>
                    <a:pt x="1361559" y="21805"/>
                    <a:pt x="1366341" y="33349"/>
                    <a:pt x="1366341" y="45387"/>
                  </a:cubicBezTo>
                  <a:lnTo>
                    <a:pt x="1366341" y="500335"/>
                  </a:lnTo>
                  <a:cubicBezTo>
                    <a:pt x="1366341" y="525401"/>
                    <a:pt x="1346020" y="545721"/>
                    <a:pt x="1320954" y="545721"/>
                  </a:cubicBezTo>
                  <a:lnTo>
                    <a:pt x="45387" y="545721"/>
                  </a:lnTo>
                  <a:cubicBezTo>
                    <a:pt x="20320" y="545721"/>
                    <a:pt x="0" y="525401"/>
                    <a:pt x="0" y="500335"/>
                  </a:cubicBezTo>
                  <a:lnTo>
                    <a:pt x="0" y="45387"/>
                  </a:lnTo>
                  <a:cubicBezTo>
                    <a:pt x="0" y="20320"/>
                    <a:pt x="20320" y="0"/>
                    <a:pt x="45387" y="0"/>
                  </a:cubicBezTo>
                  <a:close/>
                </a:path>
              </a:pathLst>
            </a:custGeom>
            <a:gradFill rotWithShape="true">
              <a:gsLst>
                <a:gs pos="0">
                  <a:srgbClr val="542D5C">
                    <a:alpha val="100000"/>
                  </a:srgbClr>
                </a:gs>
                <a:gs pos="100000">
                  <a:srgbClr val="C87D96">
                    <a:alpha val="100000"/>
                  </a:srgbClr>
                </a:gs>
              </a:gsLst>
              <a:path path="circle">
                <a:fillToRect l="0" r="100000" t="0" b="100000"/>
              </a:path>
              <a:tileRect r="0" l="-100000" b="0" t="-100000"/>
            </a:gradFill>
            <a:ln w="38100" cap="rnd">
              <a:solidFill>
                <a:srgbClr val="EDC4BC"/>
              </a:solidFill>
              <a:prstDash val="solid"/>
              <a:round/>
            </a:ln>
          </p:spPr>
        </p:sp>
        <p:sp>
          <p:nvSpPr>
            <p:cNvPr name="TextBox 32" id="32"/>
            <p:cNvSpPr txBox="true"/>
            <p:nvPr/>
          </p:nvSpPr>
          <p:spPr>
            <a:xfrm>
              <a:off x="0" y="-38100"/>
              <a:ext cx="1366341" cy="583821"/>
            </a:xfrm>
            <a:prstGeom prst="rect">
              <a:avLst/>
            </a:prstGeom>
          </p:spPr>
          <p:txBody>
            <a:bodyPr anchor="ctr" rtlCol="false" tIns="46769" lIns="46769" bIns="46769" rIns="46769"/>
            <a:lstStyle/>
            <a:p>
              <a:pPr algn="ctr">
                <a:lnSpc>
                  <a:spcPts val="2659"/>
                </a:lnSpc>
              </a:pPr>
            </a:p>
          </p:txBody>
        </p:sp>
      </p:grpSp>
      <p:sp>
        <p:nvSpPr>
          <p:cNvPr name="Freeform 33" id="33"/>
          <p:cNvSpPr/>
          <p:nvPr/>
        </p:nvSpPr>
        <p:spPr>
          <a:xfrm flipH="false" flipV="false" rot="0">
            <a:off x="3345109" y="7039089"/>
            <a:ext cx="623595" cy="807005"/>
          </a:xfrm>
          <a:custGeom>
            <a:avLst/>
            <a:gdLst/>
            <a:ahLst/>
            <a:cxnLst/>
            <a:rect r="r" b="b" t="t" l="l"/>
            <a:pathLst>
              <a:path h="807005" w="623595">
                <a:moveTo>
                  <a:pt x="0" y="0"/>
                </a:moveTo>
                <a:lnTo>
                  <a:pt x="623595" y="0"/>
                </a:lnTo>
                <a:lnTo>
                  <a:pt x="623595" y="807005"/>
                </a:lnTo>
                <a:lnTo>
                  <a:pt x="0" y="807005"/>
                </a:lnTo>
                <a:lnTo>
                  <a:pt x="0" y="0"/>
                </a:lnTo>
                <a:close/>
              </a:path>
            </a:pathLst>
          </a:custGeom>
          <a:blipFill>
            <a:blip r:embed="rId13"/>
            <a:stretch>
              <a:fillRect l="0" t="0" r="0" b="0"/>
            </a:stretch>
          </a:blipFill>
        </p:spPr>
      </p:sp>
      <p:sp>
        <p:nvSpPr>
          <p:cNvPr name="Freeform 34" id="34"/>
          <p:cNvSpPr/>
          <p:nvPr/>
        </p:nvSpPr>
        <p:spPr>
          <a:xfrm flipH="false" flipV="false" rot="0">
            <a:off x="8750984" y="7059763"/>
            <a:ext cx="500392" cy="786331"/>
          </a:xfrm>
          <a:custGeom>
            <a:avLst/>
            <a:gdLst/>
            <a:ahLst/>
            <a:cxnLst/>
            <a:rect r="r" b="b" t="t" l="l"/>
            <a:pathLst>
              <a:path h="786331" w="500392">
                <a:moveTo>
                  <a:pt x="0" y="0"/>
                </a:moveTo>
                <a:lnTo>
                  <a:pt x="500392" y="0"/>
                </a:lnTo>
                <a:lnTo>
                  <a:pt x="500392" y="786331"/>
                </a:lnTo>
                <a:lnTo>
                  <a:pt x="0" y="78633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5" id="35"/>
          <p:cNvSpPr/>
          <p:nvPr/>
        </p:nvSpPr>
        <p:spPr>
          <a:xfrm flipH="false" flipV="false" rot="0">
            <a:off x="13595210" y="7218028"/>
            <a:ext cx="1491432" cy="469801"/>
          </a:xfrm>
          <a:custGeom>
            <a:avLst/>
            <a:gdLst/>
            <a:ahLst/>
            <a:cxnLst/>
            <a:rect r="r" b="b" t="t" l="l"/>
            <a:pathLst>
              <a:path h="469801" w="1491432">
                <a:moveTo>
                  <a:pt x="0" y="0"/>
                </a:moveTo>
                <a:lnTo>
                  <a:pt x="1491432" y="0"/>
                </a:lnTo>
                <a:lnTo>
                  <a:pt x="1491432" y="469801"/>
                </a:lnTo>
                <a:lnTo>
                  <a:pt x="0" y="469801"/>
                </a:lnTo>
                <a:lnTo>
                  <a:pt x="0" y="0"/>
                </a:lnTo>
                <a:close/>
              </a:path>
            </a:pathLst>
          </a:custGeom>
          <a:blipFill>
            <a:blip r:embed="rId16"/>
            <a:stretch>
              <a:fillRect l="0" t="0" r="0" b="0"/>
            </a:stretch>
          </a:blipFill>
        </p:spPr>
      </p:sp>
      <p:sp>
        <p:nvSpPr>
          <p:cNvPr name="TextBox 36" id="36"/>
          <p:cNvSpPr txBox="true"/>
          <p:nvPr/>
        </p:nvSpPr>
        <p:spPr>
          <a:xfrm rot="0">
            <a:off x="1436419" y="5390089"/>
            <a:ext cx="4440974" cy="678279"/>
          </a:xfrm>
          <a:prstGeom prst="rect">
            <a:avLst/>
          </a:prstGeom>
        </p:spPr>
        <p:txBody>
          <a:bodyPr anchor="t" rtlCol="false" tIns="0" lIns="0" bIns="0" rIns="0">
            <a:spAutoFit/>
          </a:bodyPr>
          <a:lstStyle/>
          <a:p>
            <a:pPr algn="ctr">
              <a:lnSpc>
                <a:spcPts val="3066"/>
              </a:lnSpc>
            </a:pPr>
            <a:r>
              <a:rPr lang="en-US" sz="2100" b="true">
                <a:solidFill>
                  <a:srgbClr val="FFFFFF"/>
                </a:solidFill>
                <a:latin typeface="Inter Bold"/>
                <a:ea typeface="Inter Bold"/>
                <a:cs typeface="Inter Bold"/>
                <a:sym typeface="Inter Bold"/>
              </a:rPr>
              <a:t>Stress</a:t>
            </a:r>
          </a:p>
          <a:p>
            <a:pPr algn="ctr">
              <a:lnSpc>
                <a:spcPts val="2426"/>
              </a:lnSpc>
            </a:pPr>
            <a:r>
              <a:rPr lang="en-US" sz="1661">
                <a:solidFill>
                  <a:srgbClr val="FFFFFF"/>
                </a:solidFill>
                <a:latin typeface="Noto Serif Ethiopic Condensed"/>
                <a:ea typeface="Noto Serif Ethiopic Condensed"/>
                <a:cs typeface="Noto Serif Ethiopic Condensed"/>
                <a:sym typeface="Noto Serif Ethiopic Condensed"/>
              </a:rPr>
              <a:t>H</a:t>
            </a:r>
            <a:r>
              <a:rPr lang="en-US" sz="1661">
                <a:solidFill>
                  <a:srgbClr val="FFFFFF"/>
                </a:solidFill>
                <a:latin typeface="Noto Serif Ethiopic Condensed"/>
                <a:ea typeface="Noto Serif Ethiopic Condensed"/>
                <a:cs typeface="Noto Serif Ethiopic Condensed"/>
                <a:sym typeface="Noto Serif Ethiopic Condensed"/>
              </a:rPr>
              <a:t>igh stress and anxiety levels</a:t>
            </a:r>
          </a:p>
        </p:txBody>
      </p:sp>
      <p:sp>
        <p:nvSpPr>
          <p:cNvPr name="TextBox 37" id="37"/>
          <p:cNvSpPr txBox="true"/>
          <p:nvPr/>
        </p:nvSpPr>
        <p:spPr>
          <a:xfrm rot="0">
            <a:off x="1436419" y="7867694"/>
            <a:ext cx="4440974" cy="678279"/>
          </a:xfrm>
          <a:prstGeom prst="rect">
            <a:avLst/>
          </a:prstGeom>
        </p:spPr>
        <p:txBody>
          <a:bodyPr anchor="t" rtlCol="false" tIns="0" lIns="0" bIns="0" rIns="0">
            <a:spAutoFit/>
          </a:bodyPr>
          <a:lstStyle/>
          <a:p>
            <a:pPr algn="ctr">
              <a:lnSpc>
                <a:spcPts val="3066"/>
              </a:lnSpc>
            </a:pPr>
            <a:r>
              <a:rPr lang="en-US" sz="2100" b="true">
                <a:solidFill>
                  <a:srgbClr val="FFFFFF"/>
                </a:solidFill>
                <a:latin typeface="Inter Bold"/>
                <a:ea typeface="Inter Bold"/>
                <a:cs typeface="Inter Bold"/>
                <a:sym typeface="Inter Bold"/>
              </a:rPr>
              <a:t>Quick</a:t>
            </a:r>
          </a:p>
          <a:p>
            <a:pPr algn="ctr">
              <a:lnSpc>
                <a:spcPts val="2426"/>
              </a:lnSpc>
            </a:pPr>
            <a:r>
              <a:rPr lang="en-US" sz="1661">
                <a:solidFill>
                  <a:srgbClr val="FFFFFF"/>
                </a:solidFill>
                <a:latin typeface="Noto Serif Ethiopic Condensed"/>
                <a:ea typeface="Noto Serif Ethiopic Condensed"/>
                <a:cs typeface="Noto Serif Ethiopic Condensed"/>
                <a:sym typeface="Noto Serif Ethiopic Condensed"/>
              </a:rPr>
              <a:t>Need qu</a:t>
            </a:r>
            <a:r>
              <a:rPr lang="en-US" sz="1661">
                <a:solidFill>
                  <a:srgbClr val="FFFFFF"/>
                </a:solidFill>
                <a:latin typeface="Noto Serif Ethiopic Condensed"/>
                <a:ea typeface="Noto Serif Ethiopic Condensed"/>
                <a:cs typeface="Noto Serif Ethiopic Condensed"/>
                <a:sym typeface="Noto Serif Ethiopic Condensed"/>
              </a:rPr>
              <a:t>ick access to support</a:t>
            </a:r>
          </a:p>
        </p:txBody>
      </p:sp>
      <p:sp>
        <p:nvSpPr>
          <p:cNvPr name="TextBox 38" id="38"/>
          <p:cNvSpPr txBox="true"/>
          <p:nvPr/>
        </p:nvSpPr>
        <p:spPr>
          <a:xfrm rot="0">
            <a:off x="6780693" y="7872787"/>
            <a:ext cx="4440974" cy="985199"/>
          </a:xfrm>
          <a:prstGeom prst="rect">
            <a:avLst/>
          </a:prstGeom>
        </p:spPr>
        <p:txBody>
          <a:bodyPr anchor="t" rtlCol="false" tIns="0" lIns="0" bIns="0" rIns="0">
            <a:spAutoFit/>
          </a:bodyPr>
          <a:lstStyle/>
          <a:p>
            <a:pPr algn="ctr">
              <a:lnSpc>
                <a:spcPts val="3066"/>
              </a:lnSpc>
            </a:pPr>
            <a:r>
              <a:rPr lang="en-US" sz="2100" b="true">
                <a:solidFill>
                  <a:srgbClr val="FFFFFF"/>
                </a:solidFill>
                <a:latin typeface="Inter Bold"/>
                <a:ea typeface="Inter Bold"/>
                <a:cs typeface="Inter Bold"/>
                <a:sym typeface="Inter Bold"/>
              </a:rPr>
              <a:t>Simple</a:t>
            </a:r>
          </a:p>
          <a:p>
            <a:pPr algn="ctr">
              <a:lnSpc>
                <a:spcPts val="2426"/>
              </a:lnSpc>
            </a:pPr>
            <a:r>
              <a:rPr lang="en-US" sz="1661">
                <a:solidFill>
                  <a:srgbClr val="FFFFFF"/>
                </a:solidFill>
                <a:latin typeface="Noto Serif Ethiopic Condensed"/>
                <a:ea typeface="Noto Serif Ethiopic Condensed"/>
                <a:cs typeface="Noto Serif Ethiopic Condensed"/>
                <a:sym typeface="Noto Serif Ethiopic Condensed"/>
              </a:rPr>
              <a:t>App</a:t>
            </a:r>
            <a:r>
              <a:rPr lang="en-US" sz="1661">
                <a:solidFill>
                  <a:srgbClr val="FFFFFF"/>
                </a:solidFill>
                <a:latin typeface="Noto Serif Ethiopic Condensed"/>
                <a:ea typeface="Noto Serif Ethiopic Condensed"/>
                <a:cs typeface="Noto Serif Ethiopic Condensed"/>
                <a:sym typeface="Noto Serif Ethiopic Condensed"/>
              </a:rPr>
              <a:t>s too clinical/complicated</a:t>
            </a:r>
          </a:p>
          <a:p>
            <a:pPr algn="ctr">
              <a:lnSpc>
                <a:spcPts val="2426"/>
              </a:lnSpc>
            </a:pPr>
          </a:p>
        </p:txBody>
      </p:sp>
      <p:sp>
        <p:nvSpPr>
          <p:cNvPr name="TextBox 39" id="39"/>
          <p:cNvSpPr txBox="true"/>
          <p:nvPr/>
        </p:nvSpPr>
        <p:spPr>
          <a:xfrm rot="0">
            <a:off x="12120439" y="7867694"/>
            <a:ext cx="4440974" cy="678279"/>
          </a:xfrm>
          <a:prstGeom prst="rect">
            <a:avLst/>
          </a:prstGeom>
        </p:spPr>
        <p:txBody>
          <a:bodyPr anchor="t" rtlCol="false" tIns="0" lIns="0" bIns="0" rIns="0">
            <a:spAutoFit/>
          </a:bodyPr>
          <a:lstStyle/>
          <a:p>
            <a:pPr algn="ctr">
              <a:lnSpc>
                <a:spcPts val="3066"/>
              </a:lnSpc>
            </a:pPr>
            <a:r>
              <a:rPr lang="en-US" sz="2100" b="true">
                <a:solidFill>
                  <a:srgbClr val="FFFFFF"/>
                </a:solidFill>
                <a:latin typeface="Inter Bold"/>
                <a:ea typeface="Inter Bold"/>
                <a:cs typeface="Inter Bold"/>
                <a:sym typeface="Inter Bold"/>
              </a:rPr>
              <a:t>Support</a:t>
            </a:r>
          </a:p>
          <a:p>
            <a:pPr algn="ctr">
              <a:lnSpc>
                <a:spcPts val="2426"/>
              </a:lnSpc>
            </a:pPr>
            <a:r>
              <a:rPr lang="en-US" sz="1661">
                <a:solidFill>
                  <a:srgbClr val="FFFFFF"/>
                </a:solidFill>
                <a:latin typeface="Noto Serif Ethiopic Condensed"/>
                <a:ea typeface="Noto Serif Ethiopic Condensed"/>
                <a:cs typeface="Noto Serif Ethiopic Condensed"/>
                <a:sym typeface="Noto Serif Ethiopic Condensed"/>
              </a:rPr>
              <a:t>Wan</a:t>
            </a:r>
            <a:r>
              <a:rPr lang="en-US" sz="1661">
                <a:solidFill>
                  <a:srgbClr val="FFFFFF"/>
                </a:solidFill>
                <a:latin typeface="Noto Serif Ethiopic Condensed"/>
                <a:ea typeface="Noto Serif Ethiopic Condensed"/>
                <a:cs typeface="Noto Serif Ethiopic Condensed"/>
                <a:sym typeface="Noto Serif Ethiopic Condensed"/>
              </a:rPr>
              <a:t>t emotional guidance tools</a:t>
            </a:r>
          </a:p>
        </p:txBody>
      </p:sp>
      <p:sp>
        <p:nvSpPr>
          <p:cNvPr name="Freeform 40" id="40"/>
          <p:cNvSpPr/>
          <p:nvPr/>
        </p:nvSpPr>
        <p:spPr>
          <a:xfrm flipH="false" flipV="false" rot="-1864513">
            <a:off x="202516" y="6717579"/>
            <a:ext cx="454266" cy="466131"/>
          </a:xfrm>
          <a:custGeom>
            <a:avLst/>
            <a:gdLst/>
            <a:ahLst/>
            <a:cxnLst/>
            <a:rect r="r" b="b" t="t" l="l"/>
            <a:pathLst>
              <a:path h="466131" w="454266">
                <a:moveTo>
                  <a:pt x="0" y="0"/>
                </a:moveTo>
                <a:lnTo>
                  <a:pt x="454266" y="0"/>
                </a:lnTo>
                <a:lnTo>
                  <a:pt x="454266" y="466131"/>
                </a:lnTo>
                <a:lnTo>
                  <a:pt x="0" y="46613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1" id="41"/>
          <p:cNvSpPr/>
          <p:nvPr/>
        </p:nvSpPr>
        <p:spPr>
          <a:xfrm flipH="false" flipV="false" rot="-1864513">
            <a:off x="517353" y="3267385"/>
            <a:ext cx="454266" cy="466131"/>
          </a:xfrm>
          <a:custGeom>
            <a:avLst/>
            <a:gdLst/>
            <a:ahLst/>
            <a:cxnLst/>
            <a:rect r="r" b="b" t="t" l="l"/>
            <a:pathLst>
              <a:path h="466131" w="454266">
                <a:moveTo>
                  <a:pt x="0" y="0"/>
                </a:moveTo>
                <a:lnTo>
                  <a:pt x="454266" y="0"/>
                </a:lnTo>
                <a:lnTo>
                  <a:pt x="454266" y="466130"/>
                </a:lnTo>
                <a:lnTo>
                  <a:pt x="0" y="4661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2" id="42"/>
          <p:cNvSpPr txBox="true"/>
          <p:nvPr/>
        </p:nvSpPr>
        <p:spPr>
          <a:xfrm rot="0">
            <a:off x="1112073" y="1061092"/>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43" id="43"/>
          <p:cNvSpPr txBox="true"/>
          <p:nvPr/>
        </p:nvSpPr>
        <p:spPr>
          <a:xfrm rot="0">
            <a:off x="15107417" y="9541030"/>
            <a:ext cx="2151883"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Maria Waheed</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Freeform 2" id="2"/>
          <p:cNvSpPr/>
          <p:nvPr/>
        </p:nvSpPr>
        <p:spPr>
          <a:xfrm flipH="false" flipV="false" rot="0">
            <a:off x="15107417" y="839102"/>
            <a:ext cx="1715278" cy="283801"/>
          </a:xfrm>
          <a:custGeom>
            <a:avLst/>
            <a:gdLst/>
            <a:ahLst/>
            <a:cxnLst/>
            <a:rect r="r" b="b" t="t" l="l"/>
            <a:pathLst>
              <a:path h="283801" w="1715278">
                <a:moveTo>
                  <a:pt x="0" y="0"/>
                </a:moveTo>
                <a:lnTo>
                  <a:pt x="1715278" y="0"/>
                </a:lnTo>
                <a:lnTo>
                  <a:pt x="1715278" y="283800"/>
                </a:lnTo>
                <a:lnTo>
                  <a:pt x="0" y="283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596974" y="-1194328"/>
            <a:ext cx="3502048" cy="1916575"/>
          </a:xfrm>
          <a:custGeom>
            <a:avLst/>
            <a:gdLst/>
            <a:ahLst/>
            <a:cxnLst/>
            <a:rect r="r" b="b" t="t" l="l"/>
            <a:pathLst>
              <a:path h="1916575" w="3502048">
                <a:moveTo>
                  <a:pt x="0" y="0"/>
                </a:moveTo>
                <a:lnTo>
                  <a:pt x="3502048" y="0"/>
                </a:lnTo>
                <a:lnTo>
                  <a:pt x="3502048" y="1916576"/>
                </a:lnTo>
                <a:lnTo>
                  <a:pt x="0" y="1916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336045" y="9448800"/>
            <a:ext cx="5570466" cy="3048564"/>
          </a:xfrm>
          <a:custGeom>
            <a:avLst/>
            <a:gdLst/>
            <a:ahLst/>
            <a:cxnLst/>
            <a:rect r="r" b="b" t="t" l="l"/>
            <a:pathLst>
              <a:path h="3048564" w="5570466">
                <a:moveTo>
                  <a:pt x="0" y="0"/>
                </a:moveTo>
                <a:lnTo>
                  <a:pt x="5570466" y="0"/>
                </a:lnTo>
                <a:lnTo>
                  <a:pt x="5570466" y="3048564"/>
                </a:lnTo>
                <a:lnTo>
                  <a:pt x="0" y="3048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2144070" y="1294352"/>
            <a:ext cx="14095196" cy="7963948"/>
            <a:chOff x="0" y="0"/>
            <a:chExt cx="3572746" cy="2018643"/>
          </a:xfrm>
        </p:grpSpPr>
        <p:sp>
          <p:nvSpPr>
            <p:cNvPr name="Freeform 6" id="6"/>
            <p:cNvSpPr/>
            <p:nvPr/>
          </p:nvSpPr>
          <p:spPr>
            <a:xfrm flipH="false" flipV="false" rot="0">
              <a:off x="0" y="0"/>
              <a:ext cx="3572746" cy="2018643"/>
            </a:xfrm>
            <a:custGeom>
              <a:avLst/>
              <a:gdLst/>
              <a:ahLst/>
              <a:cxnLst/>
              <a:rect r="r" b="b" t="t" l="l"/>
              <a:pathLst>
                <a:path h="2018643" w="3572746">
                  <a:moveTo>
                    <a:pt x="13731" y="0"/>
                  </a:moveTo>
                  <a:lnTo>
                    <a:pt x="3559015" y="0"/>
                  </a:lnTo>
                  <a:cubicBezTo>
                    <a:pt x="3562657" y="0"/>
                    <a:pt x="3566149" y="1447"/>
                    <a:pt x="3568724" y="4022"/>
                  </a:cubicBezTo>
                  <a:cubicBezTo>
                    <a:pt x="3571299" y="6597"/>
                    <a:pt x="3572746" y="10090"/>
                    <a:pt x="3572746" y="13731"/>
                  </a:cubicBezTo>
                  <a:lnTo>
                    <a:pt x="3572746" y="2004911"/>
                  </a:lnTo>
                  <a:cubicBezTo>
                    <a:pt x="3572746" y="2008553"/>
                    <a:pt x="3571299" y="2012046"/>
                    <a:pt x="3568724" y="2014621"/>
                  </a:cubicBezTo>
                  <a:cubicBezTo>
                    <a:pt x="3566149" y="2017196"/>
                    <a:pt x="3562657" y="2018643"/>
                    <a:pt x="3559015" y="2018643"/>
                  </a:cubicBezTo>
                  <a:lnTo>
                    <a:pt x="13731" y="2018643"/>
                  </a:lnTo>
                  <a:cubicBezTo>
                    <a:pt x="10090" y="2018643"/>
                    <a:pt x="6597" y="2017196"/>
                    <a:pt x="4022" y="2014621"/>
                  </a:cubicBezTo>
                  <a:cubicBezTo>
                    <a:pt x="1447" y="2012046"/>
                    <a:pt x="0" y="2008553"/>
                    <a:pt x="0" y="2004911"/>
                  </a:cubicBezTo>
                  <a:lnTo>
                    <a:pt x="0" y="13731"/>
                  </a:lnTo>
                  <a:cubicBezTo>
                    <a:pt x="0" y="10090"/>
                    <a:pt x="1447" y="6597"/>
                    <a:pt x="4022" y="4022"/>
                  </a:cubicBezTo>
                  <a:cubicBezTo>
                    <a:pt x="6597" y="1447"/>
                    <a:pt x="10090" y="0"/>
                    <a:pt x="13731" y="0"/>
                  </a:cubicBezTo>
                  <a:close/>
                </a:path>
              </a:pathLst>
            </a:custGeom>
            <a:solidFill>
              <a:srgbClr val="FFFFFF">
                <a:alpha val="12941"/>
              </a:srgbClr>
            </a:solidFill>
            <a:ln w="38100" cap="rnd">
              <a:solidFill>
                <a:srgbClr val="FFFFFF">
                  <a:alpha val="12941"/>
                </a:srgbClr>
              </a:solidFill>
              <a:prstDash val="solid"/>
              <a:round/>
            </a:ln>
          </p:spPr>
        </p:sp>
        <p:sp>
          <p:nvSpPr>
            <p:cNvPr name="TextBox 7" id="7"/>
            <p:cNvSpPr txBox="true"/>
            <p:nvPr/>
          </p:nvSpPr>
          <p:spPr>
            <a:xfrm>
              <a:off x="0" y="-38100"/>
              <a:ext cx="3572746" cy="2056743"/>
            </a:xfrm>
            <a:prstGeom prst="rect">
              <a:avLst/>
            </a:prstGeom>
          </p:spPr>
          <p:txBody>
            <a:bodyPr anchor="ctr" rtlCol="false" tIns="52784" lIns="52784" bIns="52784" rIns="52784"/>
            <a:lstStyle/>
            <a:p>
              <a:pPr algn="ctr">
                <a:lnSpc>
                  <a:spcPts val="2659"/>
                </a:lnSpc>
              </a:pPr>
            </a:p>
          </p:txBody>
        </p:sp>
      </p:grpSp>
      <p:sp>
        <p:nvSpPr>
          <p:cNvPr name="Freeform 8" id="8"/>
          <p:cNvSpPr/>
          <p:nvPr/>
        </p:nvSpPr>
        <p:spPr>
          <a:xfrm flipH="false" flipV="false" rot="0">
            <a:off x="13374772" y="413915"/>
            <a:ext cx="480267" cy="480267"/>
          </a:xfrm>
          <a:custGeom>
            <a:avLst/>
            <a:gdLst/>
            <a:ahLst/>
            <a:cxnLst/>
            <a:rect r="r" b="b" t="t" l="l"/>
            <a:pathLst>
              <a:path h="480267" w="480267">
                <a:moveTo>
                  <a:pt x="0" y="0"/>
                </a:moveTo>
                <a:lnTo>
                  <a:pt x="480268" y="0"/>
                </a:lnTo>
                <a:lnTo>
                  <a:pt x="480268"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1858888" y="9410700"/>
            <a:ext cx="480267" cy="480267"/>
          </a:xfrm>
          <a:custGeom>
            <a:avLst/>
            <a:gdLst/>
            <a:ahLst/>
            <a:cxnLst/>
            <a:rect r="r" b="b" t="t" l="l"/>
            <a:pathLst>
              <a:path h="480267" w="480267">
                <a:moveTo>
                  <a:pt x="0" y="0"/>
                </a:moveTo>
                <a:lnTo>
                  <a:pt x="480268" y="0"/>
                </a:lnTo>
                <a:lnTo>
                  <a:pt x="480268"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0" id="10"/>
          <p:cNvSpPr txBox="true"/>
          <p:nvPr/>
        </p:nvSpPr>
        <p:spPr>
          <a:xfrm rot="0">
            <a:off x="1011045" y="711198"/>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11" id="11"/>
          <p:cNvSpPr txBox="true"/>
          <p:nvPr/>
        </p:nvSpPr>
        <p:spPr>
          <a:xfrm rot="0">
            <a:off x="15107417" y="9541030"/>
            <a:ext cx="2151883"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Maria Waheed</a:t>
            </a:r>
          </a:p>
        </p:txBody>
      </p:sp>
      <p:sp>
        <p:nvSpPr>
          <p:cNvPr name="Freeform 12" id="12"/>
          <p:cNvSpPr/>
          <p:nvPr/>
        </p:nvSpPr>
        <p:spPr>
          <a:xfrm flipH="false" flipV="false" rot="-418351">
            <a:off x="16688151" y="4240031"/>
            <a:ext cx="2494032" cy="4468135"/>
          </a:xfrm>
          <a:custGeom>
            <a:avLst/>
            <a:gdLst/>
            <a:ahLst/>
            <a:cxnLst/>
            <a:rect r="r" b="b" t="t" l="l"/>
            <a:pathLst>
              <a:path h="4468135" w="2494032">
                <a:moveTo>
                  <a:pt x="0" y="0"/>
                </a:moveTo>
                <a:lnTo>
                  <a:pt x="2494032" y="0"/>
                </a:lnTo>
                <a:lnTo>
                  <a:pt x="2494032" y="4468135"/>
                </a:lnTo>
                <a:lnTo>
                  <a:pt x="0" y="44681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3583091">
            <a:off x="-728892" y="6448930"/>
            <a:ext cx="2047158" cy="3667547"/>
          </a:xfrm>
          <a:custGeom>
            <a:avLst/>
            <a:gdLst/>
            <a:ahLst/>
            <a:cxnLst/>
            <a:rect r="r" b="b" t="t" l="l"/>
            <a:pathLst>
              <a:path h="3667547" w="2047158">
                <a:moveTo>
                  <a:pt x="0" y="0"/>
                </a:moveTo>
                <a:lnTo>
                  <a:pt x="2047157" y="0"/>
                </a:lnTo>
                <a:lnTo>
                  <a:pt x="2047157" y="3667546"/>
                </a:lnTo>
                <a:lnTo>
                  <a:pt x="0" y="36675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1864513">
            <a:off x="16339849" y="1513457"/>
            <a:ext cx="1546571" cy="1586966"/>
          </a:xfrm>
          <a:custGeom>
            <a:avLst/>
            <a:gdLst/>
            <a:ahLst/>
            <a:cxnLst/>
            <a:rect r="r" b="b" t="t" l="l"/>
            <a:pathLst>
              <a:path h="1586966" w="1546571">
                <a:moveTo>
                  <a:pt x="0" y="0"/>
                </a:moveTo>
                <a:lnTo>
                  <a:pt x="1546570" y="0"/>
                </a:lnTo>
                <a:lnTo>
                  <a:pt x="1546570" y="1586966"/>
                </a:lnTo>
                <a:lnTo>
                  <a:pt x="0" y="15869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753256" y="3680937"/>
            <a:ext cx="515578" cy="515578"/>
          </a:xfrm>
          <a:custGeom>
            <a:avLst/>
            <a:gdLst/>
            <a:ahLst/>
            <a:cxnLst/>
            <a:rect r="r" b="b" t="t" l="l"/>
            <a:pathLst>
              <a:path h="515578" w="515578">
                <a:moveTo>
                  <a:pt x="0" y="0"/>
                </a:moveTo>
                <a:lnTo>
                  <a:pt x="515578" y="0"/>
                </a:lnTo>
                <a:lnTo>
                  <a:pt x="515578" y="515577"/>
                </a:lnTo>
                <a:lnTo>
                  <a:pt x="0" y="5155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2647985" y="3851139"/>
            <a:ext cx="6197151" cy="4706766"/>
            <a:chOff x="0" y="0"/>
            <a:chExt cx="8262869" cy="6275689"/>
          </a:xfrm>
        </p:grpSpPr>
        <p:grpSp>
          <p:nvGrpSpPr>
            <p:cNvPr name="Group 17" id="17"/>
            <p:cNvGrpSpPr/>
            <p:nvPr/>
          </p:nvGrpSpPr>
          <p:grpSpPr>
            <a:xfrm rot="0">
              <a:off x="0" y="0"/>
              <a:ext cx="8262869" cy="6275689"/>
              <a:chOff x="0" y="0"/>
              <a:chExt cx="1570808" cy="1193036"/>
            </a:xfrm>
          </p:grpSpPr>
          <p:sp>
            <p:nvSpPr>
              <p:cNvPr name="Freeform 18" id="18"/>
              <p:cNvSpPr/>
              <p:nvPr/>
            </p:nvSpPr>
            <p:spPr>
              <a:xfrm flipH="false" flipV="false" rot="0">
                <a:off x="0" y="0"/>
                <a:ext cx="1570808" cy="1193036"/>
              </a:xfrm>
              <a:custGeom>
                <a:avLst/>
                <a:gdLst/>
                <a:ahLst/>
                <a:cxnLst/>
                <a:rect r="r" b="b" t="t" l="l"/>
                <a:pathLst>
                  <a:path h="1193036" w="1570808">
                    <a:moveTo>
                      <a:pt x="31232" y="0"/>
                    </a:moveTo>
                    <a:lnTo>
                      <a:pt x="1539577" y="0"/>
                    </a:lnTo>
                    <a:cubicBezTo>
                      <a:pt x="1556825" y="0"/>
                      <a:pt x="1570808" y="13983"/>
                      <a:pt x="1570808" y="31232"/>
                    </a:cubicBezTo>
                    <a:lnTo>
                      <a:pt x="1570808" y="1161805"/>
                    </a:lnTo>
                    <a:cubicBezTo>
                      <a:pt x="1570808" y="1179053"/>
                      <a:pt x="1556825" y="1193036"/>
                      <a:pt x="1539577" y="1193036"/>
                    </a:cubicBezTo>
                    <a:lnTo>
                      <a:pt x="31232" y="1193036"/>
                    </a:lnTo>
                    <a:cubicBezTo>
                      <a:pt x="13983" y="1193036"/>
                      <a:pt x="0" y="1179053"/>
                      <a:pt x="0" y="1161805"/>
                    </a:cubicBezTo>
                    <a:lnTo>
                      <a:pt x="0" y="31232"/>
                    </a:lnTo>
                    <a:cubicBezTo>
                      <a:pt x="0" y="13983"/>
                      <a:pt x="13983" y="0"/>
                      <a:pt x="31232" y="0"/>
                    </a:cubicBezTo>
                    <a:close/>
                  </a:path>
                </a:pathLst>
              </a:custGeom>
              <a:solidFill>
                <a:srgbClr val="FFFFFF">
                  <a:alpha val="12941"/>
                </a:srgbClr>
              </a:solidFill>
              <a:ln w="38100" cap="rnd">
                <a:solidFill>
                  <a:srgbClr val="1D0E07">
                    <a:alpha val="12941"/>
                  </a:srgbClr>
                </a:solidFill>
                <a:prstDash val="solid"/>
                <a:round/>
              </a:ln>
            </p:spPr>
          </p:sp>
          <p:sp>
            <p:nvSpPr>
              <p:cNvPr name="TextBox 19" id="19"/>
              <p:cNvSpPr txBox="true"/>
              <p:nvPr/>
            </p:nvSpPr>
            <p:spPr>
              <a:xfrm>
                <a:off x="0" y="-38100"/>
                <a:ext cx="1570808" cy="1231136"/>
              </a:xfrm>
              <a:prstGeom prst="rect">
                <a:avLst/>
              </a:prstGeom>
            </p:spPr>
            <p:txBody>
              <a:bodyPr anchor="ctr" rtlCol="false" tIns="52784" lIns="52784" bIns="52784" rIns="52784"/>
              <a:lstStyle/>
              <a:p>
                <a:pPr algn="ctr">
                  <a:lnSpc>
                    <a:spcPts val="2659"/>
                  </a:lnSpc>
                </a:pPr>
              </a:p>
            </p:txBody>
          </p:sp>
        </p:grpSp>
        <p:sp>
          <p:nvSpPr>
            <p:cNvPr name="TextBox 20" id="20"/>
            <p:cNvSpPr txBox="true"/>
            <p:nvPr/>
          </p:nvSpPr>
          <p:spPr>
            <a:xfrm rot="0">
              <a:off x="842153" y="1129008"/>
              <a:ext cx="6578562" cy="5146680"/>
            </a:xfrm>
            <a:prstGeom prst="rect">
              <a:avLst/>
            </a:prstGeom>
          </p:spPr>
          <p:txBody>
            <a:bodyPr anchor="t" rtlCol="false" tIns="0" lIns="0" bIns="0" rIns="0">
              <a:spAutoFit/>
            </a:bodyPr>
            <a:lstStyle/>
            <a:p>
              <a:pPr algn="l" marL="509902" indent="-254951" lvl="1">
                <a:lnSpc>
                  <a:spcPts val="5290"/>
                </a:lnSpc>
                <a:buFont typeface="Arial"/>
                <a:buChar char="•"/>
              </a:pPr>
              <a:r>
                <a:rPr lang="en-US" sz="2361">
                  <a:solidFill>
                    <a:srgbClr val="F0CFC7"/>
                  </a:solidFill>
                  <a:latin typeface="Noto Serif Ethiopic Condensed"/>
                  <a:ea typeface="Noto Serif Ethiopic Condensed"/>
                  <a:cs typeface="Noto Serif Ethiopic Condensed"/>
                  <a:sym typeface="Noto Serif Ethiopic Condensed"/>
                </a:rPr>
                <a:t>Emotional support and guidance</a:t>
              </a:r>
            </a:p>
            <a:p>
              <a:pPr algn="l" marL="509902" indent="-254951" lvl="1">
                <a:lnSpc>
                  <a:spcPts val="5290"/>
                </a:lnSpc>
                <a:buFont typeface="Arial"/>
                <a:buChar char="•"/>
              </a:pPr>
              <a:r>
                <a:rPr lang="en-US" sz="2361">
                  <a:solidFill>
                    <a:srgbClr val="F0CFC7"/>
                  </a:solidFill>
                  <a:latin typeface="Noto Serif Ethiopic Condensed"/>
                  <a:ea typeface="Noto Serif Ethiopic Condensed"/>
                  <a:cs typeface="Noto Serif Ethiopic Condensed"/>
                  <a:sym typeface="Noto Serif Ethiopic Condensed"/>
                </a:rPr>
                <a:t>Feel safe and supported</a:t>
              </a:r>
            </a:p>
            <a:p>
              <a:pPr algn="l" marL="509902" indent="-254951" lvl="1">
                <a:lnSpc>
                  <a:spcPts val="5290"/>
                </a:lnSpc>
                <a:buFont typeface="Arial"/>
                <a:buChar char="•"/>
              </a:pPr>
              <a:r>
                <a:rPr lang="en-US" sz="2361">
                  <a:solidFill>
                    <a:srgbClr val="F0CFC7"/>
                  </a:solidFill>
                  <a:latin typeface="Noto Serif Ethiopic Condensed"/>
                  <a:ea typeface="Noto Serif Ethiopic Condensed"/>
                  <a:cs typeface="Noto Serif Ethiopic Condensed"/>
                  <a:sym typeface="Noto Serif Ethiopic Condensed"/>
                </a:rPr>
                <a:t>Privacy and anonymity</a:t>
              </a:r>
            </a:p>
            <a:p>
              <a:pPr algn="l" marL="509902" indent="-254951" lvl="1">
                <a:lnSpc>
                  <a:spcPts val="5290"/>
                </a:lnSpc>
                <a:buFont typeface="Arial"/>
                <a:buChar char="•"/>
              </a:pPr>
              <a:r>
                <a:rPr lang="en-US" sz="2361">
                  <a:solidFill>
                    <a:srgbClr val="F0CFC7"/>
                  </a:solidFill>
                  <a:latin typeface="Noto Serif Ethiopic Condensed"/>
                  <a:ea typeface="Noto Serif Ethiopic Condensed"/>
                  <a:cs typeface="Noto Serif Ethiopic Condensed"/>
                  <a:sym typeface="Noto Serif Ethiopic Condensed"/>
                </a:rPr>
                <a:t>Calm and stress-free environment</a:t>
              </a:r>
            </a:p>
            <a:p>
              <a:pPr algn="l" marL="509902" indent="-254951" lvl="1">
                <a:lnSpc>
                  <a:spcPts val="5290"/>
                </a:lnSpc>
                <a:buFont typeface="Arial"/>
                <a:buChar char="•"/>
              </a:pPr>
              <a:r>
                <a:rPr lang="en-US" sz="2361">
                  <a:solidFill>
                    <a:srgbClr val="F0CFC7"/>
                  </a:solidFill>
                  <a:latin typeface="Noto Serif Ethiopic Condensed"/>
                  <a:ea typeface="Noto Serif Ethiopic Condensed"/>
                  <a:cs typeface="Noto Serif Ethiopic Condensed"/>
                  <a:sym typeface="Noto Serif Ethiopic Condensed"/>
                </a:rPr>
                <a:t>Encouragement and reassurance</a:t>
              </a:r>
            </a:p>
            <a:p>
              <a:pPr algn="just">
                <a:lnSpc>
                  <a:spcPts val="5290"/>
                </a:lnSpc>
              </a:pPr>
            </a:p>
          </p:txBody>
        </p:sp>
        <p:sp>
          <p:nvSpPr>
            <p:cNvPr name="TextBox 21" id="21"/>
            <p:cNvSpPr txBox="true"/>
            <p:nvPr/>
          </p:nvSpPr>
          <p:spPr>
            <a:xfrm rot="0">
              <a:off x="551874" y="258655"/>
              <a:ext cx="7235149" cy="870094"/>
            </a:xfrm>
            <a:prstGeom prst="rect">
              <a:avLst/>
            </a:prstGeom>
          </p:spPr>
          <p:txBody>
            <a:bodyPr anchor="t" rtlCol="false" tIns="0" lIns="0" bIns="0" rIns="0">
              <a:spAutoFit/>
            </a:bodyPr>
            <a:lstStyle/>
            <a:p>
              <a:pPr algn="ctr">
                <a:lnSpc>
                  <a:spcPts val="6459"/>
                </a:lnSpc>
              </a:pPr>
              <a:r>
                <a:rPr lang="en-US" sz="2883" b="true">
                  <a:solidFill>
                    <a:srgbClr val="3B1B4E"/>
                  </a:solidFill>
                  <a:latin typeface="Noto Serif Ethiopic Condensed Bold"/>
                  <a:ea typeface="Noto Serif Ethiopic Condensed Bold"/>
                  <a:cs typeface="Noto Serif Ethiopic Condensed Bold"/>
                  <a:sym typeface="Noto Serif Ethiopic Condensed Bold"/>
                </a:rPr>
                <a:t> Emotional Needs </a:t>
              </a:r>
            </a:p>
          </p:txBody>
        </p:sp>
      </p:grpSp>
      <p:grpSp>
        <p:nvGrpSpPr>
          <p:cNvPr name="Group 22" id="22"/>
          <p:cNvGrpSpPr/>
          <p:nvPr/>
        </p:nvGrpSpPr>
        <p:grpSpPr>
          <a:xfrm rot="0">
            <a:off x="9521412" y="3809283"/>
            <a:ext cx="6197620" cy="4739098"/>
            <a:chOff x="0" y="0"/>
            <a:chExt cx="8263494" cy="6318797"/>
          </a:xfrm>
        </p:grpSpPr>
        <p:grpSp>
          <p:nvGrpSpPr>
            <p:cNvPr name="Group 23" id="23"/>
            <p:cNvGrpSpPr/>
            <p:nvPr/>
          </p:nvGrpSpPr>
          <p:grpSpPr>
            <a:xfrm rot="0">
              <a:off x="0" y="0"/>
              <a:ext cx="8263494" cy="6316590"/>
              <a:chOff x="0" y="0"/>
              <a:chExt cx="1570927" cy="1200812"/>
            </a:xfrm>
          </p:grpSpPr>
          <p:sp>
            <p:nvSpPr>
              <p:cNvPr name="Freeform 24" id="24"/>
              <p:cNvSpPr/>
              <p:nvPr/>
            </p:nvSpPr>
            <p:spPr>
              <a:xfrm flipH="false" flipV="false" rot="0">
                <a:off x="0" y="0"/>
                <a:ext cx="1570927" cy="1200812"/>
              </a:xfrm>
              <a:custGeom>
                <a:avLst/>
                <a:gdLst/>
                <a:ahLst/>
                <a:cxnLst/>
                <a:rect r="r" b="b" t="t" l="l"/>
                <a:pathLst>
                  <a:path h="1200812" w="1570927">
                    <a:moveTo>
                      <a:pt x="31229" y="0"/>
                    </a:moveTo>
                    <a:lnTo>
                      <a:pt x="1539698" y="0"/>
                    </a:lnTo>
                    <a:cubicBezTo>
                      <a:pt x="1547980" y="0"/>
                      <a:pt x="1555924" y="3290"/>
                      <a:pt x="1561780" y="9147"/>
                    </a:cubicBezTo>
                    <a:cubicBezTo>
                      <a:pt x="1567637" y="15004"/>
                      <a:pt x="1570927" y="22947"/>
                      <a:pt x="1570927" y="31229"/>
                    </a:cubicBezTo>
                    <a:lnTo>
                      <a:pt x="1570927" y="1169583"/>
                    </a:lnTo>
                    <a:cubicBezTo>
                      <a:pt x="1570927" y="1177865"/>
                      <a:pt x="1567637" y="1185808"/>
                      <a:pt x="1561780" y="1191665"/>
                    </a:cubicBezTo>
                    <a:cubicBezTo>
                      <a:pt x="1555924" y="1197522"/>
                      <a:pt x="1547980" y="1200812"/>
                      <a:pt x="1539698" y="1200812"/>
                    </a:cubicBezTo>
                    <a:lnTo>
                      <a:pt x="31229" y="1200812"/>
                    </a:lnTo>
                    <a:cubicBezTo>
                      <a:pt x="22947" y="1200812"/>
                      <a:pt x="15004" y="1197522"/>
                      <a:pt x="9147" y="1191665"/>
                    </a:cubicBezTo>
                    <a:cubicBezTo>
                      <a:pt x="3290" y="1185808"/>
                      <a:pt x="0" y="1177865"/>
                      <a:pt x="0" y="1169583"/>
                    </a:cubicBezTo>
                    <a:lnTo>
                      <a:pt x="0" y="31229"/>
                    </a:lnTo>
                    <a:cubicBezTo>
                      <a:pt x="0" y="22947"/>
                      <a:pt x="3290" y="15004"/>
                      <a:pt x="9147" y="9147"/>
                    </a:cubicBezTo>
                    <a:cubicBezTo>
                      <a:pt x="15004" y="3290"/>
                      <a:pt x="22947" y="0"/>
                      <a:pt x="31229" y="0"/>
                    </a:cubicBezTo>
                    <a:close/>
                  </a:path>
                </a:pathLst>
              </a:custGeom>
              <a:solidFill>
                <a:srgbClr val="FFFFFF">
                  <a:alpha val="12941"/>
                </a:srgbClr>
              </a:solidFill>
              <a:ln w="38100" cap="rnd">
                <a:solidFill>
                  <a:srgbClr val="1D0E07">
                    <a:alpha val="12941"/>
                  </a:srgbClr>
                </a:solidFill>
                <a:prstDash val="solid"/>
                <a:round/>
              </a:ln>
            </p:spPr>
          </p:sp>
          <p:sp>
            <p:nvSpPr>
              <p:cNvPr name="TextBox 25" id="25"/>
              <p:cNvSpPr txBox="true"/>
              <p:nvPr/>
            </p:nvSpPr>
            <p:spPr>
              <a:xfrm>
                <a:off x="0" y="-38100"/>
                <a:ext cx="1570927" cy="1238912"/>
              </a:xfrm>
              <a:prstGeom prst="rect">
                <a:avLst/>
              </a:prstGeom>
            </p:spPr>
            <p:txBody>
              <a:bodyPr anchor="ctr" rtlCol="false" tIns="52784" lIns="52784" bIns="52784" rIns="52784"/>
              <a:lstStyle/>
              <a:p>
                <a:pPr algn="ctr">
                  <a:lnSpc>
                    <a:spcPts val="2659"/>
                  </a:lnSpc>
                </a:pPr>
              </a:p>
            </p:txBody>
          </p:sp>
        </p:grpSp>
        <p:sp>
          <p:nvSpPr>
            <p:cNvPr name="TextBox 26" id="26"/>
            <p:cNvSpPr txBox="true"/>
            <p:nvPr/>
          </p:nvSpPr>
          <p:spPr>
            <a:xfrm rot="0">
              <a:off x="541020" y="299635"/>
              <a:ext cx="7235697" cy="870094"/>
            </a:xfrm>
            <a:prstGeom prst="rect">
              <a:avLst/>
            </a:prstGeom>
          </p:spPr>
          <p:txBody>
            <a:bodyPr anchor="t" rtlCol="false" tIns="0" lIns="0" bIns="0" rIns="0">
              <a:spAutoFit/>
            </a:bodyPr>
            <a:lstStyle/>
            <a:p>
              <a:pPr algn="ctr">
                <a:lnSpc>
                  <a:spcPts val="6459"/>
                </a:lnSpc>
              </a:pPr>
              <a:r>
                <a:rPr lang="en-US" sz="2883" b="true">
                  <a:solidFill>
                    <a:srgbClr val="3B1B4E"/>
                  </a:solidFill>
                  <a:latin typeface="Noto Serif Ethiopic Condensed Bold"/>
                  <a:ea typeface="Noto Serif Ethiopic Condensed Bold"/>
                  <a:cs typeface="Noto Serif Ethiopic Condensed Bold"/>
                  <a:sym typeface="Noto Serif Ethiopic Condensed Bold"/>
                </a:rPr>
                <a:t>Functional Needs</a:t>
              </a:r>
            </a:p>
          </p:txBody>
        </p:sp>
        <p:sp>
          <p:nvSpPr>
            <p:cNvPr name="TextBox 27" id="27"/>
            <p:cNvSpPr txBox="true"/>
            <p:nvPr/>
          </p:nvSpPr>
          <p:spPr>
            <a:xfrm rot="0">
              <a:off x="513898" y="1171809"/>
              <a:ext cx="7235697" cy="5146988"/>
            </a:xfrm>
            <a:prstGeom prst="rect">
              <a:avLst/>
            </a:prstGeom>
          </p:spPr>
          <p:txBody>
            <a:bodyPr anchor="t" rtlCol="false" tIns="0" lIns="0" bIns="0" rIns="0">
              <a:spAutoFit/>
            </a:bodyPr>
            <a:lstStyle/>
            <a:p>
              <a:pPr algn="l" marL="509525" indent="-254762" lvl="1">
                <a:lnSpc>
                  <a:spcPts val="5286"/>
                </a:lnSpc>
                <a:buFont typeface="Arial"/>
                <a:buChar char="•"/>
              </a:pPr>
              <a:r>
                <a:rPr lang="en-US" sz="2360">
                  <a:solidFill>
                    <a:srgbClr val="F0CFC7"/>
                  </a:solidFill>
                  <a:latin typeface="Noto Serif Ethiopic Condensed"/>
                  <a:ea typeface="Noto Serif Ethiopic Condensed"/>
                  <a:cs typeface="Noto Serif Ethiopic Condensed"/>
                  <a:sym typeface="Noto Serif Ethiopic Condensed"/>
                </a:rPr>
                <a:t>Simple and easy interface</a:t>
              </a:r>
            </a:p>
            <a:p>
              <a:pPr algn="l" marL="509525" indent="-254762" lvl="1">
                <a:lnSpc>
                  <a:spcPts val="5286"/>
                </a:lnSpc>
                <a:buFont typeface="Arial"/>
                <a:buChar char="•"/>
              </a:pPr>
              <a:r>
                <a:rPr lang="en-US" sz="2360">
                  <a:solidFill>
                    <a:srgbClr val="F0CFC7"/>
                  </a:solidFill>
                  <a:latin typeface="Noto Serif Ethiopic Condensed"/>
                  <a:ea typeface="Noto Serif Ethiopic Condensed"/>
                  <a:cs typeface="Noto Serif Ethiopic Condensed"/>
                  <a:sym typeface="Noto Serif Ethiopic Condensed"/>
                </a:rPr>
                <a:t>Quick access to help and support</a:t>
              </a:r>
            </a:p>
            <a:p>
              <a:pPr algn="l" marL="509525" indent="-254762" lvl="1">
                <a:lnSpc>
                  <a:spcPts val="5286"/>
                </a:lnSpc>
                <a:buFont typeface="Arial"/>
                <a:buChar char="•"/>
              </a:pPr>
              <a:r>
                <a:rPr lang="en-US" sz="2360">
                  <a:solidFill>
                    <a:srgbClr val="F0CFC7"/>
                  </a:solidFill>
                  <a:latin typeface="Noto Serif Ethiopic Condensed"/>
                  <a:ea typeface="Noto Serif Ethiopic Condensed"/>
                  <a:cs typeface="Noto Serif Ethiopic Condensed"/>
                  <a:sym typeface="Noto Serif Ethiopic Condensed"/>
                </a:rPr>
                <a:t>Journaling and mood tracking tools</a:t>
              </a:r>
            </a:p>
            <a:p>
              <a:pPr algn="l" marL="509525" indent="-254762" lvl="1">
                <a:lnSpc>
                  <a:spcPts val="5286"/>
                </a:lnSpc>
                <a:buFont typeface="Arial"/>
                <a:buChar char="•"/>
              </a:pPr>
              <a:r>
                <a:rPr lang="en-US" sz="2360">
                  <a:solidFill>
                    <a:srgbClr val="F0CFC7"/>
                  </a:solidFill>
                  <a:latin typeface="Noto Serif Ethiopic Condensed"/>
                  <a:ea typeface="Noto Serif Ethiopic Condensed"/>
                  <a:cs typeface="Noto Serif Ethiopic Condensed"/>
                  <a:sym typeface="Noto Serif Ethiopic Condensed"/>
                </a:rPr>
                <a:t>Educational mental health content</a:t>
              </a:r>
            </a:p>
            <a:p>
              <a:pPr algn="l" marL="509525" indent="-254762" lvl="1">
                <a:lnSpc>
                  <a:spcPts val="5286"/>
                </a:lnSpc>
                <a:buFont typeface="Arial"/>
                <a:buChar char="•"/>
              </a:pPr>
              <a:r>
                <a:rPr lang="en-US" sz="2360">
                  <a:solidFill>
                    <a:srgbClr val="F0CFC7"/>
                  </a:solidFill>
                  <a:latin typeface="Noto Serif Ethiopic Condensed"/>
                  <a:ea typeface="Noto Serif Ethiopic Condensed"/>
                  <a:cs typeface="Noto Serif Ethiopic Condensed"/>
                  <a:sym typeface="Noto Serif Ethiopic Condensed"/>
                </a:rPr>
                <a:t>Easy navigation and accessibility</a:t>
              </a:r>
            </a:p>
            <a:p>
              <a:pPr algn="l">
                <a:lnSpc>
                  <a:spcPts val="5286"/>
                </a:lnSpc>
              </a:pPr>
            </a:p>
          </p:txBody>
        </p:sp>
      </p:grpSp>
      <p:sp>
        <p:nvSpPr>
          <p:cNvPr name="Freeform 28" id="28"/>
          <p:cNvSpPr/>
          <p:nvPr/>
        </p:nvSpPr>
        <p:spPr>
          <a:xfrm flipH="false" flipV="false" rot="-1864513">
            <a:off x="1725403" y="9087138"/>
            <a:ext cx="773285" cy="793483"/>
          </a:xfrm>
          <a:custGeom>
            <a:avLst/>
            <a:gdLst/>
            <a:ahLst/>
            <a:cxnLst/>
            <a:rect r="r" b="b" t="t" l="l"/>
            <a:pathLst>
              <a:path h="793483" w="773285">
                <a:moveTo>
                  <a:pt x="0" y="0"/>
                </a:moveTo>
                <a:lnTo>
                  <a:pt x="773286" y="0"/>
                </a:lnTo>
                <a:lnTo>
                  <a:pt x="773286" y="793483"/>
                </a:lnTo>
                <a:lnTo>
                  <a:pt x="0" y="79348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9" id="29"/>
          <p:cNvSpPr txBox="true"/>
          <p:nvPr/>
        </p:nvSpPr>
        <p:spPr>
          <a:xfrm rot="0">
            <a:off x="3555879" y="1685773"/>
            <a:ext cx="11143214" cy="1088715"/>
          </a:xfrm>
          <a:prstGeom prst="rect">
            <a:avLst/>
          </a:prstGeom>
        </p:spPr>
        <p:txBody>
          <a:bodyPr anchor="t" rtlCol="false" tIns="0" lIns="0" bIns="0" rIns="0">
            <a:spAutoFit/>
          </a:bodyPr>
          <a:lstStyle/>
          <a:p>
            <a:pPr algn="ctr">
              <a:lnSpc>
                <a:spcPts val="8065"/>
              </a:lnSpc>
            </a:pPr>
            <a:r>
              <a:rPr lang="en-US" b="true" sz="8490">
                <a:solidFill>
                  <a:srgbClr val="F1D0C7"/>
                </a:solidFill>
                <a:latin typeface="Noto Serif Ethiopic Condensed Bold"/>
                <a:ea typeface="Noto Serif Ethiopic Condensed Bold"/>
                <a:cs typeface="Noto Serif Ethiopic Condensed Bold"/>
                <a:sym typeface="Noto Serif Ethiopic Condensed Bold"/>
              </a:rPr>
              <a:t>USER NEEDS</a:t>
            </a:r>
          </a:p>
        </p:txBody>
      </p:sp>
      <p:sp>
        <p:nvSpPr>
          <p:cNvPr name="TextBox 30" id="30"/>
          <p:cNvSpPr txBox="true"/>
          <p:nvPr/>
        </p:nvSpPr>
        <p:spPr>
          <a:xfrm rot="0">
            <a:off x="4378118" y="2824064"/>
            <a:ext cx="10286587" cy="604219"/>
          </a:xfrm>
          <a:prstGeom prst="rect">
            <a:avLst/>
          </a:prstGeom>
        </p:spPr>
        <p:txBody>
          <a:bodyPr anchor="t" rtlCol="false" tIns="0" lIns="0" bIns="0" rIns="0">
            <a:spAutoFit/>
          </a:bodyPr>
          <a:lstStyle/>
          <a:p>
            <a:pPr algn="l">
              <a:lnSpc>
                <a:spcPts val="5021"/>
              </a:lnSpc>
            </a:pPr>
            <a:r>
              <a:rPr lang="en-US" sz="3586">
                <a:solidFill>
                  <a:srgbClr val="FFFFFF"/>
                </a:solidFill>
                <a:latin typeface="Noto Serif Ethiopic Condensed"/>
                <a:ea typeface="Noto Serif Ethiopic Condensed"/>
                <a:cs typeface="Noto Serif Ethiopic Condensed"/>
                <a:sym typeface="Noto Serif Ethiopic Condensed"/>
              </a:rPr>
              <a:t>Requ</a:t>
            </a:r>
            <a:r>
              <a:rPr lang="en-US" sz="3586">
                <a:solidFill>
                  <a:srgbClr val="FFFFFF"/>
                </a:solidFill>
                <a:latin typeface="Noto Serif Ethiopic Condensed"/>
                <a:ea typeface="Noto Serif Ethiopic Condensed"/>
                <a:cs typeface="Noto Serif Ethiopic Condensed"/>
                <a:sym typeface="Noto Serif Ethiopic Condensed"/>
              </a:rPr>
              <a:t>irements identified from user research findings</a:t>
            </a:r>
          </a:p>
        </p:txBody>
      </p:sp>
      <p:sp>
        <p:nvSpPr>
          <p:cNvPr name="TextBox 31" id="31"/>
          <p:cNvSpPr txBox="true"/>
          <p:nvPr/>
        </p:nvSpPr>
        <p:spPr>
          <a:xfrm rot="0">
            <a:off x="4178668" y="8607907"/>
            <a:ext cx="9930664" cy="422608"/>
          </a:xfrm>
          <a:prstGeom prst="rect">
            <a:avLst/>
          </a:prstGeom>
        </p:spPr>
        <p:txBody>
          <a:bodyPr anchor="t" rtlCol="false" tIns="0" lIns="0" bIns="0" rIns="0">
            <a:spAutoFit/>
          </a:bodyPr>
          <a:lstStyle/>
          <a:p>
            <a:pPr algn="ctr">
              <a:lnSpc>
                <a:spcPts val="3481"/>
              </a:lnSpc>
            </a:pPr>
            <a:r>
              <a:rPr lang="en-US" sz="2486">
                <a:solidFill>
                  <a:srgbClr val="FFFFFF"/>
                </a:solidFill>
                <a:latin typeface="Noto Serif Ethiopic Condensed"/>
                <a:ea typeface="Noto Serif Ethiopic Condensed"/>
                <a:cs typeface="Noto Serif Ethiopic Condensed"/>
                <a:sym typeface="Noto Serif Ethiopic Condensed"/>
              </a:rPr>
              <a:t>These user needs guided our design decisions and feature development.</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grpSp>
        <p:nvGrpSpPr>
          <p:cNvPr name="Group 2" id="2"/>
          <p:cNvGrpSpPr/>
          <p:nvPr/>
        </p:nvGrpSpPr>
        <p:grpSpPr>
          <a:xfrm rot="0">
            <a:off x="2930334" y="1028700"/>
            <a:ext cx="12395385" cy="8523231"/>
            <a:chOff x="0" y="0"/>
            <a:chExt cx="3141891" cy="2160406"/>
          </a:xfrm>
        </p:grpSpPr>
        <p:sp>
          <p:nvSpPr>
            <p:cNvPr name="Freeform 3" id="3"/>
            <p:cNvSpPr/>
            <p:nvPr/>
          </p:nvSpPr>
          <p:spPr>
            <a:xfrm flipH="false" flipV="false" rot="0">
              <a:off x="0" y="0"/>
              <a:ext cx="3141891" cy="2160406"/>
            </a:xfrm>
            <a:custGeom>
              <a:avLst/>
              <a:gdLst/>
              <a:ahLst/>
              <a:cxnLst/>
              <a:rect r="r" b="b" t="t" l="l"/>
              <a:pathLst>
                <a:path h="2160406" w="3141891">
                  <a:moveTo>
                    <a:pt x="15615" y="0"/>
                  </a:moveTo>
                  <a:lnTo>
                    <a:pt x="3126276" y="0"/>
                  </a:lnTo>
                  <a:cubicBezTo>
                    <a:pt x="3134900" y="0"/>
                    <a:pt x="3141891" y="6991"/>
                    <a:pt x="3141891" y="15615"/>
                  </a:cubicBezTo>
                  <a:lnTo>
                    <a:pt x="3141891" y="2144791"/>
                  </a:lnTo>
                  <a:cubicBezTo>
                    <a:pt x="3141891" y="2153415"/>
                    <a:pt x="3134900" y="2160406"/>
                    <a:pt x="3126276" y="2160406"/>
                  </a:cubicBezTo>
                  <a:lnTo>
                    <a:pt x="15615" y="2160406"/>
                  </a:lnTo>
                  <a:cubicBezTo>
                    <a:pt x="6991" y="2160406"/>
                    <a:pt x="0" y="2153415"/>
                    <a:pt x="0" y="2144791"/>
                  </a:cubicBezTo>
                  <a:lnTo>
                    <a:pt x="0" y="15615"/>
                  </a:lnTo>
                  <a:cubicBezTo>
                    <a:pt x="0" y="6991"/>
                    <a:pt x="6991" y="0"/>
                    <a:pt x="15615" y="0"/>
                  </a:cubicBezTo>
                  <a:close/>
                </a:path>
              </a:pathLst>
            </a:custGeom>
            <a:solidFill>
              <a:srgbClr val="FFFFFF">
                <a:alpha val="12941"/>
              </a:srgbClr>
            </a:solidFill>
            <a:ln w="38100" cap="rnd">
              <a:solidFill>
                <a:srgbClr val="FFFFFF">
                  <a:alpha val="12941"/>
                </a:srgbClr>
              </a:solidFill>
              <a:prstDash val="solid"/>
              <a:round/>
            </a:ln>
          </p:spPr>
        </p:sp>
        <p:sp>
          <p:nvSpPr>
            <p:cNvPr name="TextBox 4" id="4"/>
            <p:cNvSpPr txBox="true"/>
            <p:nvPr/>
          </p:nvSpPr>
          <p:spPr>
            <a:xfrm>
              <a:off x="0" y="-38100"/>
              <a:ext cx="3141891" cy="2198506"/>
            </a:xfrm>
            <a:prstGeom prst="rect">
              <a:avLst/>
            </a:prstGeom>
          </p:spPr>
          <p:txBody>
            <a:bodyPr anchor="ctr" rtlCol="false" tIns="52784" lIns="52784" bIns="52784" rIns="52784"/>
            <a:lstStyle/>
            <a:p>
              <a:pPr algn="ctr">
                <a:lnSpc>
                  <a:spcPts val="2659"/>
                </a:lnSpc>
              </a:pPr>
            </a:p>
          </p:txBody>
        </p:sp>
      </p:grpSp>
      <p:sp>
        <p:nvSpPr>
          <p:cNvPr name="TextBox 5" id="5"/>
          <p:cNvSpPr txBox="true"/>
          <p:nvPr/>
        </p:nvSpPr>
        <p:spPr>
          <a:xfrm rot="0">
            <a:off x="4112054" y="1487024"/>
            <a:ext cx="10063891" cy="993462"/>
          </a:xfrm>
          <a:prstGeom prst="rect">
            <a:avLst/>
          </a:prstGeom>
        </p:spPr>
        <p:txBody>
          <a:bodyPr anchor="t" rtlCol="false" tIns="0" lIns="0" bIns="0" rIns="0">
            <a:spAutoFit/>
          </a:bodyPr>
          <a:lstStyle/>
          <a:p>
            <a:pPr algn="l">
              <a:lnSpc>
                <a:spcPts val="7495"/>
              </a:lnSpc>
            </a:pPr>
            <a:r>
              <a:rPr lang="en-US" sz="7890" b="true">
                <a:solidFill>
                  <a:srgbClr val="D9A3A2"/>
                </a:solidFill>
                <a:latin typeface="Noto Serif Ethiopic Condensed Bold"/>
                <a:ea typeface="Noto Serif Ethiopic Condensed Bold"/>
                <a:cs typeface="Noto Serif Ethiopic Condensed Bold"/>
                <a:sym typeface="Noto Serif Ethiopic Condensed Bold"/>
              </a:rPr>
              <a:t>DESIGN IMPLICATION</a:t>
            </a:r>
          </a:p>
        </p:txBody>
      </p:sp>
      <p:sp>
        <p:nvSpPr>
          <p:cNvPr name="Freeform 6" id="6"/>
          <p:cNvSpPr/>
          <p:nvPr/>
        </p:nvSpPr>
        <p:spPr>
          <a:xfrm flipH="false" flipV="false" rot="0">
            <a:off x="15762325" y="886800"/>
            <a:ext cx="1715278" cy="283801"/>
          </a:xfrm>
          <a:custGeom>
            <a:avLst/>
            <a:gdLst/>
            <a:ahLst/>
            <a:cxnLst/>
            <a:rect r="r" b="b" t="t" l="l"/>
            <a:pathLst>
              <a:path h="283801" w="1715278">
                <a:moveTo>
                  <a:pt x="0" y="0"/>
                </a:moveTo>
                <a:lnTo>
                  <a:pt x="1715278" y="0"/>
                </a:lnTo>
                <a:lnTo>
                  <a:pt x="1715278" y="283800"/>
                </a:lnTo>
                <a:lnTo>
                  <a:pt x="0" y="283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596974" y="-1194328"/>
            <a:ext cx="3502048" cy="1916575"/>
          </a:xfrm>
          <a:custGeom>
            <a:avLst/>
            <a:gdLst/>
            <a:ahLst/>
            <a:cxnLst/>
            <a:rect r="r" b="b" t="t" l="l"/>
            <a:pathLst>
              <a:path h="1916575" w="3502048">
                <a:moveTo>
                  <a:pt x="0" y="0"/>
                </a:moveTo>
                <a:lnTo>
                  <a:pt x="3502048" y="0"/>
                </a:lnTo>
                <a:lnTo>
                  <a:pt x="3502048" y="1916576"/>
                </a:lnTo>
                <a:lnTo>
                  <a:pt x="0" y="1916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336045" y="9797676"/>
            <a:ext cx="5570466" cy="3048564"/>
          </a:xfrm>
          <a:custGeom>
            <a:avLst/>
            <a:gdLst/>
            <a:ahLst/>
            <a:cxnLst/>
            <a:rect r="r" b="b" t="t" l="l"/>
            <a:pathLst>
              <a:path h="3048564" w="5570466">
                <a:moveTo>
                  <a:pt x="0" y="0"/>
                </a:moveTo>
                <a:lnTo>
                  <a:pt x="5570466" y="0"/>
                </a:lnTo>
                <a:lnTo>
                  <a:pt x="5570466" y="3048564"/>
                </a:lnTo>
                <a:lnTo>
                  <a:pt x="0" y="304856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3935812" y="241981"/>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1858888" y="9611040"/>
            <a:ext cx="480267" cy="480267"/>
          </a:xfrm>
          <a:custGeom>
            <a:avLst/>
            <a:gdLst/>
            <a:ahLst/>
            <a:cxnLst/>
            <a:rect r="r" b="b" t="t" l="l"/>
            <a:pathLst>
              <a:path h="480267" w="480267">
                <a:moveTo>
                  <a:pt x="0" y="0"/>
                </a:moveTo>
                <a:lnTo>
                  <a:pt x="480268" y="0"/>
                </a:lnTo>
                <a:lnTo>
                  <a:pt x="480268"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418351">
            <a:off x="16659576" y="4240031"/>
            <a:ext cx="2494032" cy="4468135"/>
          </a:xfrm>
          <a:custGeom>
            <a:avLst/>
            <a:gdLst/>
            <a:ahLst/>
            <a:cxnLst/>
            <a:rect r="r" b="b" t="t" l="l"/>
            <a:pathLst>
              <a:path h="4468135" w="2494032">
                <a:moveTo>
                  <a:pt x="0" y="0"/>
                </a:moveTo>
                <a:lnTo>
                  <a:pt x="2494032" y="0"/>
                </a:lnTo>
                <a:lnTo>
                  <a:pt x="2494032" y="4468135"/>
                </a:lnTo>
                <a:lnTo>
                  <a:pt x="0" y="446813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864513">
            <a:off x="15840592" y="1809555"/>
            <a:ext cx="1546571" cy="1586966"/>
          </a:xfrm>
          <a:custGeom>
            <a:avLst/>
            <a:gdLst/>
            <a:ahLst/>
            <a:cxnLst/>
            <a:rect r="r" b="b" t="t" l="l"/>
            <a:pathLst>
              <a:path h="1586966" w="1546571">
                <a:moveTo>
                  <a:pt x="0" y="0"/>
                </a:moveTo>
                <a:lnTo>
                  <a:pt x="1546570" y="0"/>
                </a:lnTo>
                <a:lnTo>
                  <a:pt x="1546570" y="1586966"/>
                </a:lnTo>
                <a:lnTo>
                  <a:pt x="0" y="158696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753256" y="3680937"/>
            <a:ext cx="515578" cy="515578"/>
          </a:xfrm>
          <a:custGeom>
            <a:avLst/>
            <a:gdLst/>
            <a:ahLst/>
            <a:cxnLst/>
            <a:rect r="r" b="b" t="t" l="l"/>
            <a:pathLst>
              <a:path h="515578" w="515578">
                <a:moveTo>
                  <a:pt x="0" y="0"/>
                </a:moveTo>
                <a:lnTo>
                  <a:pt x="515578" y="0"/>
                </a:lnTo>
                <a:lnTo>
                  <a:pt x="515578" y="515577"/>
                </a:lnTo>
                <a:lnTo>
                  <a:pt x="0" y="5155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1864513">
            <a:off x="1614259" y="8861558"/>
            <a:ext cx="773285" cy="793483"/>
          </a:xfrm>
          <a:custGeom>
            <a:avLst/>
            <a:gdLst/>
            <a:ahLst/>
            <a:cxnLst/>
            <a:rect r="r" b="b" t="t" l="l"/>
            <a:pathLst>
              <a:path h="793483" w="773285">
                <a:moveTo>
                  <a:pt x="0" y="0"/>
                </a:moveTo>
                <a:lnTo>
                  <a:pt x="773285" y="0"/>
                </a:lnTo>
                <a:lnTo>
                  <a:pt x="773285" y="793484"/>
                </a:lnTo>
                <a:lnTo>
                  <a:pt x="0" y="79348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aphicFrame>
        <p:nvGraphicFramePr>
          <p:cNvPr name="Table 15" id="15"/>
          <p:cNvGraphicFramePr>
            <a:graphicFrameLocks noGrp="true"/>
          </p:cNvGraphicFramePr>
          <p:nvPr/>
        </p:nvGraphicFramePr>
        <p:xfrm>
          <a:off x="3994918" y="3226945"/>
          <a:ext cx="10298164" cy="5923951"/>
        </p:xfrm>
        <a:graphic>
          <a:graphicData uri="http://schemas.openxmlformats.org/drawingml/2006/table">
            <a:tbl>
              <a:tblPr/>
              <a:tblGrid>
                <a:gridCol w="5149082"/>
                <a:gridCol w="5149082"/>
              </a:tblGrid>
              <a:tr h="824452">
                <a:tc>
                  <a:txBody>
                    <a:bodyPr anchor="t" rtlCol="false"/>
                    <a:lstStyle/>
                    <a:p>
                      <a:pPr algn="ctr">
                        <a:lnSpc>
                          <a:spcPts val="2659"/>
                        </a:lnSpc>
                        <a:defRPr/>
                      </a:pPr>
                      <a:r>
                        <a:rPr lang="en-US" sz="1899" b="true">
                          <a:solidFill>
                            <a:srgbClr val="FFFFFF"/>
                          </a:solidFill>
                          <a:latin typeface="Inter Bold"/>
                          <a:ea typeface="Inter Bold"/>
                          <a:cs typeface="Inter Bold"/>
                          <a:sym typeface="Inter Bold"/>
                        </a:rPr>
                        <a:t>User Need</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D9A3A2"/>
                    </a:solidFill>
                  </a:tcPr>
                </a:tc>
                <a:tc>
                  <a:txBody>
                    <a:bodyPr anchor="t" rtlCol="false"/>
                    <a:lstStyle/>
                    <a:p>
                      <a:pPr algn="ctr">
                        <a:lnSpc>
                          <a:spcPts val="2659"/>
                        </a:lnSpc>
                        <a:defRPr/>
                      </a:pPr>
                      <a:r>
                        <a:rPr lang="en-US" sz="1899" b="true">
                          <a:solidFill>
                            <a:srgbClr val="FFFFFF"/>
                          </a:solidFill>
                          <a:latin typeface="Inter Bold"/>
                          <a:ea typeface="Inter Bold"/>
                          <a:cs typeface="Inter Bold"/>
                          <a:sym typeface="Inter Bold"/>
                        </a:rPr>
                        <a:t>Design Solution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D9A3A2"/>
                    </a:solidFill>
                  </a:tcPr>
                </a:tc>
              </a:tr>
              <a:tr h="822259">
                <a:tc>
                  <a:txBody>
                    <a:bodyPr anchor="t" rtlCol="false"/>
                    <a:lstStyle/>
                    <a:p>
                      <a:pPr algn="ctr">
                        <a:lnSpc>
                          <a:spcPts val="2659"/>
                        </a:lnSpc>
                        <a:defRPr/>
                      </a:pPr>
                      <a:r>
                        <a:rPr lang="en-US" sz="1899">
                          <a:solidFill>
                            <a:srgbClr val="FFFFFF"/>
                          </a:solidFill>
                          <a:latin typeface="Noto Serif Ethiopic Condensed"/>
                          <a:ea typeface="Noto Serif Ethiopic Condensed"/>
                          <a:cs typeface="Noto Serif Ethiopic Condensed"/>
                          <a:sym typeface="Noto Serif Ethiopic Condensed"/>
                        </a:rPr>
                        <a:t>Simple interface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Noto Serif Ethiopic Condensed"/>
                          <a:ea typeface="Noto Serif Ethiopic Condensed"/>
                          <a:cs typeface="Noto Serif Ethiopic Condensed"/>
                          <a:sym typeface="Noto Serif Ethiopic Condensed"/>
                        </a:rPr>
                        <a:t>Minimalist UI design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55448">
                <a:tc>
                  <a:txBody>
                    <a:bodyPr anchor="t" rtlCol="false"/>
                    <a:lstStyle/>
                    <a:p>
                      <a:pPr algn="ctr">
                        <a:lnSpc>
                          <a:spcPts val="2659"/>
                        </a:lnSpc>
                        <a:defRPr/>
                      </a:pPr>
                      <a:r>
                        <a:rPr lang="en-US" sz="1899">
                          <a:solidFill>
                            <a:srgbClr val="FFFFFF"/>
                          </a:solidFill>
                          <a:latin typeface="Noto Serif Ethiopic Condensed"/>
                          <a:ea typeface="Noto Serif Ethiopic Condensed"/>
                          <a:cs typeface="Noto Serif Ethiopic Condensed"/>
                          <a:sym typeface="Noto Serif Ethiopic Condensed"/>
                        </a:rPr>
                        <a:t>Privacy</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Noto Serif Ethiopic Condensed"/>
                          <a:ea typeface="Noto Serif Ethiopic Condensed"/>
                          <a:cs typeface="Noto Serif Ethiopic Condensed"/>
                          <a:sym typeface="Noto Serif Ethiopic Condensed"/>
                        </a:rPr>
                        <a:t>Anonymous and secure features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55448">
                <a:tc>
                  <a:txBody>
                    <a:bodyPr anchor="t" rtlCol="false"/>
                    <a:lstStyle/>
                    <a:p>
                      <a:pPr algn="ctr">
                        <a:lnSpc>
                          <a:spcPts val="2659"/>
                        </a:lnSpc>
                        <a:defRPr/>
                      </a:pPr>
                      <a:r>
                        <a:rPr lang="en-US" sz="1899">
                          <a:solidFill>
                            <a:srgbClr val="FFFFFF"/>
                          </a:solidFill>
                          <a:latin typeface="Noto Serif Ethiopic Condensed"/>
                          <a:ea typeface="Noto Serif Ethiopic Condensed"/>
                          <a:cs typeface="Noto Serif Ethiopic Condensed"/>
                          <a:sym typeface="Noto Serif Ethiopic Condensed"/>
                        </a:rPr>
                        <a:t>Quick access to help</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Noto Serif Ethiopic Condensed"/>
                          <a:ea typeface="Noto Serif Ethiopic Condensed"/>
                          <a:cs typeface="Noto Serif Ethiopic Condensed"/>
                          <a:sym typeface="Noto Serif Ethiopic Condensed"/>
                        </a:rPr>
                        <a:t>One-tap emergency and support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55448">
                <a:tc>
                  <a:txBody>
                    <a:bodyPr anchor="t" rtlCol="false"/>
                    <a:lstStyle/>
                    <a:p>
                      <a:pPr algn="ctr">
                        <a:lnSpc>
                          <a:spcPts val="2659"/>
                        </a:lnSpc>
                        <a:defRPr/>
                      </a:pPr>
                      <a:r>
                        <a:rPr lang="en-US" sz="1899">
                          <a:solidFill>
                            <a:srgbClr val="FFFFFF"/>
                          </a:solidFill>
                          <a:latin typeface="Noto Serif Ethiopic Condensed"/>
                          <a:ea typeface="Noto Serif Ethiopic Condensed"/>
                          <a:cs typeface="Noto Serif Ethiopic Condensed"/>
                          <a:sym typeface="Noto Serif Ethiopic Condensed"/>
                        </a:rPr>
                        <a:t>Emotional support</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Noto Serif Ethiopic Condensed"/>
                          <a:ea typeface="Noto Serif Ethiopic Condensed"/>
                          <a:cs typeface="Noto Serif Ethiopic Condensed"/>
                          <a:sym typeface="Noto Serif Ethiopic Condensed"/>
                        </a:rPr>
                        <a:t>Journaling and support cards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55448">
                <a:tc>
                  <a:txBody>
                    <a:bodyPr anchor="t" rtlCol="false"/>
                    <a:lstStyle/>
                    <a:p>
                      <a:pPr algn="ctr">
                        <a:lnSpc>
                          <a:spcPts val="2659"/>
                        </a:lnSpc>
                        <a:defRPr/>
                      </a:pPr>
                      <a:r>
                        <a:rPr lang="en-US" sz="1899">
                          <a:solidFill>
                            <a:srgbClr val="FFFFFF"/>
                          </a:solidFill>
                          <a:latin typeface="Noto Serif Ethiopic Condensed"/>
                          <a:ea typeface="Noto Serif Ethiopic Condensed"/>
                          <a:cs typeface="Noto Serif Ethiopic Condensed"/>
                          <a:sym typeface="Noto Serif Ethiopic Condensed"/>
                        </a:rPr>
                        <a:t>Reduce stress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Noto Serif Ethiopic Condensed"/>
                          <a:ea typeface="Noto Serif Ethiopic Condensed"/>
                          <a:cs typeface="Noto Serif Ethiopic Condensed"/>
                          <a:sym typeface="Noto Serif Ethiopic Condensed"/>
                        </a:rPr>
                        <a:t>Calm colors and glassmorphism design</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r h="855448">
                <a:tc>
                  <a:txBody>
                    <a:bodyPr anchor="t" rtlCol="false"/>
                    <a:lstStyle/>
                    <a:p>
                      <a:pPr algn="ctr">
                        <a:lnSpc>
                          <a:spcPts val="2659"/>
                        </a:lnSpc>
                        <a:defRPr/>
                      </a:pPr>
                      <a:r>
                        <a:rPr lang="en-US" sz="1899">
                          <a:solidFill>
                            <a:srgbClr val="FFFFFF"/>
                          </a:solidFill>
                          <a:latin typeface="Noto Serif Ethiopic Condensed"/>
                          <a:ea typeface="Noto Serif Ethiopic Condensed"/>
                          <a:cs typeface="Noto Serif Ethiopic Condensed"/>
                          <a:sym typeface="Noto Serif Ethiopic Condensed"/>
                        </a:rPr>
                        <a:t>Guidance</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c>
                  <a:txBody>
                    <a:bodyPr anchor="t" rtlCol="false"/>
                    <a:lstStyle/>
                    <a:p>
                      <a:pPr algn="ctr">
                        <a:lnSpc>
                          <a:spcPts val="2659"/>
                        </a:lnSpc>
                        <a:defRPr/>
                      </a:pPr>
                      <a:r>
                        <a:rPr lang="en-US" sz="1899">
                          <a:solidFill>
                            <a:srgbClr val="FFFFFF"/>
                          </a:solidFill>
                          <a:latin typeface="Noto Serif Ethiopic Condensed"/>
                          <a:ea typeface="Noto Serif Ethiopic Condensed"/>
                          <a:cs typeface="Noto Serif Ethiopic Condensed"/>
                          <a:sym typeface="Noto Serif Ethiopic Condensed"/>
                        </a:rPr>
                        <a:t>Educational content and resources</a:t>
                      </a:r>
                      <a:endParaRPr lang="en-US" sz="1100"/>
                    </a:p>
                  </a:txBody>
                  <a:tcPr marL="190500" marR="190500" marT="190500" marB="190500" anchor="ctr">
                    <a:lnL cmpd="sng" algn="ctr" cap="flat" w="38100">
                      <a:solidFill>
                        <a:srgbClr val="FFFFFF"/>
                      </a:solidFill>
                      <a:prstDash val="solid"/>
                      <a:round/>
                      <a:headEnd type="none" w="med" len="med"/>
                      <a:tailEnd type="none" w="med" len="med"/>
                    </a:lnL>
                    <a:lnR cmpd="sng" algn="ctr" cap="flat" w="381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tcPr>
                </a:tc>
              </a:tr>
            </a:tbl>
          </a:graphicData>
        </a:graphic>
      </p:graphicFrame>
      <p:sp>
        <p:nvSpPr>
          <p:cNvPr name="TextBox 16" id="16"/>
          <p:cNvSpPr txBox="true"/>
          <p:nvPr/>
        </p:nvSpPr>
        <p:spPr>
          <a:xfrm rot="0">
            <a:off x="1268834" y="533704"/>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17" id="17"/>
          <p:cNvSpPr txBox="true"/>
          <p:nvPr/>
        </p:nvSpPr>
        <p:spPr>
          <a:xfrm rot="0">
            <a:off x="15325720" y="9541030"/>
            <a:ext cx="2151883"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Maria Waheed</a:t>
            </a:r>
          </a:p>
        </p:txBody>
      </p:sp>
      <p:sp>
        <p:nvSpPr>
          <p:cNvPr name="TextBox 18" id="18"/>
          <p:cNvSpPr txBox="true"/>
          <p:nvPr/>
        </p:nvSpPr>
        <p:spPr>
          <a:xfrm rot="0">
            <a:off x="4160719" y="2413811"/>
            <a:ext cx="9966563" cy="620729"/>
          </a:xfrm>
          <a:prstGeom prst="rect">
            <a:avLst/>
          </a:prstGeom>
        </p:spPr>
        <p:txBody>
          <a:bodyPr anchor="t" rtlCol="false" tIns="0" lIns="0" bIns="0" rIns="0">
            <a:spAutoFit/>
          </a:bodyPr>
          <a:lstStyle/>
          <a:p>
            <a:pPr algn="l">
              <a:lnSpc>
                <a:spcPts val="5161"/>
              </a:lnSpc>
            </a:pPr>
            <a:r>
              <a:rPr lang="en-US" sz="3686">
                <a:solidFill>
                  <a:srgbClr val="FFFFFF"/>
                </a:solidFill>
                <a:latin typeface="Noto Serif Ethiopic Condensed"/>
                <a:ea typeface="Noto Serif Ethiopic Condensed"/>
                <a:cs typeface="Noto Serif Ethiopic Condensed"/>
                <a:sym typeface="Noto Serif Ethiopic Condensed"/>
              </a:rPr>
              <a:t>H</a:t>
            </a:r>
            <a:r>
              <a:rPr lang="en-US" sz="3686">
                <a:solidFill>
                  <a:srgbClr val="FFFFFF"/>
                </a:solidFill>
                <a:latin typeface="Noto Serif Ethiopic Condensed"/>
                <a:ea typeface="Noto Serif Ethiopic Condensed"/>
                <a:cs typeface="Noto Serif Ethiopic Condensed"/>
                <a:sym typeface="Noto Serif Ethiopic Condensed"/>
              </a:rPr>
              <a:t>ow user research influenced our design decisions</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Freeform 2" id="2"/>
          <p:cNvSpPr/>
          <p:nvPr/>
        </p:nvSpPr>
        <p:spPr>
          <a:xfrm flipH="false" flipV="false" rot="0">
            <a:off x="15544022" y="1570762"/>
            <a:ext cx="1715278" cy="283801"/>
          </a:xfrm>
          <a:custGeom>
            <a:avLst/>
            <a:gdLst/>
            <a:ahLst/>
            <a:cxnLst/>
            <a:rect r="r" b="b" t="t" l="l"/>
            <a:pathLst>
              <a:path h="283801" w="1715278">
                <a:moveTo>
                  <a:pt x="0" y="0"/>
                </a:moveTo>
                <a:lnTo>
                  <a:pt x="1715278" y="0"/>
                </a:lnTo>
                <a:lnTo>
                  <a:pt x="1715278" y="283800"/>
                </a:lnTo>
                <a:lnTo>
                  <a:pt x="0" y="283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0" y="2652970"/>
            <a:ext cx="18288000" cy="7077690"/>
          </a:xfrm>
          <a:custGeom>
            <a:avLst/>
            <a:gdLst/>
            <a:ahLst/>
            <a:cxnLst/>
            <a:rect r="r" b="b" t="t" l="l"/>
            <a:pathLst>
              <a:path h="7077690" w="18288000">
                <a:moveTo>
                  <a:pt x="0" y="0"/>
                </a:moveTo>
                <a:lnTo>
                  <a:pt x="18288000" y="0"/>
                </a:lnTo>
                <a:lnTo>
                  <a:pt x="18288000" y="7077690"/>
                </a:lnTo>
                <a:lnTo>
                  <a:pt x="0" y="7077690"/>
                </a:lnTo>
                <a:lnTo>
                  <a:pt x="0" y="0"/>
                </a:lnTo>
                <a:close/>
              </a:path>
            </a:pathLst>
          </a:custGeom>
          <a:blipFill>
            <a:blip r:embed="rId4"/>
            <a:stretch>
              <a:fillRect l="-4657" t="-9920" r="-7335" b="-20661"/>
            </a:stretch>
          </a:blipFill>
        </p:spPr>
      </p:sp>
      <p:sp>
        <p:nvSpPr>
          <p:cNvPr name="Freeform 4" id="4"/>
          <p:cNvSpPr/>
          <p:nvPr/>
        </p:nvSpPr>
        <p:spPr>
          <a:xfrm flipH="false" flipV="false" rot="-1864513">
            <a:off x="16998107" y="4173036"/>
            <a:ext cx="522386" cy="536030"/>
          </a:xfrm>
          <a:custGeom>
            <a:avLst/>
            <a:gdLst/>
            <a:ahLst/>
            <a:cxnLst/>
            <a:rect r="r" b="b" t="t" l="l"/>
            <a:pathLst>
              <a:path h="536030" w="522386">
                <a:moveTo>
                  <a:pt x="0" y="0"/>
                </a:moveTo>
                <a:lnTo>
                  <a:pt x="522386" y="0"/>
                </a:lnTo>
                <a:lnTo>
                  <a:pt x="522386" y="536030"/>
                </a:lnTo>
                <a:lnTo>
                  <a:pt x="0" y="5360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864513">
            <a:off x="6479006" y="6197548"/>
            <a:ext cx="773285" cy="793483"/>
          </a:xfrm>
          <a:custGeom>
            <a:avLst/>
            <a:gdLst/>
            <a:ahLst/>
            <a:cxnLst/>
            <a:rect r="r" b="b" t="t" l="l"/>
            <a:pathLst>
              <a:path h="793483" w="773285">
                <a:moveTo>
                  <a:pt x="0" y="0"/>
                </a:moveTo>
                <a:lnTo>
                  <a:pt x="773286" y="0"/>
                </a:lnTo>
                <a:lnTo>
                  <a:pt x="773286" y="793483"/>
                </a:lnTo>
                <a:lnTo>
                  <a:pt x="0" y="79348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6" id="6"/>
          <p:cNvGrpSpPr/>
          <p:nvPr/>
        </p:nvGrpSpPr>
        <p:grpSpPr>
          <a:xfrm rot="0">
            <a:off x="3049605" y="3436523"/>
            <a:ext cx="13110070" cy="5387344"/>
            <a:chOff x="0" y="0"/>
            <a:chExt cx="3452858" cy="1418889"/>
          </a:xfrm>
        </p:grpSpPr>
        <p:sp>
          <p:nvSpPr>
            <p:cNvPr name="Freeform 7" id="7"/>
            <p:cNvSpPr/>
            <p:nvPr/>
          </p:nvSpPr>
          <p:spPr>
            <a:xfrm flipH="false" flipV="false" rot="0">
              <a:off x="0" y="0"/>
              <a:ext cx="3452858" cy="1418889"/>
            </a:xfrm>
            <a:custGeom>
              <a:avLst/>
              <a:gdLst/>
              <a:ahLst/>
              <a:cxnLst/>
              <a:rect r="r" b="b" t="t" l="l"/>
              <a:pathLst>
                <a:path h="1418889" w="3452858">
                  <a:moveTo>
                    <a:pt x="12992" y="0"/>
                  </a:moveTo>
                  <a:lnTo>
                    <a:pt x="3439866" y="0"/>
                  </a:lnTo>
                  <a:cubicBezTo>
                    <a:pt x="3443312" y="0"/>
                    <a:pt x="3446616" y="1369"/>
                    <a:pt x="3449053" y="3805"/>
                  </a:cubicBezTo>
                  <a:cubicBezTo>
                    <a:pt x="3451489" y="6242"/>
                    <a:pt x="3452858" y="9546"/>
                    <a:pt x="3452858" y="12992"/>
                  </a:cubicBezTo>
                  <a:lnTo>
                    <a:pt x="3452858" y="1405897"/>
                  </a:lnTo>
                  <a:cubicBezTo>
                    <a:pt x="3452858" y="1413072"/>
                    <a:pt x="3447041" y="1418889"/>
                    <a:pt x="3439866" y="1418889"/>
                  </a:cubicBezTo>
                  <a:lnTo>
                    <a:pt x="12992" y="1418889"/>
                  </a:lnTo>
                  <a:cubicBezTo>
                    <a:pt x="9546" y="1418889"/>
                    <a:pt x="6242" y="1417520"/>
                    <a:pt x="3805" y="1415084"/>
                  </a:cubicBezTo>
                  <a:cubicBezTo>
                    <a:pt x="1369" y="1412647"/>
                    <a:pt x="0" y="1409343"/>
                    <a:pt x="0" y="1405897"/>
                  </a:cubicBezTo>
                  <a:lnTo>
                    <a:pt x="0" y="12992"/>
                  </a:lnTo>
                  <a:cubicBezTo>
                    <a:pt x="0" y="9546"/>
                    <a:pt x="1369" y="6242"/>
                    <a:pt x="3805" y="3805"/>
                  </a:cubicBezTo>
                  <a:cubicBezTo>
                    <a:pt x="6242" y="1369"/>
                    <a:pt x="9546" y="0"/>
                    <a:pt x="12992" y="0"/>
                  </a:cubicBezTo>
                  <a:close/>
                </a:path>
              </a:pathLst>
            </a:custGeom>
            <a:solidFill>
              <a:srgbClr val="542D5C"/>
            </a:solidFill>
            <a:ln w="47625" cap="rnd">
              <a:solidFill>
                <a:srgbClr val="F0CFC7"/>
              </a:solidFill>
              <a:prstDash val="solid"/>
              <a:round/>
            </a:ln>
          </p:spPr>
        </p:sp>
        <p:sp>
          <p:nvSpPr>
            <p:cNvPr name="TextBox 8" id="8"/>
            <p:cNvSpPr txBox="true"/>
            <p:nvPr/>
          </p:nvSpPr>
          <p:spPr>
            <a:xfrm>
              <a:off x="0" y="57150"/>
              <a:ext cx="3452858" cy="1361739"/>
            </a:xfrm>
            <a:prstGeom prst="rect">
              <a:avLst/>
            </a:prstGeom>
          </p:spPr>
          <p:txBody>
            <a:bodyPr anchor="ctr" rtlCol="false" tIns="50800" lIns="50800" bIns="50800" rIns="50800"/>
            <a:lstStyle/>
            <a:p>
              <a:pPr algn="ctr">
                <a:lnSpc>
                  <a:spcPts val="2375"/>
                </a:lnSpc>
              </a:pPr>
            </a:p>
          </p:txBody>
        </p:sp>
      </p:grpSp>
      <p:grpSp>
        <p:nvGrpSpPr>
          <p:cNvPr name="Group 9" id="9"/>
          <p:cNvGrpSpPr/>
          <p:nvPr/>
        </p:nvGrpSpPr>
        <p:grpSpPr>
          <a:xfrm rot="0">
            <a:off x="3813667" y="4076681"/>
            <a:ext cx="5389231" cy="4098274"/>
            <a:chOff x="0" y="0"/>
            <a:chExt cx="1419386" cy="1079381"/>
          </a:xfrm>
        </p:grpSpPr>
        <p:sp>
          <p:nvSpPr>
            <p:cNvPr name="Freeform 10" id="10"/>
            <p:cNvSpPr/>
            <p:nvPr/>
          </p:nvSpPr>
          <p:spPr>
            <a:xfrm flipH="false" flipV="false" rot="0">
              <a:off x="0" y="0"/>
              <a:ext cx="1419386" cy="1079381"/>
            </a:xfrm>
            <a:custGeom>
              <a:avLst/>
              <a:gdLst/>
              <a:ahLst/>
              <a:cxnLst/>
              <a:rect r="r" b="b" t="t" l="l"/>
              <a:pathLst>
                <a:path h="1079381" w="1419386">
                  <a:moveTo>
                    <a:pt x="24421" y="0"/>
                  </a:moveTo>
                  <a:lnTo>
                    <a:pt x="1394965" y="0"/>
                  </a:lnTo>
                  <a:cubicBezTo>
                    <a:pt x="1408452" y="0"/>
                    <a:pt x="1419386" y="10934"/>
                    <a:pt x="1419386" y="24421"/>
                  </a:cubicBezTo>
                  <a:lnTo>
                    <a:pt x="1419386" y="1054959"/>
                  </a:lnTo>
                  <a:cubicBezTo>
                    <a:pt x="1419386" y="1061436"/>
                    <a:pt x="1416813" y="1067648"/>
                    <a:pt x="1412233" y="1072228"/>
                  </a:cubicBezTo>
                  <a:cubicBezTo>
                    <a:pt x="1407653" y="1076808"/>
                    <a:pt x="1401441" y="1079381"/>
                    <a:pt x="1394965" y="1079381"/>
                  </a:cubicBezTo>
                  <a:lnTo>
                    <a:pt x="24421" y="1079381"/>
                  </a:lnTo>
                  <a:cubicBezTo>
                    <a:pt x="17944" y="1079381"/>
                    <a:pt x="11733" y="1076808"/>
                    <a:pt x="7153" y="1072228"/>
                  </a:cubicBezTo>
                  <a:cubicBezTo>
                    <a:pt x="2573" y="1067648"/>
                    <a:pt x="0" y="1061436"/>
                    <a:pt x="0" y="1054959"/>
                  </a:cubicBezTo>
                  <a:lnTo>
                    <a:pt x="0" y="24421"/>
                  </a:lnTo>
                  <a:cubicBezTo>
                    <a:pt x="0" y="17944"/>
                    <a:pt x="2573" y="11733"/>
                    <a:pt x="7153" y="7153"/>
                  </a:cubicBezTo>
                  <a:cubicBezTo>
                    <a:pt x="11733" y="2573"/>
                    <a:pt x="17944" y="0"/>
                    <a:pt x="24421" y="0"/>
                  </a:cubicBezTo>
                  <a:close/>
                </a:path>
              </a:pathLst>
            </a:custGeom>
            <a:gradFill rotWithShape="true">
              <a:gsLst>
                <a:gs pos="0">
                  <a:srgbClr val="542D5C">
                    <a:alpha val="100000"/>
                  </a:srgbClr>
                </a:gs>
                <a:gs pos="100000">
                  <a:srgbClr val="C87D96">
                    <a:alpha val="100000"/>
                  </a:srgbClr>
                </a:gs>
              </a:gsLst>
              <a:lin ang="5400000"/>
            </a:gradFill>
            <a:ln w="38100" cap="sq">
              <a:solidFill>
                <a:srgbClr val="F0CFC7"/>
              </a:solidFill>
              <a:prstDash val="solid"/>
              <a:miter/>
            </a:ln>
          </p:spPr>
        </p:sp>
        <p:sp>
          <p:nvSpPr>
            <p:cNvPr name="TextBox 11" id="11"/>
            <p:cNvSpPr txBox="true"/>
            <p:nvPr/>
          </p:nvSpPr>
          <p:spPr>
            <a:xfrm>
              <a:off x="0" y="57150"/>
              <a:ext cx="1419386" cy="1022231"/>
            </a:xfrm>
            <a:prstGeom prst="rect">
              <a:avLst/>
            </a:prstGeom>
          </p:spPr>
          <p:txBody>
            <a:bodyPr anchor="ctr" rtlCol="false" tIns="50800" lIns="50800" bIns="50800" rIns="50800"/>
            <a:lstStyle/>
            <a:p>
              <a:pPr algn="ctr">
                <a:lnSpc>
                  <a:spcPts val="2375"/>
                </a:lnSpc>
              </a:pPr>
            </a:p>
          </p:txBody>
        </p:sp>
      </p:grpSp>
      <p:grpSp>
        <p:nvGrpSpPr>
          <p:cNvPr name="Group 12" id="12"/>
          <p:cNvGrpSpPr/>
          <p:nvPr/>
        </p:nvGrpSpPr>
        <p:grpSpPr>
          <a:xfrm rot="0">
            <a:off x="9755202" y="4056370"/>
            <a:ext cx="5620367" cy="4138895"/>
            <a:chOff x="0" y="0"/>
            <a:chExt cx="1480261" cy="1090079"/>
          </a:xfrm>
        </p:grpSpPr>
        <p:sp>
          <p:nvSpPr>
            <p:cNvPr name="Freeform 13" id="13"/>
            <p:cNvSpPr/>
            <p:nvPr/>
          </p:nvSpPr>
          <p:spPr>
            <a:xfrm flipH="false" flipV="false" rot="0">
              <a:off x="0" y="0"/>
              <a:ext cx="1480261" cy="1090079"/>
            </a:xfrm>
            <a:custGeom>
              <a:avLst/>
              <a:gdLst/>
              <a:ahLst/>
              <a:cxnLst/>
              <a:rect r="r" b="b" t="t" l="l"/>
              <a:pathLst>
                <a:path h="1090079" w="1480261">
                  <a:moveTo>
                    <a:pt x="23417" y="0"/>
                  </a:moveTo>
                  <a:lnTo>
                    <a:pt x="1456844" y="0"/>
                  </a:lnTo>
                  <a:cubicBezTo>
                    <a:pt x="1463055" y="0"/>
                    <a:pt x="1469011" y="2467"/>
                    <a:pt x="1473403" y="6859"/>
                  </a:cubicBezTo>
                  <a:cubicBezTo>
                    <a:pt x="1477794" y="11250"/>
                    <a:pt x="1480261" y="17206"/>
                    <a:pt x="1480261" y="23417"/>
                  </a:cubicBezTo>
                  <a:lnTo>
                    <a:pt x="1480261" y="1066662"/>
                  </a:lnTo>
                  <a:cubicBezTo>
                    <a:pt x="1480261" y="1079595"/>
                    <a:pt x="1469777" y="1090079"/>
                    <a:pt x="1456844" y="1090079"/>
                  </a:cubicBezTo>
                  <a:lnTo>
                    <a:pt x="23417" y="1090079"/>
                  </a:lnTo>
                  <a:cubicBezTo>
                    <a:pt x="10484" y="1090079"/>
                    <a:pt x="0" y="1079595"/>
                    <a:pt x="0" y="1066662"/>
                  </a:cubicBezTo>
                  <a:lnTo>
                    <a:pt x="0" y="23417"/>
                  </a:lnTo>
                  <a:cubicBezTo>
                    <a:pt x="0" y="10484"/>
                    <a:pt x="10484" y="0"/>
                    <a:pt x="23417" y="0"/>
                  </a:cubicBezTo>
                  <a:close/>
                </a:path>
              </a:pathLst>
            </a:custGeom>
            <a:gradFill rotWithShape="true">
              <a:gsLst>
                <a:gs pos="0">
                  <a:srgbClr val="542D5C">
                    <a:alpha val="100000"/>
                  </a:srgbClr>
                </a:gs>
                <a:gs pos="100000">
                  <a:srgbClr val="C87D96">
                    <a:alpha val="100000"/>
                  </a:srgbClr>
                </a:gs>
              </a:gsLst>
              <a:lin ang="5400000"/>
            </a:gradFill>
            <a:ln w="38100" cap="sq">
              <a:solidFill>
                <a:srgbClr val="F0CFC7"/>
              </a:solidFill>
              <a:prstDash val="solid"/>
              <a:miter/>
            </a:ln>
          </p:spPr>
        </p:sp>
        <p:sp>
          <p:nvSpPr>
            <p:cNvPr name="TextBox 14" id="14"/>
            <p:cNvSpPr txBox="true"/>
            <p:nvPr/>
          </p:nvSpPr>
          <p:spPr>
            <a:xfrm>
              <a:off x="0" y="57150"/>
              <a:ext cx="1480261" cy="1032929"/>
            </a:xfrm>
            <a:prstGeom prst="rect">
              <a:avLst/>
            </a:prstGeom>
          </p:spPr>
          <p:txBody>
            <a:bodyPr anchor="ctr" rtlCol="false" tIns="50800" lIns="50800" bIns="50800" rIns="50800"/>
            <a:lstStyle/>
            <a:p>
              <a:pPr algn="ctr">
                <a:lnSpc>
                  <a:spcPts val="2375"/>
                </a:lnSpc>
              </a:pPr>
            </a:p>
          </p:txBody>
        </p:sp>
      </p:grpSp>
      <p:sp>
        <p:nvSpPr>
          <p:cNvPr name="TextBox 15" id="15"/>
          <p:cNvSpPr txBox="true"/>
          <p:nvPr/>
        </p:nvSpPr>
        <p:spPr>
          <a:xfrm rot="0">
            <a:off x="15544022" y="9771418"/>
            <a:ext cx="2513932"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Blessed Dendere</a:t>
            </a:r>
          </a:p>
        </p:txBody>
      </p:sp>
      <p:sp>
        <p:nvSpPr>
          <p:cNvPr name="TextBox 16" id="16"/>
          <p:cNvSpPr txBox="true"/>
          <p:nvPr/>
        </p:nvSpPr>
        <p:spPr>
          <a:xfrm rot="0">
            <a:off x="4590042" y="1442788"/>
            <a:ext cx="10029196" cy="1562100"/>
          </a:xfrm>
          <a:prstGeom prst="rect">
            <a:avLst/>
          </a:prstGeom>
        </p:spPr>
        <p:txBody>
          <a:bodyPr anchor="t" rtlCol="false" tIns="0" lIns="0" bIns="0" rIns="0">
            <a:spAutoFit/>
          </a:bodyPr>
          <a:lstStyle/>
          <a:p>
            <a:pPr algn="ctr">
              <a:lnSpc>
                <a:spcPts val="11685"/>
              </a:lnSpc>
            </a:pPr>
            <a:r>
              <a:rPr lang="en-US" sz="12300">
                <a:solidFill>
                  <a:srgbClr val="F0CFC7"/>
                </a:solidFill>
                <a:latin typeface="Noto Serif Ethiopic Condensed"/>
                <a:ea typeface="Noto Serif Ethiopic Condensed"/>
                <a:cs typeface="Noto Serif Ethiopic Condensed"/>
                <a:sym typeface="Noto Serif Ethiopic Condensed"/>
              </a:rPr>
              <a:t>PERSONAS</a:t>
            </a:r>
          </a:p>
        </p:txBody>
      </p:sp>
      <p:sp>
        <p:nvSpPr>
          <p:cNvPr name="TextBox 17" id="17"/>
          <p:cNvSpPr txBox="true"/>
          <p:nvPr/>
        </p:nvSpPr>
        <p:spPr>
          <a:xfrm rot="0">
            <a:off x="4051181" y="4501489"/>
            <a:ext cx="4914204" cy="3060699"/>
          </a:xfrm>
          <a:prstGeom prst="rect">
            <a:avLst/>
          </a:prstGeom>
        </p:spPr>
        <p:txBody>
          <a:bodyPr anchor="t" rtlCol="false" tIns="0" lIns="0" bIns="0" rIns="0">
            <a:spAutoFit/>
          </a:bodyPr>
          <a:lstStyle/>
          <a:p>
            <a:pPr algn="ctr">
              <a:lnSpc>
                <a:spcPts val="3500"/>
              </a:lnSpc>
              <a:spcBef>
                <a:spcPct val="0"/>
              </a:spcBef>
            </a:pPr>
            <a:r>
              <a:rPr lang="en-US" sz="2500">
                <a:solidFill>
                  <a:srgbClr val="FFFFFF"/>
                </a:solidFill>
                <a:latin typeface="Noto Serif Ethiopic Condensed"/>
                <a:ea typeface="Noto Serif Ethiopic Condensed"/>
                <a:cs typeface="Noto Serif Ethiopic Condensed"/>
                <a:sym typeface="Noto Serif Ethiopic Condensed"/>
              </a:rPr>
              <a:t>Personas are fictional characters created based on our research to represent the different user types that might use our app. Creating personas will helped us understand the users’ needs, experiences, behaviors and goals.</a:t>
            </a:r>
          </a:p>
        </p:txBody>
      </p:sp>
      <p:sp>
        <p:nvSpPr>
          <p:cNvPr name="TextBox 18" id="18"/>
          <p:cNvSpPr txBox="true"/>
          <p:nvPr/>
        </p:nvSpPr>
        <p:spPr>
          <a:xfrm rot="0">
            <a:off x="10020605" y="4383901"/>
            <a:ext cx="5089559" cy="3498849"/>
          </a:xfrm>
          <a:prstGeom prst="rect">
            <a:avLst/>
          </a:prstGeom>
        </p:spPr>
        <p:txBody>
          <a:bodyPr anchor="t" rtlCol="false" tIns="0" lIns="0" bIns="0" rIns="0">
            <a:spAutoFit/>
          </a:bodyPr>
          <a:lstStyle/>
          <a:p>
            <a:pPr algn="ctr">
              <a:lnSpc>
                <a:spcPts val="3500"/>
              </a:lnSpc>
              <a:spcBef>
                <a:spcPct val="0"/>
              </a:spcBef>
            </a:pPr>
            <a:r>
              <a:rPr lang="en-US" sz="2500">
                <a:solidFill>
                  <a:srgbClr val="FFFFFF"/>
                </a:solidFill>
                <a:latin typeface="Noto Serif Ethiopic Condensed"/>
                <a:ea typeface="Noto Serif Ethiopic Condensed"/>
                <a:cs typeface="Noto Serif Ethiopic Condensed"/>
                <a:sym typeface="Noto Serif Ethiopic Condensed"/>
              </a:rPr>
              <a:t>Our two main personas were created to represent individuals mental states under the influence of workplace experience, motivation, and inequality, especially in areas where individuals are subject to pressure-filled, fast-paced, and performance-based environments. </a:t>
            </a:r>
          </a:p>
        </p:txBody>
      </p:sp>
      <p:sp>
        <p:nvSpPr>
          <p:cNvPr name="TextBox 19" id="19"/>
          <p:cNvSpPr txBox="true"/>
          <p:nvPr/>
        </p:nvSpPr>
        <p:spPr>
          <a:xfrm rot="0">
            <a:off x="1268834" y="1085850"/>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9F1"/>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8756809" cy="10287000"/>
          </a:xfrm>
          <a:custGeom>
            <a:avLst/>
            <a:gdLst/>
            <a:ahLst/>
            <a:cxnLst/>
            <a:rect r="r" b="b" t="t" l="l"/>
            <a:pathLst>
              <a:path h="10287000" w="8756809">
                <a:moveTo>
                  <a:pt x="0" y="0"/>
                </a:moveTo>
                <a:lnTo>
                  <a:pt x="8756809" y="0"/>
                </a:lnTo>
                <a:lnTo>
                  <a:pt x="8756809"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8756809" y="0"/>
            <a:ext cx="9531191" cy="10287000"/>
            <a:chOff x="0" y="0"/>
            <a:chExt cx="2510273" cy="2709333"/>
          </a:xfrm>
        </p:grpSpPr>
        <p:sp>
          <p:nvSpPr>
            <p:cNvPr name="Freeform 4" id="4"/>
            <p:cNvSpPr/>
            <p:nvPr/>
          </p:nvSpPr>
          <p:spPr>
            <a:xfrm flipH="false" flipV="false" rot="0">
              <a:off x="0" y="0"/>
              <a:ext cx="2510273" cy="2709333"/>
            </a:xfrm>
            <a:custGeom>
              <a:avLst/>
              <a:gdLst/>
              <a:ahLst/>
              <a:cxnLst/>
              <a:rect r="r" b="b" t="t" l="l"/>
              <a:pathLst>
                <a:path h="2709333" w="2510273">
                  <a:moveTo>
                    <a:pt x="0" y="0"/>
                  </a:moveTo>
                  <a:lnTo>
                    <a:pt x="2510273" y="0"/>
                  </a:lnTo>
                  <a:lnTo>
                    <a:pt x="2510273" y="2709333"/>
                  </a:lnTo>
                  <a:lnTo>
                    <a:pt x="0" y="2709333"/>
                  </a:lnTo>
                  <a:close/>
                </a:path>
              </a:pathLst>
            </a:custGeom>
            <a:solidFill>
              <a:srgbClr val="43214A"/>
            </a:solidFill>
          </p:spPr>
        </p:sp>
        <p:sp>
          <p:nvSpPr>
            <p:cNvPr name="TextBox 5" id="5"/>
            <p:cNvSpPr txBox="true"/>
            <p:nvPr/>
          </p:nvSpPr>
          <p:spPr>
            <a:xfrm>
              <a:off x="0" y="57150"/>
              <a:ext cx="2510273" cy="2652183"/>
            </a:xfrm>
            <a:prstGeom prst="rect">
              <a:avLst/>
            </a:prstGeom>
          </p:spPr>
          <p:txBody>
            <a:bodyPr anchor="ctr" rtlCol="false" tIns="50800" lIns="50800" bIns="50800" rIns="50800"/>
            <a:lstStyle/>
            <a:p>
              <a:pPr algn="ctr">
                <a:lnSpc>
                  <a:spcPts val="2375"/>
                </a:lnSpc>
              </a:pPr>
            </a:p>
          </p:txBody>
        </p:sp>
      </p:grpSp>
      <p:sp>
        <p:nvSpPr>
          <p:cNvPr name="TextBox 6" id="6"/>
          <p:cNvSpPr txBox="true"/>
          <p:nvPr/>
        </p:nvSpPr>
        <p:spPr>
          <a:xfrm rot="0">
            <a:off x="8756809" y="1129075"/>
            <a:ext cx="9531191" cy="4652871"/>
          </a:xfrm>
          <a:prstGeom prst="rect">
            <a:avLst/>
          </a:prstGeom>
        </p:spPr>
        <p:txBody>
          <a:bodyPr anchor="t" rtlCol="false" tIns="0" lIns="0" bIns="0" rIns="0">
            <a:spAutoFit/>
          </a:bodyPr>
          <a:lstStyle/>
          <a:p>
            <a:pPr algn="ctr">
              <a:lnSpc>
                <a:spcPts val="16800"/>
              </a:lnSpc>
              <a:spcBef>
                <a:spcPct val="0"/>
              </a:spcBef>
            </a:pPr>
            <a:r>
              <a:rPr lang="en-US" b="true" sz="12000">
                <a:solidFill>
                  <a:srgbClr val="F0CFC7"/>
                </a:solidFill>
                <a:latin typeface="Noto Serif Ethiopic Condensed Bold"/>
                <a:ea typeface="Noto Serif Ethiopic Condensed Bold"/>
                <a:cs typeface="Noto Serif Ethiopic Condensed Bold"/>
                <a:sym typeface="Noto Serif Ethiopic Condensed Bold"/>
              </a:rPr>
              <a:t> Tinashe K. Dube</a:t>
            </a:r>
          </a:p>
          <a:p>
            <a:pPr algn="ctr">
              <a:lnSpc>
                <a:spcPts val="2635"/>
              </a:lnSpc>
              <a:spcBef>
                <a:spcPct val="0"/>
              </a:spcBef>
            </a:pPr>
          </a:p>
        </p:txBody>
      </p:sp>
      <p:sp>
        <p:nvSpPr>
          <p:cNvPr name="TextBox 7" id="7"/>
          <p:cNvSpPr txBox="true"/>
          <p:nvPr/>
        </p:nvSpPr>
        <p:spPr>
          <a:xfrm rot="0">
            <a:off x="10514030" y="5686697"/>
            <a:ext cx="6016749" cy="2120265"/>
          </a:xfrm>
          <a:prstGeom prst="rect">
            <a:avLst/>
          </a:prstGeom>
        </p:spPr>
        <p:txBody>
          <a:bodyPr anchor="t" rtlCol="false" tIns="0" lIns="0" bIns="0" rIns="0">
            <a:spAutoFit/>
          </a:bodyPr>
          <a:lstStyle/>
          <a:p>
            <a:pPr algn="ctr">
              <a:lnSpc>
                <a:spcPts val="7420"/>
              </a:lnSpc>
              <a:spcBef>
                <a:spcPct val="0"/>
              </a:spcBef>
            </a:pPr>
            <a:r>
              <a:rPr lang="en-US" sz="5300">
                <a:solidFill>
                  <a:srgbClr val="F0CFC7"/>
                </a:solidFill>
                <a:latin typeface="Noto Serif Ethiopic Condensed"/>
                <a:ea typeface="Noto Serif Ethiopic Condensed"/>
                <a:cs typeface="Noto Serif Ethiopic Condensed"/>
                <a:sym typeface="Noto Serif Ethiopic Condensed"/>
              </a:rPr>
              <a:t>The Graphic Designer</a:t>
            </a:r>
          </a:p>
          <a:p>
            <a:pPr algn="ctr">
              <a:lnSpc>
                <a:spcPts val="9799"/>
              </a:lnSpc>
              <a:spcBef>
                <a:spcPct val="0"/>
              </a:spcBef>
            </a:pPr>
          </a:p>
        </p:txBody>
      </p:sp>
      <p:sp>
        <p:nvSpPr>
          <p:cNvPr name="TextBox 8" id="8"/>
          <p:cNvSpPr txBox="true"/>
          <p:nvPr/>
        </p:nvSpPr>
        <p:spPr>
          <a:xfrm rot="0">
            <a:off x="9610008" y="6792096"/>
            <a:ext cx="7824793" cy="1313179"/>
          </a:xfrm>
          <a:prstGeom prst="rect">
            <a:avLst/>
          </a:prstGeom>
        </p:spPr>
        <p:txBody>
          <a:bodyPr anchor="t" rtlCol="false" tIns="0" lIns="0" bIns="0" rIns="0">
            <a:spAutoFit/>
          </a:bodyPr>
          <a:lstStyle/>
          <a:p>
            <a:pPr algn="ctr">
              <a:lnSpc>
                <a:spcPts val="5320"/>
              </a:lnSpc>
              <a:spcBef>
                <a:spcPct val="0"/>
              </a:spcBef>
            </a:pPr>
            <a:r>
              <a:rPr lang="en-US" sz="3800">
                <a:solidFill>
                  <a:srgbClr val="FFFFFF"/>
                </a:solidFill>
                <a:latin typeface="Noto Serif Ethiopic Condensed"/>
                <a:ea typeface="Noto Serif Ethiopic Condensed"/>
                <a:cs typeface="Noto Serif Ethiopic Condensed"/>
                <a:sym typeface="Noto Serif Ethiopic Condensed"/>
              </a:rPr>
              <a:t>“Losing my job w</a:t>
            </a:r>
            <a:r>
              <a:rPr lang="en-US" sz="3800">
                <a:solidFill>
                  <a:srgbClr val="FFFFFF"/>
                </a:solidFill>
                <a:latin typeface="Noto Serif Ethiopic Condensed"/>
                <a:ea typeface="Noto Serif Ethiopic Condensed"/>
                <a:cs typeface="Noto Serif Ethiopic Condensed"/>
                <a:sym typeface="Noto Serif Ethiopic Condensed"/>
              </a:rPr>
              <a:t>ould be the ruin of me”</a:t>
            </a:r>
          </a:p>
        </p:txBody>
      </p:sp>
      <p:sp>
        <p:nvSpPr>
          <p:cNvPr name="TextBox 9" id="9"/>
          <p:cNvSpPr txBox="true"/>
          <p:nvPr/>
        </p:nvSpPr>
        <p:spPr>
          <a:xfrm rot="0">
            <a:off x="12465399" y="9680721"/>
            <a:ext cx="5398536" cy="317502"/>
          </a:xfrm>
          <a:prstGeom prst="rect">
            <a:avLst/>
          </a:prstGeom>
        </p:spPr>
        <p:txBody>
          <a:bodyPr anchor="t" rtlCol="false" tIns="0" lIns="0" bIns="0" rIns="0">
            <a:spAutoFit/>
          </a:bodyPr>
          <a:lstStyle/>
          <a:p>
            <a:pPr algn="l">
              <a:lnSpc>
                <a:spcPts val="2375"/>
              </a:lnSpc>
            </a:pPr>
            <a:r>
              <a:rPr lang="en-US" sz="2500">
                <a:solidFill>
                  <a:srgbClr val="F1D0C7"/>
                </a:solidFill>
                <a:latin typeface="Noto Serif Ethiopic Condensed"/>
                <a:ea typeface="Noto Serif Ethiopic Condensed"/>
                <a:cs typeface="Noto Serif Ethiopic Condensed"/>
                <a:sym typeface="Noto Serif Ethiopic Condensed"/>
              </a:rPr>
              <a:t>Human Computer Interface ICTE 3002</a:t>
            </a:r>
          </a:p>
        </p:txBody>
      </p:sp>
      <p:sp>
        <p:nvSpPr>
          <p:cNvPr name="TextBox 10" id="10"/>
          <p:cNvSpPr txBox="true"/>
          <p:nvPr/>
        </p:nvSpPr>
        <p:spPr>
          <a:xfrm rot="0">
            <a:off x="15285229" y="9248775"/>
            <a:ext cx="2426306" cy="317502"/>
          </a:xfrm>
          <a:prstGeom prst="rect">
            <a:avLst/>
          </a:prstGeom>
        </p:spPr>
        <p:txBody>
          <a:bodyPr anchor="t" rtlCol="false" tIns="0" lIns="0" bIns="0" rIns="0">
            <a:spAutoFit/>
          </a:bodyPr>
          <a:lstStyle/>
          <a:p>
            <a:pPr algn="l">
              <a:lnSpc>
                <a:spcPts val="2375"/>
              </a:lnSpc>
            </a:pPr>
            <a:r>
              <a:rPr lang="en-US" sz="2500">
                <a:solidFill>
                  <a:srgbClr val="F1D0C7"/>
                </a:solidFill>
                <a:latin typeface="Noto Serif Ethiopic Condensed"/>
                <a:ea typeface="Noto Serif Ethiopic Condensed"/>
                <a:cs typeface="Noto Serif Ethiopic Condensed"/>
                <a:sym typeface="Noto Serif Ethiopic Condensed"/>
              </a:rPr>
              <a:t>Blessed Dendere</a:t>
            </a:r>
          </a:p>
        </p:txBody>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9F1"/>
        </a:solidFill>
      </p:bgPr>
    </p:bg>
    <p:spTree>
      <p:nvGrpSpPr>
        <p:cNvPr id="1" name=""/>
        <p:cNvGrpSpPr/>
        <p:nvPr/>
      </p:nvGrpSpPr>
      <p:grpSpPr>
        <a:xfrm>
          <a:off x="0" y="0"/>
          <a:ext cx="0" cy="0"/>
          <a:chOff x="0" y="0"/>
          <a:chExt cx="0" cy="0"/>
        </a:xfrm>
      </p:grpSpPr>
      <p:sp>
        <p:nvSpPr>
          <p:cNvPr name="Freeform 2" id="2"/>
          <p:cNvSpPr/>
          <p:nvPr/>
        </p:nvSpPr>
        <p:spPr>
          <a:xfrm flipH="false" flipV="false" rot="0">
            <a:off x="9994106" y="0"/>
            <a:ext cx="8293894" cy="10287000"/>
          </a:xfrm>
          <a:custGeom>
            <a:avLst/>
            <a:gdLst/>
            <a:ahLst/>
            <a:cxnLst/>
            <a:rect r="r" b="b" t="t" l="l"/>
            <a:pathLst>
              <a:path h="10287000" w="8293894">
                <a:moveTo>
                  <a:pt x="0" y="0"/>
                </a:moveTo>
                <a:lnTo>
                  <a:pt x="8293894" y="0"/>
                </a:lnTo>
                <a:lnTo>
                  <a:pt x="8293894"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107802"/>
            <a:ext cx="9994106" cy="10287000"/>
            <a:chOff x="0" y="0"/>
            <a:chExt cx="2632193" cy="2709333"/>
          </a:xfrm>
        </p:grpSpPr>
        <p:sp>
          <p:nvSpPr>
            <p:cNvPr name="Freeform 4" id="4"/>
            <p:cNvSpPr/>
            <p:nvPr/>
          </p:nvSpPr>
          <p:spPr>
            <a:xfrm flipH="false" flipV="false" rot="0">
              <a:off x="0" y="0"/>
              <a:ext cx="2632193" cy="2709333"/>
            </a:xfrm>
            <a:custGeom>
              <a:avLst/>
              <a:gdLst/>
              <a:ahLst/>
              <a:cxnLst/>
              <a:rect r="r" b="b" t="t" l="l"/>
              <a:pathLst>
                <a:path h="2709333" w="2632193">
                  <a:moveTo>
                    <a:pt x="0" y="0"/>
                  </a:moveTo>
                  <a:lnTo>
                    <a:pt x="2632193" y="0"/>
                  </a:lnTo>
                  <a:lnTo>
                    <a:pt x="2632193" y="2709333"/>
                  </a:lnTo>
                  <a:lnTo>
                    <a:pt x="0" y="2709333"/>
                  </a:lnTo>
                  <a:close/>
                </a:path>
              </a:pathLst>
            </a:custGeom>
            <a:solidFill>
              <a:srgbClr val="542D5C"/>
            </a:solidFill>
          </p:spPr>
        </p:sp>
        <p:sp>
          <p:nvSpPr>
            <p:cNvPr name="TextBox 5" id="5"/>
            <p:cNvSpPr txBox="true"/>
            <p:nvPr/>
          </p:nvSpPr>
          <p:spPr>
            <a:xfrm>
              <a:off x="0" y="57150"/>
              <a:ext cx="2632193" cy="2652183"/>
            </a:xfrm>
            <a:prstGeom prst="rect">
              <a:avLst/>
            </a:prstGeom>
          </p:spPr>
          <p:txBody>
            <a:bodyPr anchor="ctr" rtlCol="false" tIns="50800" lIns="50800" bIns="50800" rIns="50800"/>
            <a:lstStyle/>
            <a:p>
              <a:pPr algn="ctr">
                <a:lnSpc>
                  <a:spcPts val="2375"/>
                </a:lnSpc>
              </a:pPr>
            </a:p>
          </p:txBody>
        </p:sp>
      </p:grpSp>
      <p:sp>
        <p:nvSpPr>
          <p:cNvPr name="TextBox 6" id="6"/>
          <p:cNvSpPr txBox="true"/>
          <p:nvPr/>
        </p:nvSpPr>
        <p:spPr>
          <a:xfrm rot="0">
            <a:off x="914400" y="1273176"/>
            <a:ext cx="8600121" cy="7677150"/>
          </a:xfrm>
          <a:prstGeom prst="rect">
            <a:avLst/>
          </a:prstGeom>
        </p:spPr>
        <p:txBody>
          <a:bodyPr anchor="t" rtlCol="false" tIns="0" lIns="0" bIns="0" rIns="0">
            <a:spAutoFit/>
          </a:bodyPr>
          <a:lstStyle/>
          <a:p>
            <a:pPr algn="l">
              <a:lnSpc>
                <a:spcPts val="4200"/>
              </a:lnSpc>
            </a:pPr>
            <a:r>
              <a:rPr lang="en-US" sz="3000" b="true">
                <a:solidFill>
                  <a:srgbClr val="F0CFC7"/>
                </a:solidFill>
                <a:latin typeface="Noto Serif Ethiopic Condensed Bold"/>
                <a:ea typeface="Noto Serif Ethiopic Condensed Bold"/>
                <a:cs typeface="Noto Serif Ethiopic Condensed Bold"/>
                <a:sym typeface="Noto Serif Ethiopic Condensed Bold"/>
              </a:rPr>
              <a:t>Age:</a:t>
            </a:r>
            <a:r>
              <a:rPr lang="en-US" sz="3000">
                <a:solidFill>
                  <a:srgbClr val="F0CFC7"/>
                </a:solidFill>
                <a:latin typeface="Noto Serif Ethiopic Condensed"/>
                <a:ea typeface="Noto Serif Ethiopic Condensed"/>
                <a:cs typeface="Noto Serif Ethiopic Condensed"/>
                <a:sym typeface="Noto Serif Ethiopic Condensed"/>
              </a:rPr>
              <a:t> 22</a:t>
            </a:r>
          </a:p>
          <a:p>
            <a:pPr algn="l">
              <a:lnSpc>
                <a:spcPts val="4200"/>
              </a:lnSpc>
            </a:pPr>
            <a:r>
              <a:rPr lang="en-US" sz="3000" b="true">
                <a:solidFill>
                  <a:srgbClr val="F0CFC7"/>
                </a:solidFill>
                <a:latin typeface="Noto Serif Ethiopic Condensed Bold"/>
                <a:ea typeface="Noto Serif Ethiopic Condensed Bold"/>
                <a:cs typeface="Noto Serif Ethiopic Condensed Bold"/>
                <a:sym typeface="Noto Serif Ethiopic Condensed Bold"/>
              </a:rPr>
              <a:t>Gender:</a:t>
            </a:r>
            <a:r>
              <a:rPr lang="en-US" sz="3000">
                <a:solidFill>
                  <a:srgbClr val="F0CFC7"/>
                </a:solidFill>
                <a:latin typeface="Noto Serif Ethiopic Condensed"/>
                <a:ea typeface="Noto Serif Ethiopic Condensed"/>
                <a:cs typeface="Noto Serif Ethiopic Condensed"/>
                <a:sym typeface="Noto Serif Ethiopic Condensed"/>
              </a:rPr>
              <a:t> Male</a:t>
            </a:r>
          </a:p>
          <a:p>
            <a:pPr algn="l">
              <a:lnSpc>
                <a:spcPts val="4200"/>
              </a:lnSpc>
              <a:spcBef>
                <a:spcPct val="0"/>
              </a:spcBef>
            </a:pPr>
            <a:r>
              <a:rPr lang="en-US" b="true" sz="3000">
                <a:solidFill>
                  <a:srgbClr val="F0CFC7"/>
                </a:solidFill>
                <a:latin typeface="Noto Serif Ethiopic Condensed Bold"/>
                <a:ea typeface="Noto Serif Ethiopic Condensed Bold"/>
                <a:cs typeface="Noto Serif Ethiopic Condensed Bold"/>
                <a:sym typeface="Noto Serif Ethiopic Condensed Bold"/>
              </a:rPr>
              <a:t>L</a:t>
            </a:r>
            <a:r>
              <a:rPr lang="en-US" b="true" sz="3000">
                <a:solidFill>
                  <a:srgbClr val="F0CFC7"/>
                </a:solidFill>
                <a:latin typeface="Noto Serif Ethiopic Condensed Bold"/>
                <a:ea typeface="Noto Serif Ethiopic Condensed Bold"/>
                <a:cs typeface="Noto Serif Ethiopic Condensed Bold"/>
                <a:sym typeface="Noto Serif Ethiopic Condensed Bold"/>
              </a:rPr>
              <a:t>ocation</a:t>
            </a:r>
            <a:r>
              <a:rPr lang="en-US" sz="3000">
                <a:solidFill>
                  <a:srgbClr val="F0CFC7"/>
                </a:solidFill>
                <a:latin typeface="Noto Serif Ethiopic Condensed"/>
                <a:ea typeface="Noto Serif Ethiopic Condensed"/>
                <a:cs typeface="Noto Serif Ethiopic Condensed"/>
                <a:sym typeface="Noto Serif Ethiopic Condensed"/>
              </a:rPr>
              <a:t>: Dubai Internet City</a:t>
            </a:r>
          </a:p>
          <a:p>
            <a:pPr algn="l">
              <a:lnSpc>
                <a:spcPts val="4200"/>
              </a:lnSpc>
              <a:spcBef>
                <a:spcPct val="0"/>
              </a:spcBef>
            </a:pPr>
            <a:r>
              <a:rPr lang="en-US" b="true" sz="3000">
                <a:solidFill>
                  <a:srgbClr val="F0CFC7"/>
                </a:solidFill>
                <a:latin typeface="Noto Serif Ethiopic Condensed Bold"/>
                <a:ea typeface="Noto Serif Ethiopic Condensed Bold"/>
                <a:cs typeface="Noto Serif Ethiopic Condensed Bold"/>
                <a:sym typeface="Noto Serif Ethiopic Condensed Bold"/>
              </a:rPr>
              <a:t>Job Title:</a:t>
            </a:r>
            <a:r>
              <a:rPr lang="en-US" sz="3000">
                <a:solidFill>
                  <a:srgbClr val="F0CFC7"/>
                </a:solidFill>
                <a:latin typeface="Noto Serif Ethiopic Condensed"/>
                <a:ea typeface="Noto Serif Ethiopic Condensed"/>
                <a:cs typeface="Noto Serif Ethiopic Condensed"/>
                <a:sym typeface="Noto Serif Ethiopic Condensed"/>
              </a:rPr>
              <a:t> Junior Graphic Designer</a:t>
            </a:r>
          </a:p>
          <a:p>
            <a:pPr algn="l">
              <a:lnSpc>
                <a:spcPts val="4200"/>
              </a:lnSpc>
              <a:spcBef>
                <a:spcPct val="0"/>
              </a:spcBef>
            </a:pPr>
            <a:r>
              <a:rPr lang="en-US" b="true" sz="3000">
                <a:solidFill>
                  <a:srgbClr val="F0CFC7"/>
                </a:solidFill>
                <a:latin typeface="Noto Serif Ethiopic Condensed Bold"/>
                <a:ea typeface="Noto Serif Ethiopic Condensed Bold"/>
                <a:cs typeface="Noto Serif Ethiopic Condensed Bold"/>
                <a:sym typeface="Noto Serif Ethiopic Condensed Bold"/>
              </a:rPr>
              <a:t>Education:</a:t>
            </a:r>
            <a:r>
              <a:rPr lang="en-US" sz="3000">
                <a:solidFill>
                  <a:srgbClr val="F0CFC7"/>
                </a:solidFill>
                <a:latin typeface="Noto Serif Ethiopic Condensed"/>
                <a:ea typeface="Noto Serif Ethiopic Condensed"/>
                <a:cs typeface="Noto Serif Ethiopic Condensed"/>
                <a:sym typeface="Noto Serif Ethiopic Condensed"/>
              </a:rPr>
              <a:t> BA in Animation and Graphic Design</a:t>
            </a:r>
          </a:p>
          <a:p>
            <a:pPr algn="l">
              <a:lnSpc>
                <a:spcPts val="4200"/>
              </a:lnSpc>
              <a:spcBef>
                <a:spcPct val="0"/>
              </a:spcBef>
            </a:pPr>
          </a:p>
          <a:p>
            <a:pPr algn="l">
              <a:lnSpc>
                <a:spcPts val="3920"/>
              </a:lnSpc>
              <a:spcBef>
                <a:spcPct val="0"/>
              </a:spcBef>
            </a:pPr>
            <a:r>
              <a:rPr lang="en-US" sz="2800">
                <a:solidFill>
                  <a:srgbClr val="FFFFFF"/>
                </a:solidFill>
                <a:latin typeface="Noto Serif Ethiopic Condensed"/>
                <a:ea typeface="Noto Serif Ethiopic Condensed"/>
                <a:cs typeface="Noto Serif Ethiopic Condensed"/>
                <a:sym typeface="Noto Serif Ethiopic Condensed"/>
              </a:rPr>
              <a:t>Tinashe works at a major company and struggles with the pressure to keep up with the intense fast paced workflow of his colleagues. He is also targeted by his manager and receives a salary that is significantly less than the contracted pay when he signed with company but struggles to bring it up to HR and the company. He has been attending therapy for 6 months and prefers remote counselling sessions.</a:t>
            </a:r>
          </a:p>
          <a:p>
            <a:pPr algn="l">
              <a:lnSpc>
                <a:spcPts val="4200"/>
              </a:lnSpc>
              <a:spcBef>
                <a:spcPct val="0"/>
              </a:spcBef>
            </a:pPr>
          </a:p>
        </p:txBody>
      </p:sp>
      <p:sp>
        <p:nvSpPr>
          <p:cNvPr name="TextBox 7" id="7"/>
          <p:cNvSpPr txBox="true"/>
          <p:nvPr/>
        </p:nvSpPr>
        <p:spPr>
          <a:xfrm rot="0">
            <a:off x="12518299" y="9690102"/>
            <a:ext cx="5181854" cy="317502"/>
          </a:xfrm>
          <a:prstGeom prst="rect">
            <a:avLst/>
          </a:prstGeom>
        </p:spPr>
        <p:txBody>
          <a:bodyPr anchor="t" rtlCol="false" tIns="0" lIns="0" bIns="0" rIns="0">
            <a:spAutoFit/>
          </a:bodyPr>
          <a:lstStyle/>
          <a:p>
            <a:pPr algn="l">
              <a:lnSpc>
                <a:spcPts val="2375"/>
              </a:lnSpc>
            </a:pPr>
            <a:r>
              <a:rPr lang="en-US" sz="2500">
                <a:solidFill>
                  <a:srgbClr val="F0CFC7"/>
                </a:solidFill>
                <a:latin typeface="Noto Serif Ethiopic Condensed"/>
                <a:ea typeface="Noto Serif Ethiopic Condensed"/>
                <a:cs typeface="Noto Serif Ethiopic Condensed"/>
                <a:sym typeface="Noto Serif Ethiopic Condensed"/>
              </a:rPr>
              <a:t>Human Computer Interface ICTE 3002</a:t>
            </a:r>
          </a:p>
        </p:txBody>
      </p:sp>
      <p:sp>
        <p:nvSpPr>
          <p:cNvPr name="TextBox 8" id="8"/>
          <p:cNvSpPr txBox="true"/>
          <p:nvPr/>
        </p:nvSpPr>
        <p:spPr>
          <a:xfrm rot="0">
            <a:off x="15355774" y="9315450"/>
            <a:ext cx="2679266" cy="317502"/>
          </a:xfrm>
          <a:prstGeom prst="rect">
            <a:avLst/>
          </a:prstGeom>
        </p:spPr>
        <p:txBody>
          <a:bodyPr anchor="t" rtlCol="false" tIns="0" lIns="0" bIns="0" rIns="0">
            <a:spAutoFit/>
          </a:bodyPr>
          <a:lstStyle/>
          <a:p>
            <a:pPr algn="l">
              <a:lnSpc>
                <a:spcPts val="2375"/>
              </a:lnSpc>
            </a:pPr>
            <a:r>
              <a:rPr lang="en-US" sz="2500">
                <a:solidFill>
                  <a:srgbClr val="F0CFC7"/>
                </a:solidFill>
                <a:latin typeface="Noto Serif Ethiopic Condensed"/>
                <a:ea typeface="Noto Serif Ethiopic Condensed"/>
                <a:cs typeface="Noto Serif Ethiopic Condensed"/>
                <a:sym typeface="Noto Serif Ethiopic Condensed"/>
              </a:rPr>
              <a:t>Blessed Dendere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9F1"/>
        </a:solidFill>
      </p:bgPr>
    </p:bg>
    <p:spTree>
      <p:nvGrpSpPr>
        <p:cNvPr id="1" name=""/>
        <p:cNvGrpSpPr/>
        <p:nvPr/>
      </p:nvGrpSpPr>
      <p:grpSpPr>
        <a:xfrm>
          <a:off x="0" y="0"/>
          <a:ext cx="0" cy="0"/>
          <a:chOff x="0" y="0"/>
          <a:chExt cx="0" cy="0"/>
        </a:xfrm>
      </p:grpSpPr>
      <p:grpSp>
        <p:nvGrpSpPr>
          <p:cNvPr name="Group 2" id="2"/>
          <p:cNvGrpSpPr/>
          <p:nvPr/>
        </p:nvGrpSpPr>
        <p:grpSpPr>
          <a:xfrm rot="0">
            <a:off x="8731091" y="0"/>
            <a:ext cx="9556909" cy="10287000"/>
            <a:chOff x="0" y="0"/>
            <a:chExt cx="2517046" cy="2709333"/>
          </a:xfrm>
        </p:grpSpPr>
        <p:sp>
          <p:nvSpPr>
            <p:cNvPr name="Freeform 3" id="3"/>
            <p:cNvSpPr/>
            <p:nvPr/>
          </p:nvSpPr>
          <p:spPr>
            <a:xfrm flipH="false" flipV="false" rot="0">
              <a:off x="0" y="0"/>
              <a:ext cx="2517046" cy="2709333"/>
            </a:xfrm>
            <a:custGeom>
              <a:avLst/>
              <a:gdLst/>
              <a:ahLst/>
              <a:cxnLst/>
              <a:rect r="r" b="b" t="t" l="l"/>
              <a:pathLst>
                <a:path h="2709333" w="2517046">
                  <a:moveTo>
                    <a:pt x="0" y="0"/>
                  </a:moveTo>
                  <a:lnTo>
                    <a:pt x="2517046" y="0"/>
                  </a:lnTo>
                  <a:lnTo>
                    <a:pt x="2517046" y="2709333"/>
                  </a:lnTo>
                  <a:lnTo>
                    <a:pt x="0" y="2709333"/>
                  </a:lnTo>
                  <a:close/>
                </a:path>
              </a:pathLst>
            </a:custGeom>
            <a:solidFill>
              <a:srgbClr val="542D5C"/>
            </a:solidFill>
          </p:spPr>
        </p:sp>
        <p:sp>
          <p:nvSpPr>
            <p:cNvPr name="TextBox 4" id="4"/>
            <p:cNvSpPr txBox="true"/>
            <p:nvPr/>
          </p:nvSpPr>
          <p:spPr>
            <a:xfrm>
              <a:off x="0" y="57150"/>
              <a:ext cx="2517046" cy="2652183"/>
            </a:xfrm>
            <a:prstGeom prst="rect">
              <a:avLst/>
            </a:prstGeom>
          </p:spPr>
          <p:txBody>
            <a:bodyPr anchor="ctr" rtlCol="false" tIns="50800" lIns="50800" bIns="50800" rIns="50800"/>
            <a:lstStyle/>
            <a:p>
              <a:pPr algn="ctr">
                <a:lnSpc>
                  <a:spcPts val="2375"/>
                </a:lnSpc>
              </a:pPr>
            </a:p>
          </p:txBody>
        </p:sp>
      </p:grpSp>
      <p:sp>
        <p:nvSpPr>
          <p:cNvPr name="Freeform 5" id="5"/>
          <p:cNvSpPr/>
          <p:nvPr/>
        </p:nvSpPr>
        <p:spPr>
          <a:xfrm flipH="false" flipV="false" rot="0">
            <a:off x="0" y="0"/>
            <a:ext cx="8731091" cy="10287000"/>
          </a:xfrm>
          <a:custGeom>
            <a:avLst/>
            <a:gdLst/>
            <a:ahLst/>
            <a:cxnLst/>
            <a:rect r="r" b="b" t="t" l="l"/>
            <a:pathLst>
              <a:path h="10287000" w="8731091">
                <a:moveTo>
                  <a:pt x="0" y="0"/>
                </a:moveTo>
                <a:lnTo>
                  <a:pt x="8731091" y="0"/>
                </a:lnTo>
                <a:lnTo>
                  <a:pt x="8731091" y="10287000"/>
                </a:lnTo>
                <a:lnTo>
                  <a:pt x="0" y="10287000"/>
                </a:lnTo>
                <a:lnTo>
                  <a:pt x="0" y="0"/>
                </a:lnTo>
                <a:close/>
              </a:path>
            </a:pathLst>
          </a:custGeom>
          <a:blipFill>
            <a:blip r:embed="rId2"/>
            <a:stretch>
              <a:fillRect l="0" t="0" r="0" b="0"/>
            </a:stretch>
          </a:blipFill>
        </p:spPr>
      </p:sp>
      <p:sp>
        <p:nvSpPr>
          <p:cNvPr name="TextBox 6" id="6"/>
          <p:cNvSpPr txBox="true"/>
          <p:nvPr/>
        </p:nvSpPr>
        <p:spPr>
          <a:xfrm rot="0">
            <a:off x="11346217" y="952500"/>
            <a:ext cx="4326657" cy="4191000"/>
          </a:xfrm>
          <a:prstGeom prst="rect">
            <a:avLst/>
          </a:prstGeom>
        </p:spPr>
        <p:txBody>
          <a:bodyPr anchor="t" rtlCol="false" tIns="0" lIns="0" bIns="0" rIns="0">
            <a:spAutoFit/>
          </a:bodyPr>
          <a:lstStyle/>
          <a:p>
            <a:pPr algn="ctr">
              <a:lnSpc>
                <a:spcPts val="16800"/>
              </a:lnSpc>
            </a:pPr>
            <a:r>
              <a:rPr lang="en-US" b="true" sz="12000">
                <a:solidFill>
                  <a:srgbClr val="F0CFC7"/>
                </a:solidFill>
                <a:latin typeface="Noto Serif Ethiopic Condensed Bold"/>
                <a:ea typeface="Noto Serif Ethiopic Condensed Bold"/>
                <a:cs typeface="Noto Serif Ethiopic Condensed Bold"/>
                <a:sym typeface="Noto Serif Ethiopic Condensed Bold"/>
              </a:rPr>
              <a:t>Sarah </a:t>
            </a:r>
          </a:p>
          <a:p>
            <a:pPr algn="ctr">
              <a:lnSpc>
                <a:spcPts val="16800"/>
              </a:lnSpc>
              <a:spcBef>
                <a:spcPct val="0"/>
              </a:spcBef>
            </a:pPr>
            <a:r>
              <a:rPr lang="en-US" b="true" sz="12000">
                <a:solidFill>
                  <a:srgbClr val="F0CFC7"/>
                </a:solidFill>
                <a:latin typeface="Noto Serif Ethiopic Condensed Bold"/>
                <a:ea typeface="Noto Serif Ethiopic Condensed Bold"/>
                <a:cs typeface="Noto Serif Ethiopic Condensed Bold"/>
                <a:sym typeface="Noto Serif Ethiopic Condensed Bold"/>
              </a:rPr>
              <a:t>Zhou</a:t>
            </a:r>
          </a:p>
        </p:txBody>
      </p:sp>
      <p:sp>
        <p:nvSpPr>
          <p:cNvPr name="TextBox 7" id="7"/>
          <p:cNvSpPr txBox="true"/>
          <p:nvPr/>
        </p:nvSpPr>
        <p:spPr>
          <a:xfrm rot="0">
            <a:off x="10445224" y="5538371"/>
            <a:ext cx="6128643" cy="903605"/>
          </a:xfrm>
          <a:prstGeom prst="rect">
            <a:avLst/>
          </a:prstGeom>
        </p:spPr>
        <p:txBody>
          <a:bodyPr anchor="t" rtlCol="false" tIns="0" lIns="0" bIns="0" rIns="0">
            <a:spAutoFit/>
          </a:bodyPr>
          <a:lstStyle/>
          <a:p>
            <a:pPr algn="ctr">
              <a:lnSpc>
                <a:spcPts val="7420"/>
              </a:lnSpc>
              <a:spcBef>
                <a:spcPct val="0"/>
              </a:spcBef>
            </a:pPr>
            <a:r>
              <a:rPr lang="en-US" sz="5300">
                <a:solidFill>
                  <a:srgbClr val="F0CFC7"/>
                </a:solidFill>
                <a:latin typeface="Inter"/>
                <a:ea typeface="Inter"/>
                <a:cs typeface="Inter"/>
                <a:sym typeface="Inter"/>
              </a:rPr>
              <a:t>The Sales Assistant</a:t>
            </a:r>
          </a:p>
        </p:txBody>
      </p:sp>
      <p:sp>
        <p:nvSpPr>
          <p:cNvPr name="TextBox 8" id="8"/>
          <p:cNvSpPr txBox="true"/>
          <p:nvPr/>
        </p:nvSpPr>
        <p:spPr>
          <a:xfrm rot="0">
            <a:off x="9336607" y="6584355"/>
            <a:ext cx="8345876" cy="4009390"/>
          </a:xfrm>
          <a:prstGeom prst="rect">
            <a:avLst/>
          </a:prstGeom>
        </p:spPr>
        <p:txBody>
          <a:bodyPr anchor="t" rtlCol="false" tIns="0" lIns="0" bIns="0" rIns="0">
            <a:spAutoFit/>
          </a:bodyPr>
          <a:lstStyle/>
          <a:p>
            <a:pPr algn="ctr">
              <a:lnSpc>
                <a:spcPts val="5320"/>
              </a:lnSpc>
              <a:spcBef>
                <a:spcPct val="0"/>
              </a:spcBef>
            </a:pPr>
            <a:r>
              <a:rPr lang="en-US" sz="3800" i="true">
                <a:solidFill>
                  <a:srgbClr val="F0CFC7"/>
                </a:solidFill>
                <a:latin typeface="Inter Italics"/>
                <a:ea typeface="Inter Italics"/>
                <a:cs typeface="Inter Italics"/>
                <a:sym typeface="Inter Italics"/>
              </a:rPr>
              <a:t>“I’m m</a:t>
            </a:r>
            <a:r>
              <a:rPr lang="en-US" sz="3800" i="true">
                <a:solidFill>
                  <a:srgbClr val="F0CFC7"/>
                </a:solidFill>
                <a:latin typeface="Inter Italics"/>
                <a:ea typeface="Inter Italics"/>
                <a:cs typeface="Inter Italics"/>
                <a:sym typeface="Inter Italics"/>
              </a:rPr>
              <a:t>ore than qualified for the position, why should my gender stop it”</a:t>
            </a:r>
          </a:p>
          <a:p>
            <a:pPr algn="ctr">
              <a:lnSpc>
                <a:spcPts val="16800"/>
              </a:lnSpc>
              <a:spcBef>
                <a:spcPct val="0"/>
              </a:spcBef>
            </a:pPr>
          </a:p>
        </p:txBody>
      </p:sp>
      <p:sp>
        <p:nvSpPr>
          <p:cNvPr name="TextBox 9" id="9"/>
          <p:cNvSpPr txBox="true"/>
          <p:nvPr/>
        </p:nvSpPr>
        <p:spPr>
          <a:xfrm rot="0">
            <a:off x="12284389" y="9714107"/>
            <a:ext cx="5155886" cy="317502"/>
          </a:xfrm>
          <a:prstGeom prst="rect">
            <a:avLst/>
          </a:prstGeom>
        </p:spPr>
        <p:txBody>
          <a:bodyPr anchor="t" rtlCol="false" tIns="0" lIns="0" bIns="0" rIns="0">
            <a:spAutoFit/>
          </a:bodyPr>
          <a:lstStyle/>
          <a:p>
            <a:pPr algn="l">
              <a:lnSpc>
                <a:spcPts val="2375"/>
              </a:lnSpc>
            </a:pPr>
            <a:r>
              <a:rPr lang="en-US" sz="2500">
                <a:solidFill>
                  <a:srgbClr val="F0CFC7"/>
                </a:solidFill>
                <a:latin typeface="Noto Serif Ethiopic Condensed"/>
                <a:ea typeface="Noto Serif Ethiopic Condensed"/>
                <a:cs typeface="Noto Serif Ethiopic Condensed"/>
                <a:sym typeface="Noto Serif Ethiopic Condensed"/>
              </a:rPr>
              <a:t>Human Computer Interface ICTE 3002</a:t>
            </a:r>
          </a:p>
        </p:txBody>
      </p:sp>
      <p:sp>
        <p:nvSpPr>
          <p:cNvPr name="TextBox 10" id="10"/>
          <p:cNvSpPr txBox="true"/>
          <p:nvPr/>
        </p:nvSpPr>
        <p:spPr>
          <a:xfrm rot="0">
            <a:off x="15103802" y="9339455"/>
            <a:ext cx="2679266" cy="317502"/>
          </a:xfrm>
          <a:prstGeom prst="rect">
            <a:avLst/>
          </a:prstGeom>
        </p:spPr>
        <p:txBody>
          <a:bodyPr anchor="t" rtlCol="false" tIns="0" lIns="0" bIns="0" rIns="0">
            <a:spAutoFit/>
          </a:bodyPr>
          <a:lstStyle/>
          <a:p>
            <a:pPr algn="l">
              <a:lnSpc>
                <a:spcPts val="2375"/>
              </a:lnSpc>
            </a:pPr>
            <a:r>
              <a:rPr lang="en-US" sz="2500">
                <a:solidFill>
                  <a:srgbClr val="F0CFC7"/>
                </a:solidFill>
                <a:latin typeface="Noto Serif Ethiopic Condensed"/>
                <a:ea typeface="Noto Serif Ethiopic Condensed"/>
                <a:cs typeface="Noto Serif Ethiopic Condensed"/>
                <a:sym typeface="Noto Serif Ethiopic Condensed"/>
              </a:rPr>
              <a:t>Blessed Dendere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9F1"/>
        </a:solidFill>
      </p:bgPr>
    </p:bg>
    <p:spTree>
      <p:nvGrpSpPr>
        <p:cNvPr id="1" name=""/>
        <p:cNvGrpSpPr/>
        <p:nvPr/>
      </p:nvGrpSpPr>
      <p:grpSpPr>
        <a:xfrm>
          <a:off x="0" y="0"/>
          <a:ext cx="0" cy="0"/>
          <a:chOff x="0" y="0"/>
          <a:chExt cx="0" cy="0"/>
        </a:xfrm>
      </p:grpSpPr>
      <p:sp>
        <p:nvSpPr>
          <p:cNvPr name="Freeform 2" id="2"/>
          <p:cNvSpPr/>
          <p:nvPr/>
        </p:nvSpPr>
        <p:spPr>
          <a:xfrm flipH="false" flipV="false" rot="0">
            <a:off x="8731091" y="0"/>
            <a:ext cx="9556909" cy="10473325"/>
          </a:xfrm>
          <a:custGeom>
            <a:avLst/>
            <a:gdLst/>
            <a:ahLst/>
            <a:cxnLst/>
            <a:rect r="r" b="b" t="t" l="l"/>
            <a:pathLst>
              <a:path h="10473325" w="9556909">
                <a:moveTo>
                  <a:pt x="0" y="0"/>
                </a:moveTo>
                <a:lnTo>
                  <a:pt x="9556909" y="0"/>
                </a:lnTo>
                <a:lnTo>
                  <a:pt x="9556909" y="10473325"/>
                </a:lnTo>
                <a:lnTo>
                  <a:pt x="0" y="10473325"/>
                </a:lnTo>
                <a:lnTo>
                  <a:pt x="0" y="0"/>
                </a:lnTo>
                <a:close/>
              </a:path>
            </a:pathLst>
          </a:custGeom>
          <a:blipFill>
            <a:blip r:embed="rId2"/>
            <a:stretch>
              <a:fillRect l="0" t="0" r="0" b="0"/>
            </a:stretch>
          </a:blipFill>
        </p:spPr>
      </p:sp>
      <p:grpSp>
        <p:nvGrpSpPr>
          <p:cNvPr name="Group 3" id="3"/>
          <p:cNvGrpSpPr/>
          <p:nvPr/>
        </p:nvGrpSpPr>
        <p:grpSpPr>
          <a:xfrm rot="0">
            <a:off x="0" y="0"/>
            <a:ext cx="8731091" cy="10287000"/>
            <a:chOff x="0" y="0"/>
            <a:chExt cx="2299547" cy="2709333"/>
          </a:xfrm>
        </p:grpSpPr>
        <p:sp>
          <p:nvSpPr>
            <p:cNvPr name="Freeform 4" id="4"/>
            <p:cNvSpPr/>
            <p:nvPr/>
          </p:nvSpPr>
          <p:spPr>
            <a:xfrm flipH="false" flipV="false" rot="0">
              <a:off x="0" y="0"/>
              <a:ext cx="2299547" cy="2709333"/>
            </a:xfrm>
            <a:custGeom>
              <a:avLst/>
              <a:gdLst/>
              <a:ahLst/>
              <a:cxnLst/>
              <a:rect r="r" b="b" t="t" l="l"/>
              <a:pathLst>
                <a:path h="2709333" w="2299547">
                  <a:moveTo>
                    <a:pt x="0" y="0"/>
                  </a:moveTo>
                  <a:lnTo>
                    <a:pt x="2299547" y="0"/>
                  </a:lnTo>
                  <a:lnTo>
                    <a:pt x="2299547" y="2709333"/>
                  </a:lnTo>
                  <a:lnTo>
                    <a:pt x="0" y="2709333"/>
                  </a:lnTo>
                  <a:close/>
                </a:path>
              </a:pathLst>
            </a:custGeom>
            <a:solidFill>
              <a:srgbClr val="542D5C"/>
            </a:solidFill>
          </p:spPr>
        </p:sp>
        <p:sp>
          <p:nvSpPr>
            <p:cNvPr name="TextBox 5" id="5"/>
            <p:cNvSpPr txBox="true"/>
            <p:nvPr/>
          </p:nvSpPr>
          <p:spPr>
            <a:xfrm>
              <a:off x="0" y="57150"/>
              <a:ext cx="2299547" cy="2652183"/>
            </a:xfrm>
            <a:prstGeom prst="rect">
              <a:avLst/>
            </a:prstGeom>
          </p:spPr>
          <p:txBody>
            <a:bodyPr anchor="ctr" rtlCol="false" tIns="50800" lIns="50800" bIns="50800" rIns="50800"/>
            <a:lstStyle/>
            <a:p>
              <a:pPr algn="ctr">
                <a:lnSpc>
                  <a:spcPts val="2375"/>
                </a:lnSpc>
              </a:pPr>
            </a:p>
          </p:txBody>
        </p:sp>
      </p:grpSp>
      <p:sp>
        <p:nvSpPr>
          <p:cNvPr name="TextBox 6" id="6"/>
          <p:cNvSpPr txBox="true"/>
          <p:nvPr/>
        </p:nvSpPr>
        <p:spPr>
          <a:xfrm rot="0">
            <a:off x="857250" y="971550"/>
            <a:ext cx="7384837" cy="8136890"/>
          </a:xfrm>
          <a:prstGeom prst="rect">
            <a:avLst/>
          </a:prstGeom>
        </p:spPr>
        <p:txBody>
          <a:bodyPr anchor="t" rtlCol="false" tIns="0" lIns="0" bIns="0" rIns="0">
            <a:spAutoFit/>
          </a:bodyPr>
          <a:lstStyle/>
          <a:p>
            <a:pPr algn="l">
              <a:lnSpc>
                <a:spcPts val="4200"/>
              </a:lnSpc>
            </a:pPr>
            <a:r>
              <a:rPr lang="en-US" sz="3000" b="true">
                <a:solidFill>
                  <a:srgbClr val="F0CFC7"/>
                </a:solidFill>
                <a:latin typeface="Noto Serif Ethiopic Condensed Bold"/>
                <a:ea typeface="Noto Serif Ethiopic Condensed Bold"/>
                <a:cs typeface="Noto Serif Ethiopic Condensed Bold"/>
                <a:sym typeface="Noto Serif Ethiopic Condensed Bold"/>
              </a:rPr>
              <a:t>Age</a:t>
            </a:r>
            <a:r>
              <a:rPr lang="en-US" sz="3000">
                <a:solidFill>
                  <a:srgbClr val="F0CFC7"/>
                </a:solidFill>
                <a:latin typeface="Noto Serif Ethiopic Condensed"/>
                <a:ea typeface="Noto Serif Ethiopic Condensed"/>
                <a:cs typeface="Noto Serif Ethiopic Condensed"/>
                <a:sym typeface="Noto Serif Ethiopic Condensed"/>
              </a:rPr>
              <a:t>: 31</a:t>
            </a:r>
          </a:p>
          <a:p>
            <a:pPr algn="l">
              <a:lnSpc>
                <a:spcPts val="4200"/>
              </a:lnSpc>
            </a:pPr>
            <a:r>
              <a:rPr lang="en-US" sz="3000" b="true">
                <a:solidFill>
                  <a:srgbClr val="F0CFC7"/>
                </a:solidFill>
                <a:latin typeface="Noto Serif Ethiopic Condensed Bold"/>
                <a:ea typeface="Noto Serif Ethiopic Condensed Bold"/>
                <a:cs typeface="Noto Serif Ethiopic Condensed Bold"/>
                <a:sym typeface="Noto Serif Ethiopic Condensed Bold"/>
              </a:rPr>
              <a:t>Gender</a:t>
            </a:r>
            <a:r>
              <a:rPr lang="en-US" sz="3000">
                <a:solidFill>
                  <a:srgbClr val="F0CFC7"/>
                </a:solidFill>
                <a:latin typeface="Noto Serif Ethiopic Condensed"/>
                <a:ea typeface="Noto Serif Ethiopic Condensed"/>
                <a:cs typeface="Noto Serif Ethiopic Condensed"/>
                <a:sym typeface="Noto Serif Ethiopic Condensed"/>
              </a:rPr>
              <a:t>: Female</a:t>
            </a:r>
          </a:p>
          <a:p>
            <a:pPr algn="l">
              <a:lnSpc>
                <a:spcPts val="4200"/>
              </a:lnSpc>
            </a:pPr>
            <a:r>
              <a:rPr lang="en-US" sz="3000" b="true">
                <a:solidFill>
                  <a:srgbClr val="F0CFC7"/>
                </a:solidFill>
                <a:latin typeface="Noto Serif Ethiopic Condensed Bold"/>
                <a:ea typeface="Noto Serif Ethiopic Condensed Bold"/>
                <a:cs typeface="Noto Serif Ethiopic Condensed Bold"/>
                <a:sym typeface="Noto Serif Ethiopic Condensed Bold"/>
              </a:rPr>
              <a:t>Location</a:t>
            </a:r>
            <a:r>
              <a:rPr lang="en-US" sz="3000">
                <a:solidFill>
                  <a:srgbClr val="F0CFC7"/>
                </a:solidFill>
                <a:latin typeface="Noto Serif Ethiopic Condensed"/>
                <a:ea typeface="Noto Serif Ethiopic Condensed"/>
                <a:cs typeface="Noto Serif Ethiopic Condensed"/>
                <a:sym typeface="Noto Serif Ethiopic Condensed"/>
              </a:rPr>
              <a:t>: Al Qasimia, Sharjah</a:t>
            </a:r>
          </a:p>
          <a:p>
            <a:pPr algn="l">
              <a:lnSpc>
                <a:spcPts val="4200"/>
              </a:lnSpc>
            </a:pPr>
            <a:r>
              <a:rPr lang="en-US" sz="3000" b="true">
                <a:solidFill>
                  <a:srgbClr val="F0CFC7"/>
                </a:solidFill>
                <a:latin typeface="Noto Serif Ethiopic Condensed Bold"/>
                <a:ea typeface="Noto Serif Ethiopic Condensed Bold"/>
                <a:cs typeface="Noto Serif Ethiopic Condensed Bold"/>
                <a:sym typeface="Noto Serif Ethiopic Condensed Bold"/>
              </a:rPr>
              <a:t>Job Title</a:t>
            </a:r>
            <a:r>
              <a:rPr lang="en-US" sz="3000">
                <a:solidFill>
                  <a:srgbClr val="F0CFC7"/>
                </a:solidFill>
                <a:latin typeface="Noto Serif Ethiopic Condensed"/>
                <a:ea typeface="Noto Serif Ethiopic Condensed"/>
                <a:cs typeface="Noto Serif Ethiopic Condensed"/>
                <a:sym typeface="Noto Serif Ethiopic Condensed"/>
              </a:rPr>
              <a:t>: Sales Manager Assistant</a:t>
            </a:r>
          </a:p>
          <a:p>
            <a:pPr algn="l">
              <a:lnSpc>
                <a:spcPts val="4200"/>
              </a:lnSpc>
            </a:pPr>
            <a:r>
              <a:rPr lang="en-US" sz="3000" b="true">
                <a:solidFill>
                  <a:srgbClr val="F0CFC7"/>
                </a:solidFill>
                <a:latin typeface="Noto Serif Ethiopic Condensed Bold"/>
                <a:ea typeface="Noto Serif Ethiopic Condensed Bold"/>
                <a:cs typeface="Noto Serif Ethiopic Condensed Bold"/>
                <a:sym typeface="Noto Serif Ethiopic Condensed Bold"/>
              </a:rPr>
              <a:t>Education</a:t>
            </a:r>
            <a:r>
              <a:rPr lang="en-US" sz="3000">
                <a:solidFill>
                  <a:srgbClr val="F0CFC7"/>
                </a:solidFill>
                <a:latin typeface="Noto Serif Ethiopic Condensed"/>
                <a:ea typeface="Noto Serif Ethiopic Condensed"/>
                <a:cs typeface="Noto Serif Ethiopic Condensed"/>
                <a:sym typeface="Noto Serif Ethiopic Condensed"/>
              </a:rPr>
              <a:t>: BA in Marketing and Business Administration</a:t>
            </a:r>
          </a:p>
          <a:p>
            <a:pPr algn="l">
              <a:lnSpc>
                <a:spcPts val="3919"/>
              </a:lnSpc>
            </a:pPr>
          </a:p>
          <a:p>
            <a:pPr algn="l">
              <a:lnSpc>
                <a:spcPts val="3919"/>
              </a:lnSpc>
              <a:spcBef>
                <a:spcPct val="0"/>
              </a:spcBef>
            </a:pPr>
            <a:r>
              <a:rPr lang="en-US" sz="2799">
                <a:solidFill>
                  <a:srgbClr val="FFFFFF"/>
                </a:solidFill>
                <a:latin typeface="Noto Serif Ethiopic Condensed"/>
                <a:ea typeface="Noto Serif Ethiopic Condensed"/>
                <a:cs typeface="Noto Serif Ethiopic Condensed"/>
                <a:sym typeface="Noto Serif Ethiopic Condensed"/>
              </a:rPr>
              <a:t>Sarah works in a competition driven company that strives f</a:t>
            </a:r>
            <a:r>
              <a:rPr lang="en-US" sz="2799">
                <a:solidFill>
                  <a:srgbClr val="FFFFFF"/>
                </a:solidFill>
                <a:latin typeface="Noto Serif Ethiopic Condensed"/>
                <a:ea typeface="Noto Serif Ethiopic Condensed"/>
                <a:cs typeface="Noto Serif Ethiopic Condensed"/>
                <a:sym typeface="Noto Serif Ethiopic Condensed"/>
              </a:rPr>
              <a:t>or results more than the journey. The corporate environment is heavily influenced by which sex holds majority positions in the year end evaluation. She experiences stress from having to be a ‘women in a man’s field’ and experiences anxiety. She is looking for logical solutions to manage her stress that does not take time out of her schedule.</a:t>
            </a:r>
          </a:p>
        </p:txBody>
      </p:sp>
      <p:sp>
        <p:nvSpPr>
          <p:cNvPr name="TextBox 7" id="7"/>
          <p:cNvSpPr txBox="true"/>
          <p:nvPr/>
        </p:nvSpPr>
        <p:spPr>
          <a:xfrm rot="0">
            <a:off x="12480199" y="9861696"/>
            <a:ext cx="5154769" cy="317502"/>
          </a:xfrm>
          <a:prstGeom prst="rect">
            <a:avLst/>
          </a:prstGeom>
        </p:spPr>
        <p:txBody>
          <a:bodyPr anchor="t" rtlCol="false" tIns="0" lIns="0" bIns="0" rIns="0">
            <a:spAutoFit/>
          </a:bodyPr>
          <a:lstStyle/>
          <a:p>
            <a:pPr algn="l">
              <a:lnSpc>
                <a:spcPts val="2375"/>
              </a:lnSpc>
            </a:pPr>
            <a:r>
              <a:rPr lang="en-US" sz="2500">
                <a:solidFill>
                  <a:srgbClr val="542D5C"/>
                </a:solidFill>
                <a:latin typeface="Noto Serif Ethiopic Condensed"/>
                <a:ea typeface="Noto Serif Ethiopic Condensed"/>
                <a:cs typeface="Noto Serif Ethiopic Condensed"/>
                <a:sym typeface="Noto Serif Ethiopic Condensed"/>
              </a:rPr>
              <a:t>Human Computer Interface ICTE 3002</a:t>
            </a:r>
          </a:p>
        </p:txBody>
      </p:sp>
      <p:sp>
        <p:nvSpPr>
          <p:cNvPr name="TextBox 8" id="8"/>
          <p:cNvSpPr txBox="true"/>
          <p:nvPr/>
        </p:nvSpPr>
        <p:spPr>
          <a:xfrm rot="0">
            <a:off x="15326731" y="9487044"/>
            <a:ext cx="2679266" cy="317502"/>
          </a:xfrm>
          <a:prstGeom prst="rect">
            <a:avLst/>
          </a:prstGeom>
        </p:spPr>
        <p:txBody>
          <a:bodyPr anchor="t" rtlCol="false" tIns="0" lIns="0" bIns="0" rIns="0">
            <a:spAutoFit/>
          </a:bodyPr>
          <a:lstStyle/>
          <a:p>
            <a:pPr algn="l">
              <a:lnSpc>
                <a:spcPts val="2375"/>
              </a:lnSpc>
            </a:pPr>
            <a:r>
              <a:rPr lang="en-US" sz="2500">
                <a:solidFill>
                  <a:srgbClr val="542D5C"/>
                </a:solidFill>
                <a:latin typeface="Noto Serif Ethiopic Condensed"/>
                <a:ea typeface="Noto Serif Ethiopic Condensed"/>
                <a:cs typeface="Noto Serif Ethiopic Condensed"/>
                <a:sym typeface="Noto Serif Ethiopic Condensed"/>
              </a:rPr>
              <a:t>Blessed Dendere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Freeform 2" id="2"/>
          <p:cNvSpPr/>
          <p:nvPr/>
        </p:nvSpPr>
        <p:spPr>
          <a:xfrm flipH="false" flipV="false" rot="0">
            <a:off x="16924733" y="2380756"/>
            <a:ext cx="669134" cy="669134"/>
          </a:xfrm>
          <a:custGeom>
            <a:avLst/>
            <a:gdLst/>
            <a:ahLst/>
            <a:cxnLst/>
            <a:rect r="r" b="b" t="t" l="l"/>
            <a:pathLst>
              <a:path h="669134" w="669134">
                <a:moveTo>
                  <a:pt x="0" y="0"/>
                </a:moveTo>
                <a:lnTo>
                  <a:pt x="669134" y="0"/>
                </a:lnTo>
                <a:lnTo>
                  <a:pt x="669134" y="669134"/>
                </a:lnTo>
                <a:lnTo>
                  <a:pt x="0" y="66913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90559" y="1407672"/>
            <a:ext cx="14763065" cy="8019058"/>
            <a:chOff x="0" y="0"/>
            <a:chExt cx="3742033" cy="2032612"/>
          </a:xfrm>
        </p:grpSpPr>
        <p:sp>
          <p:nvSpPr>
            <p:cNvPr name="Freeform 4" id="4"/>
            <p:cNvSpPr/>
            <p:nvPr/>
          </p:nvSpPr>
          <p:spPr>
            <a:xfrm flipH="false" flipV="false" rot="0">
              <a:off x="0" y="0"/>
              <a:ext cx="3742033" cy="2032612"/>
            </a:xfrm>
            <a:custGeom>
              <a:avLst/>
              <a:gdLst/>
              <a:ahLst/>
              <a:cxnLst/>
              <a:rect r="r" b="b" t="t" l="l"/>
              <a:pathLst>
                <a:path h="2032612" w="3742033">
                  <a:moveTo>
                    <a:pt x="13110" y="0"/>
                  </a:moveTo>
                  <a:lnTo>
                    <a:pt x="3728922" y="0"/>
                  </a:lnTo>
                  <a:cubicBezTo>
                    <a:pt x="3732400" y="0"/>
                    <a:pt x="3735734" y="1381"/>
                    <a:pt x="3738193" y="3840"/>
                  </a:cubicBezTo>
                  <a:cubicBezTo>
                    <a:pt x="3740652" y="6299"/>
                    <a:pt x="3742033" y="9633"/>
                    <a:pt x="3742033" y="13110"/>
                  </a:cubicBezTo>
                  <a:lnTo>
                    <a:pt x="3742033" y="2019501"/>
                  </a:lnTo>
                  <a:cubicBezTo>
                    <a:pt x="3742033" y="2022978"/>
                    <a:pt x="3740652" y="2026313"/>
                    <a:pt x="3738193" y="2028772"/>
                  </a:cubicBezTo>
                  <a:cubicBezTo>
                    <a:pt x="3735734" y="2031230"/>
                    <a:pt x="3732400" y="2032612"/>
                    <a:pt x="3728922" y="2032612"/>
                  </a:cubicBezTo>
                  <a:lnTo>
                    <a:pt x="13110" y="2032612"/>
                  </a:lnTo>
                  <a:cubicBezTo>
                    <a:pt x="9633" y="2032612"/>
                    <a:pt x="6299" y="2031230"/>
                    <a:pt x="3840" y="2028772"/>
                  </a:cubicBezTo>
                  <a:cubicBezTo>
                    <a:pt x="1381" y="2026313"/>
                    <a:pt x="0" y="2022978"/>
                    <a:pt x="0" y="2019501"/>
                  </a:cubicBezTo>
                  <a:lnTo>
                    <a:pt x="0" y="13110"/>
                  </a:lnTo>
                  <a:cubicBezTo>
                    <a:pt x="0" y="9633"/>
                    <a:pt x="1381" y="6299"/>
                    <a:pt x="3840" y="3840"/>
                  </a:cubicBezTo>
                  <a:cubicBezTo>
                    <a:pt x="6299" y="1381"/>
                    <a:pt x="9633" y="0"/>
                    <a:pt x="13110" y="0"/>
                  </a:cubicBezTo>
                  <a:close/>
                </a:path>
              </a:pathLst>
            </a:custGeom>
            <a:solidFill>
              <a:srgbClr val="FFFFFF">
                <a:alpha val="12941"/>
              </a:srgbClr>
            </a:solidFill>
            <a:ln w="38100" cap="rnd">
              <a:solidFill>
                <a:srgbClr val="FFFFFF">
                  <a:alpha val="12941"/>
                </a:srgbClr>
              </a:solidFill>
              <a:prstDash val="solid"/>
              <a:round/>
            </a:ln>
          </p:spPr>
        </p:sp>
        <p:sp>
          <p:nvSpPr>
            <p:cNvPr name="TextBox 5" id="5"/>
            <p:cNvSpPr txBox="true"/>
            <p:nvPr/>
          </p:nvSpPr>
          <p:spPr>
            <a:xfrm>
              <a:off x="0" y="-38100"/>
              <a:ext cx="3742033" cy="2070712"/>
            </a:xfrm>
            <a:prstGeom prst="rect">
              <a:avLst/>
            </a:prstGeom>
          </p:spPr>
          <p:txBody>
            <a:bodyPr anchor="ctr" rtlCol="false" tIns="52784" lIns="52784" bIns="52784" rIns="52784"/>
            <a:lstStyle/>
            <a:p>
              <a:pPr algn="ctr">
                <a:lnSpc>
                  <a:spcPts val="2659"/>
                </a:lnSpc>
              </a:pPr>
            </a:p>
          </p:txBody>
        </p:sp>
      </p:grpSp>
      <p:sp>
        <p:nvSpPr>
          <p:cNvPr name="Freeform 6" id="6"/>
          <p:cNvSpPr/>
          <p:nvPr/>
        </p:nvSpPr>
        <p:spPr>
          <a:xfrm flipH="false" flipV="false" rot="0">
            <a:off x="14649105" y="886800"/>
            <a:ext cx="1715278" cy="283801"/>
          </a:xfrm>
          <a:custGeom>
            <a:avLst/>
            <a:gdLst/>
            <a:ahLst/>
            <a:cxnLst/>
            <a:rect r="r" b="b" t="t" l="l"/>
            <a:pathLst>
              <a:path h="283801" w="1715278">
                <a:moveTo>
                  <a:pt x="0" y="0"/>
                </a:moveTo>
                <a:lnTo>
                  <a:pt x="1715278" y="0"/>
                </a:lnTo>
                <a:lnTo>
                  <a:pt x="1715278" y="283800"/>
                </a:lnTo>
                <a:lnTo>
                  <a:pt x="0" y="283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719943" y="9798205"/>
            <a:ext cx="4658457" cy="2549447"/>
          </a:xfrm>
          <a:custGeom>
            <a:avLst/>
            <a:gdLst/>
            <a:ahLst/>
            <a:cxnLst/>
            <a:rect r="r" b="b" t="t" l="l"/>
            <a:pathLst>
              <a:path h="2549447" w="4658457">
                <a:moveTo>
                  <a:pt x="0" y="0"/>
                </a:moveTo>
                <a:lnTo>
                  <a:pt x="4658458" y="0"/>
                </a:lnTo>
                <a:lnTo>
                  <a:pt x="4658458" y="2549446"/>
                </a:lnTo>
                <a:lnTo>
                  <a:pt x="0" y="254944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6787357" y="6260651"/>
            <a:ext cx="2572706" cy="4609083"/>
          </a:xfrm>
          <a:custGeom>
            <a:avLst/>
            <a:gdLst/>
            <a:ahLst/>
            <a:cxnLst/>
            <a:rect r="r" b="b" t="t" l="l"/>
            <a:pathLst>
              <a:path h="4609083" w="2572706">
                <a:moveTo>
                  <a:pt x="0" y="0"/>
                </a:moveTo>
                <a:lnTo>
                  <a:pt x="2572706" y="0"/>
                </a:lnTo>
                <a:lnTo>
                  <a:pt x="2572706" y="4609083"/>
                </a:lnTo>
                <a:lnTo>
                  <a:pt x="0" y="46090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3583091">
            <a:off x="-1023579" y="1501123"/>
            <a:ext cx="2047158" cy="3667547"/>
          </a:xfrm>
          <a:custGeom>
            <a:avLst/>
            <a:gdLst/>
            <a:ahLst/>
            <a:cxnLst/>
            <a:rect r="r" b="b" t="t" l="l"/>
            <a:pathLst>
              <a:path h="3667547" w="2047158">
                <a:moveTo>
                  <a:pt x="0" y="0"/>
                </a:moveTo>
                <a:lnTo>
                  <a:pt x="2047158" y="0"/>
                </a:lnTo>
                <a:lnTo>
                  <a:pt x="2047158" y="3667546"/>
                </a:lnTo>
                <a:lnTo>
                  <a:pt x="0" y="36675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14273425" y="9674223"/>
            <a:ext cx="2280199" cy="612777"/>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Blessed Dendere</a:t>
            </a:r>
          </a:p>
          <a:p>
            <a:pPr algn="l">
              <a:lnSpc>
                <a:spcPts val="2375"/>
              </a:lnSpc>
            </a:pPr>
          </a:p>
        </p:txBody>
      </p:sp>
      <p:sp>
        <p:nvSpPr>
          <p:cNvPr name="TextBox 11" id="11"/>
          <p:cNvSpPr txBox="true"/>
          <p:nvPr/>
        </p:nvSpPr>
        <p:spPr>
          <a:xfrm rot="0">
            <a:off x="6505610" y="1421517"/>
            <a:ext cx="5602357" cy="1510027"/>
          </a:xfrm>
          <a:prstGeom prst="rect">
            <a:avLst/>
          </a:prstGeom>
        </p:spPr>
        <p:txBody>
          <a:bodyPr anchor="t" rtlCol="false" tIns="0" lIns="0" bIns="0" rIns="0">
            <a:spAutoFit/>
          </a:bodyPr>
          <a:lstStyle/>
          <a:p>
            <a:pPr algn="ctr">
              <a:lnSpc>
                <a:spcPts val="12320"/>
              </a:lnSpc>
              <a:spcBef>
                <a:spcPct val="0"/>
              </a:spcBef>
            </a:pPr>
            <a:r>
              <a:rPr lang="en-US" b="true" sz="8800">
                <a:solidFill>
                  <a:srgbClr val="F0CFC7"/>
                </a:solidFill>
                <a:latin typeface="Noto Serif Ethiopic Condensed Bold"/>
                <a:ea typeface="Noto Serif Ethiopic Condensed Bold"/>
                <a:cs typeface="Noto Serif Ethiopic Condensed Bold"/>
                <a:sym typeface="Noto Serif Ethiopic Condensed Bold"/>
              </a:rPr>
              <a:t>Pain Points </a:t>
            </a:r>
          </a:p>
        </p:txBody>
      </p:sp>
      <p:sp>
        <p:nvSpPr>
          <p:cNvPr name="TextBox 12" id="12"/>
          <p:cNvSpPr txBox="true"/>
          <p:nvPr/>
        </p:nvSpPr>
        <p:spPr>
          <a:xfrm rot="0">
            <a:off x="3813667" y="3011790"/>
            <a:ext cx="10986243" cy="815338"/>
          </a:xfrm>
          <a:prstGeom prst="rect">
            <a:avLst/>
          </a:prstGeom>
        </p:spPr>
        <p:txBody>
          <a:bodyPr anchor="t" rtlCol="false" tIns="0" lIns="0" bIns="0" rIns="0">
            <a:spAutoFit/>
          </a:bodyPr>
          <a:lstStyle/>
          <a:p>
            <a:pPr algn="ctr">
              <a:lnSpc>
                <a:spcPts val="3360"/>
              </a:lnSpc>
              <a:spcBef>
                <a:spcPct val="0"/>
              </a:spcBef>
            </a:pPr>
            <a:r>
              <a:rPr lang="en-US" sz="2400">
                <a:solidFill>
                  <a:srgbClr val="FFFFFF"/>
                </a:solidFill>
                <a:latin typeface="Noto Serif Ethiopic Condensed"/>
                <a:ea typeface="Noto Serif Ethiopic Condensed"/>
                <a:cs typeface="Noto Serif Ethiopic Condensed"/>
                <a:sym typeface="Noto Serif Ethiopic Condensed"/>
              </a:rPr>
              <a:t>Pain points are persistent issue</a:t>
            </a:r>
            <a:r>
              <a:rPr lang="en-US" sz="2400">
                <a:solidFill>
                  <a:srgbClr val="FFFFFF"/>
                </a:solidFill>
                <a:latin typeface="Noto Serif Ethiopic Condensed"/>
                <a:ea typeface="Noto Serif Ethiopic Condensed"/>
                <a:cs typeface="Noto Serif Ethiopic Condensed"/>
                <a:sym typeface="Noto Serif Ethiopic Condensed"/>
              </a:rPr>
              <a:t>s a service’s users face that can be addressed through research and customer experiences.</a:t>
            </a:r>
          </a:p>
        </p:txBody>
      </p:sp>
      <p:sp>
        <p:nvSpPr>
          <p:cNvPr name="TextBox 13" id="13"/>
          <p:cNvSpPr txBox="true"/>
          <p:nvPr/>
        </p:nvSpPr>
        <p:spPr>
          <a:xfrm rot="0">
            <a:off x="1790559" y="832995"/>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grpSp>
        <p:nvGrpSpPr>
          <p:cNvPr name="Group 14" id="14"/>
          <p:cNvGrpSpPr/>
          <p:nvPr/>
        </p:nvGrpSpPr>
        <p:grpSpPr>
          <a:xfrm rot="0">
            <a:off x="3550884" y="4039955"/>
            <a:ext cx="11530859" cy="5062189"/>
            <a:chOff x="0" y="0"/>
            <a:chExt cx="15374479" cy="6749586"/>
          </a:xfrm>
        </p:grpSpPr>
        <p:grpSp>
          <p:nvGrpSpPr>
            <p:cNvPr name="Group 15" id="15"/>
            <p:cNvGrpSpPr/>
            <p:nvPr/>
          </p:nvGrpSpPr>
          <p:grpSpPr>
            <a:xfrm rot="0">
              <a:off x="0" y="0"/>
              <a:ext cx="15014233" cy="6749586"/>
              <a:chOff x="0" y="0"/>
              <a:chExt cx="3278739" cy="1473943"/>
            </a:xfrm>
          </p:grpSpPr>
          <p:sp>
            <p:nvSpPr>
              <p:cNvPr name="Freeform 16" id="16"/>
              <p:cNvSpPr/>
              <p:nvPr/>
            </p:nvSpPr>
            <p:spPr>
              <a:xfrm flipH="false" flipV="false" rot="0">
                <a:off x="0" y="0"/>
                <a:ext cx="3278739" cy="1473943"/>
              </a:xfrm>
              <a:custGeom>
                <a:avLst/>
                <a:gdLst/>
                <a:ahLst/>
                <a:cxnLst/>
                <a:rect r="r" b="b" t="t" l="l"/>
                <a:pathLst>
                  <a:path h="1473943" w="3278739">
                    <a:moveTo>
                      <a:pt x="10241" y="0"/>
                    </a:moveTo>
                    <a:lnTo>
                      <a:pt x="3268498" y="0"/>
                    </a:lnTo>
                    <a:cubicBezTo>
                      <a:pt x="3271214" y="0"/>
                      <a:pt x="3273818" y="1079"/>
                      <a:pt x="3275739" y="3000"/>
                    </a:cubicBezTo>
                    <a:cubicBezTo>
                      <a:pt x="3277660" y="4920"/>
                      <a:pt x="3278739" y="7525"/>
                      <a:pt x="3278739" y="10241"/>
                    </a:cubicBezTo>
                    <a:lnTo>
                      <a:pt x="3278739" y="1463702"/>
                    </a:lnTo>
                    <a:cubicBezTo>
                      <a:pt x="3278739" y="1469358"/>
                      <a:pt x="3274154" y="1473943"/>
                      <a:pt x="3268498" y="1473943"/>
                    </a:cubicBezTo>
                    <a:lnTo>
                      <a:pt x="10241" y="1473943"/>
                    </a:lnTo>
                    <a:cubicBezTo>
                      <a:pt x="4585" y="1473943"/>
                      <a:pt x="0" y="1469358"/>
                      <a:pt x="0" y="1463702"/>
                    </a:cubicBezTo>
                    <a:lnTo>
                      <a:pt x="0" y="10241"/>
                    </a:lnTo>
                    <a:cubicBezTo>
                      <a:pt x="0" y="4585"/>
                      <a:pt x="4585" y="0"/>
                      <a:pt x="10241" y="0"/>
                    </a:cubicBezTo>
                    <a:close/>
                  </a:path>
                </a:pathLst>
              </a:custGeom>
              <a:ln w="38100" cap="sq">
                <a:solidFill>
                  <a:srgbClr val="EDC4BC"/>
                </a:solidFill>
                <a:prstDash val="solid"/>
                <a:miter/>
              </a:ln>
            </p:spPr>
          </p:sp>
          <p:sp>
            <p:nvSpPr>
              <p:cNvPr name="TextBox 17" id="17"/>
              <p:cNvSpPr txBox="true"/>
              <p:nvPr/>
            </p:nvSpPr>
            <p:spPr>
              <a:xfrm>
                <a:off x="0" y="57150"/>
                <a:ext cx="3278739" cy="1416793"/>
              </a:xfrm>
              <a:prstGeom prst="rect">
                <a:avLst/>
              </a:prstGeom>
            </p:spPr>
            <p:txBody>
              <a:bodyPr anchor="ctr" rtlCol="false" tIns="52443" lIns="52443" bIns="52443" rIns="52443"/>
              <a:lstStyle/>
              <a:p>
                <a:pPr algn="ctr">
                  <a:lnSpc>
                    <a:spcPts val="2375"/>
                  </a:lnSpc>
                </a:pPr>
              </a:p>
            </p:txBody>
          </p:sp>
        </p:grpSp>
        <p:sp>
          <p:nvSpPr>
            <p:cNvPr name="Freeform 18" id="18"/>
            <p:cNvSpPr/>
            <p:nvPr/>
          </p:nvSpPr>
          <p:spPr>
            <a:xfrm flipH="false" flipV="false" rot="0">
              <a:off x="242446" y="266942"/>
              <a:ext cx="6977402" cy="6167957"/>
            </a:xfrm>
            <a:custGeom>
              <a:avLst/>
              <a:gdLst/>
              <a:ahLst/>
              <a:cxnLst/>
              <a:rect r="r" b="b" t="t" l="l"/>
              <a:pathLst>
                <a:path h="6167957" w="6977402">
                  <a:moveTo>
                    <a:pt x="0" y="0"/>
                  </a:moveTo>
                  <a:lnTo>
                    <a:pt x="6977402" y="0"/>
                  </a:lnTo>
                  <a:lnTo>
                    <a:pt x="6977402" y="6167957"/>
                  </a:lnTo>
                  <a:lnTo>
                    <a:pt x="0" y="6167957"/>
                  </a:lnTo>
                  <a:lnTo>
                    <a:pt x="0" y="0"/>
                  </a:lnTo>
                  <a:close/>
                </a:path>
              </a:pathLst>
            </a:custGeom>
            <a:blipFill>
              <a:blip r:embed="rId10">
                <a:alphaModFix amt="50000"/>
              </a:blip>
              <a:stretch>
                <a:fillRect l="0" t="-7701" r="0" b="-7701"/>
              </a:stretch>
            </a:blipFill>
          </p:spPr>
        </p:sp>
        <p:grpSp>
          <p:nvGrpSpPr>
            <p:cNvPr name="Group 19" id="19"/>
            <p:cNvGrpSpPr/>
            <p:nvPr/>
          </p:nvGrpSpPr>
          <p:grpSpPr>
            <a:xfrm rot="0">
              <a:off x="7853247" y="930416"/>
              <a:ext cx="7521232" cy="5018841"/>
              <a:chOff x="0" y="0"/>
              <a:chExt cx="1695572" cy="1131438"/>
            </a:xfrm>
          </p:grpSpPr>
          <p:sp>
            <p:nvSpPr>
              <p:cNvPr name="Freeform 20" id="20"/>
              <p:cNvSpPr/>
              <p:nvPr/>
            </p:nvSpPr>
            <p:spPr>
              <a:xfrm flipH="false" flipV="false" rot="0">
                <a:off x="0" y="0"/>
                <a:ext cx="1695572" cy="1131438"/>
              </a:xfrm>
              <a:custGeom>
                <a:avLst/>
                <a:gdLst/>
                <a:ahLst/>
                <a:cxnLst/>
                <a:rect r="r" b="b" t="t" l="l"/>
                <a:pathLst>
                  <a:path h="1131438" w="1695572">
                    <a:moveTo>
                      <a:pt x="20443" y="0"/>
                    </a:moveTo>
                    <a:lnTo>
                      <a:pt x="1675129" y="0"/>
                    </a:lnTo>
                    <a:cubicBezTo>
                      <a:pt x="1680551" y="0"/>
                      <a:pt x="1685751" y="2154"/>
                      <a:pt x="1689584" y="5988"/>
                    </a:cubicBezTo>
                    <a:cubicBezTo>
                      <a:pt x="1693418" y="9822"/>
                      <a:pt x="1695572" y="15022"/>
                      <a:pt x="1695572" y="20443"/>
                    </a:cubicBezTo>
                    <a:lnTo>
                      <a:pt x="1695572" y="1110995"/>
                    </a:lnTo>
                    <a:cubicBezTo>
                      <a:pt x="1695572" y="1122285"/>
                      <a:pt x="1686419" y="1131438"/>
                      <a:pt x="1675129" y="1131438"/>
                    </a:cubicBezTo>
                    <a:lnTo>
                      <a:pt x="20443" y="1131438"/>
                    </a:lnTo>
                    <a:cubicBezTo>
                      <a:pt x="9153" y="1131438"/>
                      <a:pt x="0" y="1122285"/>
                      <a:pt x="0" y="1110995"/>
                    </a:cubicBezTo>
                    <a:lnTo>
                      <a:pt x="0" y="20443"/>
                    </a:lnTo>
                    <a:cubicBezTo>
                      <a:pt x="0" y="9153"/>
                      <a:pt x="9153" y="0"/>
                      <a:pt x="20443" y="0"/>
                    </a:cubicBezTo>
                    <a:close/>
                  </a:path>
                </a:pathLst>
              </a:custGeom>
              <a:ln cap="sq">
                <a:noFill/>
                <a:prstDash val="solid"/>
                <a:miter/>
              </a:ln>
            </p:spPr>
          </p:sp>
          <p:sp>
            <p:nvSpPr>
              <p:cNvPr name="TextBox 21" id="21"/>
              <p:cNvSpPr txBox="true"/>
              <p:nvPr/>
            </p:nvSpPr>
            <p:spPr>
              <a:xfrm>
                <a:off x="0" y="76200"/>
                <a:ext cx="1695572" cy="1055238"/>
              </a:xfrm>
              <a:prstGeom prst="rect">
                <a:avLst/>
              </a:prstGeom>
            </p:spPr>
            <p:txBody>
              <a:bodyPr anchor="ctr" rtlCol="false" tIns="50800" lIns="50800" bIns="50800" rIns="50800"/>
              <a:lstStyle/>
              <a:p>
                <a:pPr algn="ctr">
                  <a:lnSpc>
                    <a:spcPts val="2755"/>
                  </a:lnSpc>
                </a:pPr>
              </a:p>
            </p:txBody>
          </p:sp>
        </p:grpSp>
        <p:sp>
          <p:nvSpPr>
            <p:cNvPr name="TextBox 22" id="22"/>
            <p:cNvSpPr txBox="true"/>
            <p:nvPr/>
          </p:nvSpPr>
          <p:spPr>
            <a:xfrm rot="0">
              <a:off x="7853247" y="1508909"/>
              <a:ext cx="6645133" cy="3459305"/>
            </a:xfrm>
            <a:prstGeom prst="rect">
              <a:avLst/>
            </a:prstGeom>
          </p:spPr>
          <p:txBody>
            <a:bodyPr anchor="t" rtlCol="false" tIns="0" lIns="0" bIns="0" rIns="0">
              <a:spAutoFit/>
            </a:bodyPr>
            <a:lstStyle/>
            <a:p>
              <a:pPr algn="just">
                <a:lnSpc>
                  <a:spcPts val="4200"/>
                </a:lnSpc>
              </a:pPr>
              <a:r>
                <a:rPr lang="en-US" sz="3000">
                  <a:solidFill>
                    <a:srgbClr val="F0CFC7"/>
                  </a:solidFill>
                  <a:latin typeface="Noto Serif Ethiopic Condensed"/>
                  <a:ea typeface="Noto Serif Ethiopic Condensed"/>
                  <a:cs typeface="Noto Serif Ethiopic Condensed"/>
                  <a:sym typeface="Noto Serif Ethiopic Condensed"/>
                </a:rPr>
                <a:t>During the course of our research, our team identified four main pain points that cause </a:t>
              </a:r>
              <a:r>
                <a:rPr lang="en-US" sz="3000">
                  <a:solidFill>
                    <a:srgbClr val="F0CFC7"/>
                  </a:solidFill>
                  <a:latin typeface="Noto Serif Ethiopic Condensed"/>
                  <a:ea typeface="Noto Serif Ethiopic Condensed"/>
                  <a:cs typeface="Noto Serif Ethiopic Condensed"/>
                  <a:sym typeface="Noto Serif Ethiopic Condensed"/>
                </a:rPr>
                <a:t>significant impact on users’ app experiences.</a:t>
              </a:r>
            </a:p>
          </p:txBody>
        </p:sp>
      </p:grpSp>
      <p:sp>
        <p:nvSpPr>
          <p:cNvPr name="Freeform 23" id="23"/>
          <p:cNvSpPr/>
          <p:nvPr/>
        </p:nvSpPr>
        <p:spPr>
          <a:xfrm flipH="false" flipV="false" rot="-1864513">
            <a:off x="456557" y="7166408"/>
            <a:ext cx="918537" cy="942529"/>
          </a:xfrm>
          <a:custGeom>
            <a:avLst/>
            <a:gdLst/>
            <a:ahLst/>
            <a:cxnLst/>
            <a:rect r="r" b="b" t="t" l="l"/>
            <a:pathLst>
              <a:path h="942529" w="918537">
                <a:moveTo>
                  <a:pt x="0" y="0"/>
                </a:moveTo>
                <a:lnTo>
                  <a:pt x="918537" y="0"/>
                </a:lnTo>
                <a:lnTo>
                  <a:pt x="918537" y="942529"/>
                </a:lnTo>
                <a:lnTo>
                  <a:pt x="0" y="94252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Freeform 2" id="2"/>
          <p:cNvSpPr/>
          <p:nvPr/>
        </p:nvSpPr>
        <p:spPr>
          <a:xfrm flipH="false" flipV="false" rot="0">
            <a:off x="12428355" y="-1309670"/>
            <a:ext cx="3502048" cy="1916575"/>
          </a:xfrm>
          <a:custGeom>
            <a:avLst/>
            <a:gdLst/>
            <a:ahLst/>
            <a:cxnLst/>
            <a:rect r="r" b="b" t="t" l="l"/>
            <a:pathLst>
              <a:path h="1916575" w="3502048">
                <a:moveTo>
                  <a:pt x="0" y="0"/>
                </a:moveTo>
                <a:lnTo>
                  <a:pt x="3502048" y="0"/>
                </a:lnTo>
                <a:lnTo>
                  <a:pt x="3502048" y="1916575"/>
                </a:lnTo>
                <a:lnTo>
                  <a:pt x="0" y="1916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9671206"/>
            <a:ext cx="3502048" cy="1916575"/>
          </a:xfrm>
          <a:custGeom>
            <a:avLst/>
            <a:gdLst/>
            <a:ahLst/>
            <a:cxnLst/>
            <a:rect r="r" b="b" t="t" l="l"/>
            <a:pathLst>
              <a:path h="1916575" w="3502048">
                <a:moveTo>
                  <a:pt x="0" y="0"/>
                </a:moveTo>
                <a:lnTo>
                  <a:pt x="3502048" y="0"/>
                </a:lnTo>
                <a:lnTo>
                  <a:pt x="3502048" y="1916575"/>
                </a:lnTo>
                <a:lnTo>
                  <a:pt x="0" y="1916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839115" y="919506"/>
            <a:ext cx="8609771" cy="1592576"/>
          </a:xfrm>
          <a:prstGeom prst="rect">
            <a:avLst/>
          </a:prstGeom>
        </p:spPr>
        <p:txBody>
          <a:bodyPr anchor="t" rtlCol="false" tIns="0" lIns="0" bIns="0" rIns="0">
            <a:spAutoFit/>
          </a:bodyPr>
          <a:lstStyle/>
          <a:p>
            <a:pPr algn="ctr">
              <a:lnSpc>
                <a:spcPts val="13020"/>
              </a:lnSpc>
              <a:spcBef>
                <a:spcPct val="0"/>
              </a:spcBef>
            </a:pPr>
            <a:r>
              <a:rPr lang="en-US" b="true" sz="9300">
                <a:solidFill>
                  <a:srgbClr val="F0CFC7"/>
                </a:solidFill>
                <a:latin typeface="Noto Serif Ethiopic Condensed Bold"/>
                <a:ea typeface="Noto Serif Ethiopic Condensed Bold"/>
                <a:cs typeface="Noto Serif Ethiopic Condensed Bold"/>
                <a:sym typeface="Noto Serif Ethiopic Condensed Bold"/>
              </a:rPr>
              <a:t>Pain Point - 01 </a:t>
            </a:r>
          </a:p>
        </p:txBody>
      </p:sp>
      <p:sp>
        <p:nvSpPr>
          <p:cNvPr name="AutoShape 5" id="5"/>
          <p:cNvSpPr/>
          <p:nvPr/>
        </p:nvSpPr>
        <p:spPr>
          <a:xfrm flipV="true">
            <a:off x="1679939" y="2512083"/>
            <a:ext cx="14725034" cy="66675"/>
          </a:xfrm>
          <a:prstGeom prst="line">
            <a:avLst/>
          </a:prstGeom>
          <a:ln cap="rnd" w="38100">
            <a:solidFill>
              <a:srgbClr val="F0CFC7"/>
            </a:solidFill>
            <a:prstDash val="solid"/>
            <a:headEnd type="none" len="sm" w="sm"/>
            <a:tailEnd type="none" len="sm" w="sm"/>
          </a:ln>
        </p:spPr>
      </p:sp>
      <p:sp>
        <p:nvSpPr>
          <p:cNvPr name="TextBox 6" id="6"/>
          <p:cNvSpPr txBox="true"/>
          <p:nvPr/>
        </p:nvSpPr>
        <p:spPr>
          <a:xfrm rot="0">
            <a:off x="14350637" y="9683905"/>
            <a:ext cx="2679266" cy="317502"/>
          </a:xfrm>
          <a:prstGeom prst="rect">
            <a:avLst/>
          </a:prstGeom>
        </p:spPr>
        <p:txBody>
          <a:bodyPr anchor="t" rtlCol="false" tIns="0" lIns="0" bIns="0" rIns="0">
            <a:spAutoFit/>
          </a:bodyPr>
          <a:lstStyle/>
          <a:p>
            <a:pPr algn="l">
              <a:lnSpc>
                <a:spcPts val="2375"/>
              </a:lnSpc>
            </a:pPr>
            <a:r>
              <a:rPr lang="en-US" sz="2500">
                <a:solidFill>
                  <a:srgbClr val="F0CFC7"/>
                </a:solidFill>
                <a:latin typeface="Noto Serif Ethiopic Condensed"/>
                <a:ea typeface="Noto Serif Ethiopic Condensed"/>
                <a:cs typeface="Noto Serif Ethiopic Condensed"/>
                <a:sym typeface="Noto Serif Ethiopic Condensed"/>
              </a:rPr>
              <a:t>Blessed Dendere</a:t>
            </a:r>
          </a:p>
        </p:txBody>
      </p:sp>
      <p:sp>
        <p:nvSpPr>
          <p:cNvPr name="TextBox 7" id="7"/>
          <p:cNvSpPr txBox="true"/>
          <p:nvPr/>
        </p:nvSpPr>
        <p:spPr>
          <a:xfrm rot="0">
            <a:off x="1268834" y="664055"/>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8" id="8"/>
          <p:cNvSpPr txBox="true"/>
          <p:nvPr/>
        </p:nvSpPr>
        <p:spPr>
          <a:xfrm rot="0">
            <a:off x="15540215" y="8468493"/>
            <a:ext cx="1345360" cy="244406"/>
          </a:xfrm>
          <a:prstGeom prst="rect">
            <a:avLst/>
          </a:prstGeom>
        </p:spPr>
        <p:txBody>
          <a:bodyPr anchor="t" rtlCol="false" tIns="0" lIns="0" bIns="0" rIns="0">
            <a:spAutoFit/>
          </a:bodyPr>
          <a:lstStyle/>
          <a:p>
            <a:pPr algn="ctr">
              <a:lnSpc>
                <a:spcPts val="1928"/>
              </a:lnSpc>
            </a:pPr>
          </a:p>
        </p:txBody>
      </p:sp>
      <p:grpSp>
        <p:nvGrpSpPr>
          <p:cNvPr name="Group 9" id="9"/>
          <p:cNvGrpSpPr/>
          <p:nvPr/>
        </p:nvGrpSpPr>
        <p:grpSpPr>
          <a:xfrm rot="0">
            <a:off x="1679939" y="3756134"/>
            <a:ext cx="14725034" cy="4530163"/>
            <a:chOff x="0" y="0"/>
            <a:chExt cx="3732393" cy="1148272"/>
          </a:xfrm>
        </p:grpSpPr>
        <p:sp>
          <p:nvSpPr>
            <p:cNvPr name="Freeform 10" id="10"/>
            <p:cNvSpPr/>
            <p:nvPr/>
          </p:nvSpPr>
          <p:spPr>
            <a:xfrm flipH="false" flipV="false" rot="0">
              <a:off x="0" y="0"/>
              <a:ext cx="3732393" cy="1148272"/>
            </a:xfrm>
            <a:custGeom>
              <a:avLst/>
              <a:gdLst/>
              <a:ahLst/>
              <a:cxnLst/>
              <a:rect r="r" b="b" t="t" l="l"/>
              <a:pathLst>
                <a:path h="1148272" w="3732393">
                  <a:moveTo>
                    <a:pt x="13144" y="0"/>
                  </a:moveTo>
                  <a:lnTo>
                    <a:pt x="3719249" y="0"/>
                  </a:lnTo>
                  <a:cubicBezTo>
                    <a:pt x="3722735" y="0"/>
                    <a:pt x="3726078" y="1385"/>
                    <a:pt x="3728543" y="3850"/>
                  </a:cubicBezTo>
                  <a:cubicBezTo>
                    <a:pt x="3731008" y="6315"/>
                    <a:pt x="3732393" y="9658"/>
                    <a:pt x="3732393" y="13144"/>
                  </a:cubicBezTo>
                  <a:lnTo>
                    <a:pt x="3732393" y="1135128"/>
                  </a:lnTo>
                  <a:cubicBezTo>
                    <a:pt x="3732393" y="1142387"/>
                    <a:pt x="3726508" y="1148272"/>
                    <a:pt x="3719249" y="1148272"/>
                  </a:cubicBezTo>
                  <a:lnTo>
                    <a:pt x="13144" y="1148272"/>
                  </a:lnTo>
                  <a:cubicBezTo>
                    <a:pt x="9658" y="1148272"/>
                    <a:pt x="6315" y="1146887"/>
                    <a:pt x="3850" y="1144422"/>
                  </a:cubicBezTo>
                  <a:cubicBezTo>
                    <a:pt x="1385" y="1141957"/>
                    <a:pt x="0" y="1138614"/>
                    <a:pt x="0" y="1135128"/>
                  </a:cubicBezTo>
                  <a:lnTo>
                    <a:pt x="0" y="13144"/>
                  </a:lnTo>
                  <a:cubicBezTo>
                    <a:pt x="0" y="9658"/>
                    <a:pt x="1385" y="6315"/>
                    <a:pt x="3850" y="3850"/>
                  </a:cubicBezTo>
                  <a:cubicBezTo>
                    <a:pt x="6315" y="1385"/>
                    <a:pt x="9658" y="0"/>
                    <a:pt x="13144" y="0"/>
                  </a:cubicBezTo>
                  <a:close/>
                </a:path>
              </a:pathLst>
            </a:custGeom>
            <a:solidFill>
              <a:srgbClr val="FFFFFF">
                <a:alpha val="12941"/>
              </a:srgbClr>
            </a:solidFill>
            <a:ln w="38100" cap="rnd">
              <a:solidFill>
                <a:srgbClr val="FFFFFF">
                  <a:alpha val="12941"/>
                </a:srgbClr>
              </a:solidFill>
              <a:prstDash val="solid"/>
              <a:round/>
            </a:ln>
          </p:spPr>
        </p:sp>
        <p:sp>
          <p:nvSpPr>
            <p:cNvPr name="TextBox 11" id="11"/>
            <p:cNvSpPr txBox="true"/>
            <p:nvPr/>
          </p:nvSpPr>
          <p:spPr>
            <a:xfrm>
              <a:off x="0" y="-38100"/>
              <a:ext cx="3732393" cy="1186372"/>
            </a:xfrm>
            <a:prstGeom prst="rect">
              <a:avLst/>
            </a:prstGeom>
          </p:spPr>
          <p:txBody>
            <a:bodyPr anchor="ctr" rtlCol="false" tIns="52784" lIns="52784" bIns="52784" rIns="52784"/>
            <a:lstStyle/>
            <a:p>
              <a:pPr algn="ctr">
                <a:lnSpc>
                  <a:spcPts val="2659"/>
                </a:lnSpc>
              </a:pPr>
            </a:p>
          </p:txBody>
        </p:sp>
      </p:grpSp>
      <p:sp>
        <p:nvSpPr>
          <p:cNvPr name="TextBox 12" id="12"/>
          <p:cNvSpPr txBox="true"/>
          <p:nvPr/>
        </p:nvSpPr>
        <p:spPr>
          <a:xfrm rot="0">
            <a:off x="2020966" y="4426430"/>
            <a:ext cx="4097477" cy="2841913"/>
          </a:xfrm>
          <a:prstGeom prst="rect">
            <a:avLst/>
          </a:prstGeom>
        </p:spPr>
        <p:txBody>
          <a:bodyPr anchor="t" rtlCol="false" tIns="0" lIns="0" bIns="0" rIns="0">
            <a:spAutoFit/>
          </a:bodyPr>
          <a:lstStyle/>
          <a:p>
            <a:pPr algn="ctr">
              <a:lnSpc>
                <a:spcPts val="4534"/>
              </a:lnSpc>
            </a:pPr>
            <a:r>
              <a:rPr lang="en-US" sz="3238" b="true">
                <a:solidFill>
                  <a:srgbClr val="FFFFFF"/>
                </a:solidFill>
                <a:latin typeface="Noto Serif Ethiopic Condensed Bold"/>
                <a:ea typeface="Noto Serif Ethiopic Condensed Bold"/>
                <a:cs typeface="Noto Serif Ethiopic Condensed Bold"/>
                <a:sym typeface="Noto Serif Ethiopic Condensed Bold"/>
              </a:rPr>
              <a:t> Stability</a:t>
            </a:r>
            <a:r>
              <a:rPr lang="en-US" sz="3238">
                <a:solidFill>
                  <a:srgbClr val="FFFFFF"/>
                </a:solidFill>
                <a:latin typeface="Noto Serif Ethiopic Condensed"/>
                <a:ea typeface="Noto Serif Ethiopic Condensed"/>
                <a:cs typeface="Noto Serif Ethiopic Condensed"/>
                <a:sym typeface="Noto Serif Ethiopic Condensed"/>
              </a:rPr>
              <a:t> </a:t>
            </a:r>
          </a:p>
          <a:p>
            <a:pPr algn="l" marL="699223" indent="-349611" lvl="1">
              <a:lnSpc>
                <a:spcPts val="4534"/>
              </a:lnSpc>
              <a:buFont typeface="Arial"/>
              <a:buChar char="•"/>
            </a:pPr>
            <a:r>
              <a:rPr lang="en-US" sz="3238">
                <a:solidFill>
                  <a:srgbClr val="F0CFC7"/>
                </a:solidFill>
                <a:latin typeface="Noto Serif Ethiopic Condensed"/>
                <a:ea typeface="Noto Serif Ethiopic Condensed"/>
                <a:cs typeface="Noto Serif Ethiopic Condensed"/>
                <a:sym typeface="Noto Serif Ethiopic Condensed"/>
              </a:rPr>
              <a:t>Apps crash or freeze during use</a:t>
            </a:r>
          </a:p>
          <a:p>
            <a:pPr algn="l" marL="699223" indent="-349611" lvl="1">
              <a:lnSpc>
                <a:spcPts val="4534"/>
              </a:lnSpc>
              <a:spcBef>
                <a:spcPct val="0"/>
              </a:spcBef>
              <a:buFont typeface="Arial"/>
              <a:buChar char="•"/>
            </a:pPr>
            <a:r>
              <a:rPr lang="en-US" sz="3238">
                <a:solidFill>
                  <a:srgbClr val="F0CFC7"/>
                </a:solidFill>
                <a:latin typeface="Noto Serif Ethiopic Condensed"/>
                <a:ea typeface="Noto Serif Ethiopic Condensed"/>
                <a:cs typeface="Noto Serif Ethiopic Condensed"/>
                <a:sym typeface="Noto Serif Ethiopic Condensed"/>
              </a:rPr>
              <a:t>U</a:t>
            </a:r>
            <a:r>
              <a:rPr lang="en-US" sz="3238">
                <a:solidFill>
                  <a:srgbClr val="F0CFC7"/>
                </a:solidFill>
                <a:latin typeface="Noto Serif Ethiopic Condensed"/>
                <a:ea typeface="Noto Serif Ethiopic Condensed"/>
                <a:cs typeface="Noto Serif Ethiopic Condensed"/>
                <a:sym typeface="Noto Serif Ethiopic Condensed"/>
              </a:rPr>
              <a:t>nexpected bugs interrupt sessions. </a:t>
            </a:r>
          </a:p>
        </p:txBody>
      </p:sp>
      <p:sp>
        <p:nvSpPr>
          <p:cNvPr name="TextBox 13" id="13"/>
          <p:cNvSpPr txBox="true"/>
          <p:nvPr/>
        </p:nvSpPr>
        <p:spPr>
          <a:xfrm rot="0">
            <a:off x="12119987" y="4356209"/>
            <a:ext cx="3810416" cy="3413413"/>
          </a:xfrm>
          <a:prstGeom prst="rect">
            <a:avLst/>
          </a:prstGeom>
        </p:spPr>
        <p:txBody>
          <a:bodyPr anchor="t" rtlCol="false" tIns="0" lIns="0" bIns="0" rIns="0">
            <a:spAutoFit/>
          </a:bodyPr>
          <a:lstStyle/>
          <a:p>
            <a:pPr algn="ctr">
              <a:lnSpc>
                <a:spcPts val="4534"/>
              </a:lnSpc>
              <a:spcBef>
                <a:spcPct val="0"/>
              </a:spcBef>
            </a:pPr>
            <a:r>
              <a:rPr lang="en-US" b="true" sz="3238">
                <a:solidFill>
                  <a:srgbClr val="FFFFFF"/>
                </a:solidFill>
                <a:latin typeface="Noto Serif Ethiopic Condensed Bold"/>
                <a:ea typeface="Noto Serif Ethiopic Condensed Bold"/>
                <a:cs typeface="Noto Serif Ethiopic Condensed Bold"/>
                <a:sym typeface="Noto Serif Ethiopic Condensed Bold"/>
              </a:rPr>
              <a:t>Notifications </a:t>
            </a:r>
          </a:p>
          <a:p>
            <a:pPr algn="l" marL="699223" indent="-349611" lvl="1">
              <a:lnSpc>
                <a:spcPts val="4534"/>
              </a:lnSpc>
              <a:buFont typeface="Arial"/>
              <a:buChar char="•"/>
            </a:pPr>
            <a:r>
              <a:rPr lang="en-US" sz="3238">
                <a:solidFill>
                  <a:srgbClr val="F0CFC7"/>
                </a:solidFill>
                <a:latin typeface="Noto Serif Ethiopic Condensed"/>
                <a:ea typeface="Noto Serif Ethiopic Condensed"/>
                <a:cs typeface="Noto Serif Ethiopic Condensed"/>
                <a:sym typeface="Noto Serif Ethiopic Condensed"/>
              </a:rPr>
              <a:t>Inconsistent/delayed notifications </a:t>
            </a:r>
          </a:p>
          <a:p>
            <a:pPr algn="l" marL="699223" indent="-349611" lvl="1">
              <a:lnSpc>
                <a:spcPts val="4534"/>
              </a:lnSpc>
              <a:buFont typeface="Arial"/>
              <a:buChar char="•"/>
            </a:pPr>
            <a:r>
              <a:rPr lang="en-US" sz="3238">
                <a:solidFill>
                  <a:srgbClr val="F0CFC7"/>
                </a:solidFill>
                <a:latin typeface="Noto Serif Ethiopic Condensed"/>
                <a:ea typeface="Noto Serif Ethiopic Condensed"/>
                <a:cs typeface="Noto Serif Ethiopic Condensed"/>
                <a:sym typeface="Noto Serif Ethiopic Condensed"/>
              </a:rPr>
              <a:t>Missed reminders to check in. </a:t>
            </a:r>
          </a:p>
          <a:p>
            <a:pPr algn="l">
              <a:lnSpc>
                <a:spcPts val="4534"/>
              </a:lnSpc>
              <a:spcBef>
                <a:spcPct val="0"/>
              </a:spcBef>
            </a:pPr>
          </a:p>
        </p:txBody>
      </p:sp>
      <p:sp>
        <p:nvSpPr>
          <p:cNvPr name="TextBox 14" id="14"/>
          <p:cNvSpPr txBox="true"/>
          <p:nvPr/>
        </p:nvSpPr>
        <p:spPr>
          <a:xfrm rot="0">
            <a:off x="6459469" y="4261965"/>
            <a:ext cx="5388112" cy="3180368"/>
          </a:xfrm>
          <a:prstGeom prst="rect">
            <a:avLst/>
          </a:prstGeom>
        </p:spPr>
        <p:txBody>
          <a:bodyPr anchor="t" rtlCol="false" tIns="0" lIns="0" bIns="0" rIns="0">
            <a:spAutoFit/>
          </a:bodyPr>
          <a:lstStyle/>
          <a:p>
            <a:pPr algn="ctr">
              <a:lnSpc>
                <a:spcPts val="4254"/>
              </a:lnSpc>
            </a:pPr>
            <a:r>
              <a:rPr lang="en-US" sz="3038" b="true">
                <a:solidFill>
                  <a:srgbClr val="FFFFFF"/>
                </a:solidFill>
                <a:latin typeface="Noto Serif Ethiopic Condensed Bold"/>
                <a:ea typeface="Noto Serif Ethiopic Condensed Bold"/>
                <a:cs typeface="Noto Serif Ethiopic Condensed Bold"/>
                <a:sym typeface="Noto Serif Ethiopic Condensed Bold"/>
              </a:rPr>
              <a:t>Speed</a:t>
            </a:r>
            <a:r>
              <a:rPr lang="en-US" sz="3038">
                <a:solidFill>
                  <a:srgbClr val="FFFFFF"/>
                </a:solidFill>
                <a:latin typeface="Noto Serif Ethiopic Condensed"/>
                <a:ea typeface="Noto Serif Ethiopic Condensed"/>
                <a:cs typeface="Noto Serif Ethiopic Condensed"/>
                <a:sym typeface="Noto Serif Ethiopic Condensed"/>
              </a:rPr>
              <a:t> </a:t>
            </a:r>
          </a:p>
          <a:p>
            <a:pPr algn="l" marL="656044" indent="-328022" lvl="1">
              <a:lnSpc>
                <a:spcPts val="4254"/>
              </a:lnSpc>
              <a:buFont typeface="Arial"/>
              <a:buChar char="•"/>
            </a:pPr>
            <a:r>
              <a:rPr lang="en-US" sz="3038">
                <a:solidFill>
                  <a:srgbClr val="F0CFC7"/>
                </a:solidFill>
                <a:latin typeface="Noto Serif Ethiopic Condensed"/>
                <a:ea typeface="Noto Serif Ethiopic Condensed"/>
                <a:cs typeface="Noto Serif Ethiopic Condensed"/>
                <a:sym typeface="Noto Serif Ethiopic Condensed"/>
              </a:rPr>
              <a:t>Slow loading time when accessing features or content on the app. </a:t>
            </a:r>
          </a:p>
          <a:p>
            <a:pPr algn="l" marL="656044" indent="-328022" lvl="1">
              <a:lnSpc>
                <a:spcPts val="4254"/>
              </a:lnSpc>
              <a:spcBef>
                <a:spcPct val="0"/>
              </a:spcBef>
              <a:buFont typeface="Arial"/>
              <a:buChar char="•"/>
            </a:pPr>
            <a:r>
              <a:rPr lang="en-US" sz="3038">
                <a:solidFill>
                  <a:srgbClr val="F0CFC7"/>
                </a:solidFill>
                <a:latin typeface="Noto Serif Ethiopic Condensed"/>
                <a:ea typeface="Noto Serif Ethiopic Condensed"/>
                <a:cs typeface="Noto Serif Ethiopic Condensed"/>
                <a:sym typeface="Noto Serif Ethiopic Condensed"/>
              </a:rPr>
              <a:t>Delays that may </a:t>
            </a:r>
            <a:r>
              <a:rPr lang="en-US" sz="3038">
                <a:solidFill>
                  <a:srgbClr val="F0CFC7"/>
                </a:solidFill>
                <a:latin typeface="Noto Serif Ethiopic Condensed"/>
                <a:ea typeface="Noto Serif Ethiopic Condensed"/>
                <a:cs typeface="Noto Serif Ethiopic Condensed"/>
                <a:sym typeface="Noto Serif Ethiopic Condensed"/>
              </a:rPr>
              <a:t>occur on the app </a:t>
            </a:r>
          </a:p>
        </p:txBody>
      </p:sp>
      <p:sp>
        <p:nvSpPr>
          <p:cNvPr name="TextBox 15" id="15"/>
          <p:cNvSpPr txBox="true"/>
          <p:nvPr/>
        </p:nvSpPr>
        <p:spPr>
          <a:xfrm rot="0">
            <a:off x="5970071" y="2755721"/>
            <a:ext cx="6347857" cy="647989"/>
          </a:xfrm>
          <a:prstGeom prst="rect">
            <a:avLst/>
          </a:prstGeom>
        </p:spPr>
        <p:txBody>
          <a:bodyPr anchor="t" rtlCol="false" tIns="0" lIns="0" bIns="0" rIns="0">
            <a:spAutoFit/>
          </a:bodyPr>
          <a:lstStyle/>
          <a:p>
            <a:pPr algn="ctr">
              <a:lnSpc>
                <a:spcPts val="5234"/>
              </a:lnSpc>
              <a:spcBef>
                <a:spcPct val="0"/>
              </a:spcBef>
            </a:pPr>
            <a:r>
              <a:rPr lang="en-US" b="true" sz="3738">
                <a:solidFill>
                  <a:srgbClr val="FFFFFF"/>
                </a:solidFill>
                <a:latin typeface="Noto Serif Ethiopic Condensed Bold"/>
                <a:ea typeface="Noto Serif Ethiopic Condensed Bold"/>
                <a:cs typeface="Noto Serif Ethiopic Condensed Bold"/>
                <a:sym typeface="Noto Serif Ethiopic Condensed Bold"/>
              </a:rPr>
              <a:t>Technical and Performance</a:t>
            </a:r>
          </a:p>
        </p:txBody>
      </p:sp>
      <p:sp>
        <p:nvSpPr>
          <p:cNvPr name="Freeform 16" id="16"/>
          <p:cNvSpPr/>
          <p:nvPr/>
        </p:nvSpPr>
        <p:spPr>
          <a:xfrm flipH="false" flipV="false" rot="0">
            <a:off x="16681198" y="867837"/>
            <a:ext cx="1926440" cy="3451277"/>
          </a:xfrm>
          <a:custGeom>
            <a:avLst/>
            <a:gdLst/>
            <a:ahLst/>
            <a:cxnLst/>
            <a:rect r="r" b="b" t="t" l="l"/>
            <a:pathLst>
              <a:path h="3451277" w="1926440">
                <a:moveTo>
                  <a:pt x="0" y="0"/>
                </a:moveTo>
                <a:lnTo>
                  <a:pt x="1926440" y="0"/>
                </a:lnTo>
                <a:lnTo>
                  <a:pt x="1926440" y="3451278"/>
                </a:lnTo>
                <a:lnTo>
                  <a:pt x="0" y="34512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false" rot="0">
            <a:off x="-246501" y="1396939"/>
            <a:ext cx="1926440" cy="3451277"/>
          </a:xfrm>
          <a:custGeom>
            <a:avLst/>
            <a:gdLst/>
            <a:ahLst/>
            <a:cxnLst/>
            <a:rect r="r" b="b" t="t" l="l"/>
            <a:pathLst>
              <a:path h="3451277" w="1926440">
                <a:moveTo>
                  <a:pt x="1926440" y="0"/>
                </a:moveTo>
                <a:lnTo>
                  <a:pt x="0" y="0"/>
                </a:lnTo>
                <a:lnTo>
                  <a:pt x="0" y="3451277"/>
                </a:lnTo>
                <a:lnTo>
                  <a:pt x="1926440" y="3451277"/>
                </a:lnTo>
                <a:lnTo>
                  <a:pt x="192644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1864513">
            <a:off x="327161" y="7820070"/>
            <a:ext cx="908718" cy="932453"/>
          </a:xfrm>
          <a:custGeom>
            <a:avLst/>
            <a:gdLst/>
            <a:ahLst/>
            <a:cxnLst/>
            <a:rect r="r" b="b" t="t" l="l"/>
            <a:pathLst>
              <a:path h="932453" w="908718">
                <a:moveTo>
                  <a:pt x="0" y="0"/>
                </a:moveTo>
                <a:lnTo>
                  <a:pt x="908719" y="0"/>
                </a:lnTo>
                <a:lnTo>
                  <a:pt x="908719" y="932454"/>
                </a:lnTo>
                <a:lnTo>
                  <a:pt x="0" y="9324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9" id="19"/>
          <p:cNvSpPr/>
          <p:nvPr/>
        </p:nvSpPr>
        <p:spPr>
          <a:xfrm flipH="false" flipV="false" rot="-1864513">
            <a:off x="16867595" y="3934214"/>
            <a:ext cx="965448" cy="990665"/>
          </a:xfrm>
          <a:custGeom>
            <a:avLst/>
            <a:gdLst/>
            <a:ahLst/>
            <a:cxnLst/>
            <a:rect r="r" b="b" t="t" l="l"/>
            <a:pathLst>
              <a:path h="990665" w="965448">
                <a:moveTo>
                  <a:pt x="0" y="0"/>
                </a:moveTo>
                <a:lnTo>
                  <a:pt x="965448" y="0"/>
                </a:lnTo>
                <a:lnTo>
                  <a:pt x="965448" y="990664"/>
                </a:lnTo>
                <a:lnTo>
                  <a:pt x="0" y="9906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Freeform 2" id="2"/>
          <p:cNvSpPr/>
          <p:nvPr/>
        </p:nvSpPr>
        <p:spPr>
          <a:xfrm flipH="false" flipV="false" rot="0">
            <a:off x="15690270" y="1257506"/>
            <a:ext cx="1715278" cy="283801"/>
          </a:xfrm>
          <a:custGeom>
            <a:avLst/>
            <a:gdLst/>
            <a:ahLst/>
            <a:cxnLst/>
            <a:rect r="r" b="b" t="t" l="l"/>
            <a:pathLst>
              <a:path h="283801" w="1715278">
                <a:moveTo>
                  <a:pt x="0" y="0"/>
                </a:moveTo>
                <a:lnTo>
                  <a:pt x="1715277" y="0"/>
                </a:lnTo>
                <a:lnTo>
                  <a:pt x="1715277" y="283801"/>
                </a:lnTo>
                <a:lnTo>
                  <a:pt x="0" y="2838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568978" y="-1171289"/>
            <a:ext cx="3502048" cy="1916575"/>
          </a:xfrm>
          <a:custGeom>
            <a:avLst/>
            <a:gdLst/>
            <a:ahLst/>
            <a:cxnLst/>
            <a:rect r="r" b="b" t="t" l="l"/>
            <a:pathLst>
              <a:path h="1916575" w="3502048">
                <a:moveTo>
                  <a:pt x="0" y="0"/>
                </a:moveTo>
                <a:lnTo>
                  <a:pt x="3502048" y="0"/>
                </a:lnTo>
                <a:lnTo>
                  <a:pt x="3502048" y="1916575"/>
                </a:lnTo>
                <a:lnTo>
                  <a:pt x="0" y="19165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421717" y="9517987"/>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7019166" y="3132359"/>
            <a:ext cx="480267" cy="480267"/>
          </a:xfrm>
          <a:custGeom>
            <a:avLst/>
            <a:gdLst/>
            <a:ahLst/>
            <a:cxnLst/>
            <a:rect r="r" b="b" t="t" l="l"/>
            <a:pathLst>
              <a:path h="480267" w="480267">
                <a:moveTo>
                  <a:pt x="0" y="0"/>
                </a:moveTo>
                <a:lnTo>
                  <a:pt x="480268" y="0"/>
                </a:lnTo>
                <a:lnTo>
                  <a:pt x="480268"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28700" y="9671206"/>
            <a:ext cx="3502048" cy="1916575"/>
          </a:xfrm>
          <a:custGeom>
            <a:avLst/>
            <a:gdLst/>
            <a:ahLst/>
            <a:cxnLst/>
            <a:rect r="r" b="b" t="t" l="l"/>
            <a:pathLst>
              <a:path h="1916575" w="3502048">
                <a:moveTo>
                  <a:pt x="0" y="0"/>
                </a:moveTo>
                <a:lnTo>
                  <a:pt x="3502048" y="0"/>
                </a:lnTo>
                <a:lnTo>
                  <a:pt x="3502048" y="1916575"/>
                </a:lnTo>
                <a:lnTo>
                  <a:pt x="0" y="19165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7" id="7"/>
          <p:cNvSpPr/>
          <p:nvPr/>
        </p:nvSpPr>
        <p:spPr>
          <a:xfrm>
            <a:off x="1758690" y="2694922"/>
            <a:ext cx="14932535" cy="0"/>
          </a:xfrm>
          <a:prstGeom prst="line">
            <a:avLst/>
          </a:prstGeom>
          <a:ln cap="rnd" w="38100">
            <a:solidFill>
              <a:srgbClr val="F0CFC7"/>
            </a:solidFill>
            <a:prstDash val="solid"/>
            <a:headEnd type="none" len="sm" w="sm"/>
            <a:tailEnd type="none" len="sm" w="sm"/>
          </a:ln>
        </p:spPr>
      </p:sp>
      <p:sp>
        <p:nvSpPr>
          <p:cNvPr name="TextBox 8" id="8"/>
          <p:cNvSpPr txBox="true"/>
          <p:nvPr/>
        </p:nvSpPr>
        <p:spPr>
          <a:xfrm rot="0">
            <a:off x="4839115" y="955568"/>
            <a:ext cx="8609771" cy="1658619"/>
          </a:xfrm>
          <a:prstGeom prst="rect">
            <a:avLst/>
          </a:prstGeom>
        </p:spPr>
        <p:txBody>
          <a:bodyPr anchor="t" rtlCol="false" tIns="0" lIns="0" bIns="0" rIns="0">
            <a:spAutoFit/>
          </a:bodyPr>
          <a:lstStyle/>
          <a:p>
            <a:pPr algn="ctr">
              <a:lnSpc>
                <a:spcPts val="13580"/>
              </a:lnSpc>
              <a:spcBef>
                <a:spcPct val="0"/>
              </a:spcBef>
            </a:pPr>
            <a:r>
              <a:rPr lang="en-US" b="true" sz="9700">
                <a:solidFill>
                  <a:srgbClr val="F0CFC7"/>
                </a:solidFill>
                <a:latin typeface="Noto Serif Ethiopic Condensed Bold"/>
                <a:ea typeface="Noto Serif Ethiopic Condensed Bold"/>
                <a:cs typeface="Noto Serif Ethiopic Condensed Bold"/>
                <a:sym typeface="Noto Serif Ethiopic Condensed Bold"/>
              </a:rPr>
              <a:t>Pain Point - 02 </a:t>
            </a:r>
          </a:p>
        </p:txBody>
      </p:sp>
      <p:sp>
        <p:nvSpPr>
          <p:cNvPr name="TextBox 9" id="9"/>
          <p:cNvSpPr txBox="true"/>
          <p:nvPr/>
        </p:nvSpPr>
        <p:spPr>
          <a:xfrm rot="0">
            <a:off x="15208276" y="9541030"/>
            <a:ext cx="2679266" cy="317502"/>
          </a:xfrm>
          <a:prstGeom prst="rect">
            <a:avLst/>
          </a:prstGeom>
        </p:spPr>
        <p:txBody>
          <a:bodyPr anchor="t" rtlCol="false" tIns="0" lIns="0" bIns="0" rIns="0">
            <a:spAutoFit/>
          </a:bodyPr>
          <a:lstStyle/>
          <a:p>
            <a:pPr algn="l">
              <a:lnSpc>
                <a:spcPts val="2375"/>
              </a:lnSpc>
            </a:pPr>
            <a:r>
              <a:rPr lang="en-US" sz="2500">
                <a:solidFill>
                  <a:srgbClr val="F0CFC7"/>
                </a:solidFill>
                <a:latin typeface="Noto Serif Ethiopic Condensed"/>
                <a:ea typeface="Noto Serif Ethiopic Condensed"/>
                <a:cs typeface="Noto Serif Ethiopic Condensed"/>
                <a:sym typeface="Noto Serif Ethiopic Condensed"/>
              </a:rPr>
              <a:t>Blessed Dendere</a:t>
            </a:r>
          </a:p>
        </p:txBody>
      </p:sp>
      <p:sp>
        <p:nvSpPr>
          <p:cNvPr name="TextBox 10" id="10"/>
          <p:cNvSpPr txBox="true"/>
          <p:nvPr/>
        </p:nvSpPr>
        <p:spPr>
          <a:xfrm rot="0">
            <a:off x="1268834" y="683105"/>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grpSp>
        <p:nvGrpSpPr>
          <p:cNvPr name="Group 11" id="11"/>
          <p:cNvGrpSpPr/>
          <p:nvPr/>
        </p:nvGrpSpPr>
        <p:grpSpPr>
          <a:xfrm rot="0">
            <a:off x="1758690" y="3719986"/>
            <a:ext cx="14932535" cy="5538314"/>
            <a:chOff x="0" y="0"/>
            <a:chExt cx="3784989" cy="1403811"/>
          </a:xfrm>
        </p:grpSpPr>
        <p:sp>
          <p:nvSpPr>
            <p:cNvPr name="Freeform 12" id="12"/>
            <p:cNvSpPr/>
            <p:nvPr/>
          </p:nvSpPr>
          <p:spPr>
            <a:xfrm flipH="false" flipV="false" rot="0">
              <a:off x="0" y="0"/>
              <a:ext cx="3784989" cy="1403811"/>
            </a:xfrm>
            <a:custGeom>
              <a:avLst/>
              <a:gdLst/>
              <a:ahLst/>
              <a:cxnLst/>
              <a:rect r="r" b="b" t="t" l="l"/>
              <a:pathLst>
                <a:path h="1403811" w="3784989">
                  <a:moveTo>
                    <a:pt x="12961" y="0"/>
                  </a:moveTo>
                  <a:lnTo>
                    <a:pt x="3772027" y="0"/>
                  </a:lnTo>
                  <a:cubicBezTo>
                    <a:pt x="3779186" y="0"/>
                    <a:pt x="3784989" y="5803"/>
                    <a:pt x="3784989" y="12961"/>
                  </a:cubicBezTo>
                  <a:lnTo>
                    <a:pt x="3784989" y="1390849"/>
                  </a:lnTo>
                  <a:cubicBezTo>
                    <a:pt x="3784989" y="1398008"/>
                    <a:pt x="3779186" y="1403811"/>
                    <a:pt x="3772027" y="1403811"/>
                  </a:cubicBezTo>
                  <a:lnTo>
                    <a:pt x="12961" y="1403811"/>
                  </a:lnTo>
                  <a:cubicBezTo>
                    <a:pt x="5803" y="1403811"/>
                    <a:pt x="0" y="1398008"/>
                    <a:pt x="0" y="1390849"/>
                  </a:cubicBezTo>
                  <a:lnTo>
                    <a:pt x="0" y="12961"/>
                  </a:lnTo>
                  <a:cubicBezTo>
                    <a:pt x="0" y="5803"/>
                    <a:pt x="5803" y="0"/>
                    <a:pt x="12961" y="0"/>
                  </a:cubicBezTo>
                  <a:close/>
                </a:path>
              </a:pathLst>
            </a:custGeom>
            <a:solidFill>
              <a:srgbClr val="FFFFFF">
                <a:alpha val="12941"/>
              </a:srgbClr>
            </a:solidFill>
            <a:ln w="38100" cap="rnd">
              <a:solidFill>
                <a:srgbClr val="FFFFFF">
                  <a:alpha val="12941"/>
                </a:srgbClr>
              </a:solidFill>
              <a:prstDash val="solid"/>
              <a:round/>
            </a:ln>
          </p:spPr>
        </p:sp>
        <p:sp>
          <p:nvSpPr>
            <p:cNvPr name="TextBox 13" id="13"/>
            <p:cNvSpPr txBox="true"/>
            <p:nvPr/>
          </p:nvSpPr>
          <p:spPr>
            <a:xfrm>
              <a:off x="0" y="-38100"/>
              <a:ext cx="3784989" cy="1441911"/>
            </a:xfrm>
            <a:prstGeom prst="rect">
              <a:avLst/>
            </a:prstGeom>
          </p:spPr>
          <p:txBody>
            <a:bodyPr anchor="ctr" rtlCol="false" tIns="52784" lIns="52784" bIns="52784" rIns="52784"/>
            <a:lstStyle/>
            <a:p>
              <a:pPr algn="ctr">
                <a:lnSpc>
                  <a:spcPts val="2659"/>
                </a:lnSpc>
              </a:pPr>
            </a:p>
          </p:txBody>
        </p:sp>
      </p:grpSp>
      <p:sp>
        <p:nvSpPr>
          <p:cNvPr name="Freeform 14" id="14"/>
          <p:cNvSpPr/>
          <p:nvPr/>
        </p:nvSpPr>
        <p:spPr>
          <a:xfrm flipH="false" flipV="false" rot="0">
            <a:off x="779041" y="5715375"/>
            <a:ext cx="480267" cy="480267"/>
          </a:xfrm>
          <a:custGeom>
            <a:avLst/>
            <a:gdLst/>
            <a:ahLst/>
            <a:cxnLst/>
            <a:rect r="r" b="b" t="t" l="l"/>
            <a:pathLst>
              <a:path h="480267" w="480267">
                <a:moveTo>
                  <a:pt x="0" y="0"/>
                </a:moveTo>
                <a:lnTo>
                  <a:pt x="480268" y="0"/>
                </a:lnTo>
                <a:lnTo>
                  <a:pt x="480268"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2779724" y="4237858"/>
            <a:ext cx="5638579" cy="4750966"/>
          </a:xfrm>
          <a:prstGeom prst="rect">
            <a:avLst/>
          </a:prstGeom>
        </p:spPr>
        <p:txBody>
          <a:bodyPr anchor="t" rtlCol="false" tIns="0" lIns="0" bIns="0" rIns="0">
            <a:spAutoFit/>
          </a:bodyPr>
          <a:lstStyle/>
          <a:p>
            <a:pPr algn="ctr">
              <a:lnSpc>
                <a:spcPts val="3785"/>
              </a:lnSpc>
              <a:spcBef>
                <a:spcPct val="0"/>
              </a:spcBef>
            </a:pPr>
            <a:r>
              <a:rPr lang="en-US" b="true" sz="2704">
                <a:solidFill>
                  <a:srgbClr val="FFFFFF"/>
                </a:solidFill>
                <a:latin typeface="Noto Serif Ethiopic Condensed Bold"/>
                <a:ea typeface="Noto Serif Ethiopic Condensed Bold"/>
                <a:cs typeface="Noto Serif Ethiopic Condensed Bold"/>
                <a:sym typeface="Noto Serif Ethiopic Condensed Bold"/>
              </a:rPr>
              <a:t>Peer support challenges </a:t>
            </a:r>
          </a:p>
          <a:p>
            <a:pPr algn="l" marL="583816" indent="-291908" lvl="1">
              <a:lnSpc>
                <a:spcPts val="3785"/>
              </a:lnSpc>
              <a:buFont typeface="Arial"/>
              <a:buChar char="•"/>
            </a:pPr>
            <a:r>
              <a:rPr lang="en-US" sz="2704">
                <a:solidFill>
                  <a:srgbClr val="F0CFC7"/>
                </a:solidFill>
                <a:latin typeface="Noto Serif Ethiopic Condensed"/>
                <a:ea typeface="Noto Serif Ethiopic Condensed"/>
                <a:cs typeface="Noto Serif Ethiopic Condensed"/>
                <a:sym typeface="Noto Serif Ethiopic Condensed"/>
              </a:rPr>
              <a:t>Support interactions may feel generic increasing emotional distress.</a:t>
            </a:r>
          </a:p>
          <a:p>
            <a:pPr algn="l" marL="583816" indent="-291908" lvl="1">
              <a:lnSpc>
                <a:spcPts val="3785"/>
              </a:lnSpc>
              <a:buFont typeface="Arial"/>
              <a:buChar char="•"/>
            </a:pPr>
            <a:r>
              <a:rPr lang="en-US" sz="2704">
                <a:solidFill>
                  <a:srgbClr val="F0CFC7"/>
                </a:solidFill>
                <a:latin typeface="Noto Serif Ethiopic Condensed"/>
                <a:ea typeface="Noto Serif Ethiopic Condensed"/>
                <a:cs typeface="Noto Serif Ethiopic Condensed"/>
                <a:sym typeface="Noto Serif Ethiopic Condensed"/>
              </a:rPr>
              <a:t> Unclear guidelines on what to do during a crisis or resource(articles) are outdated. </a:t>
            </a:r>
          </a:p>
          <a:p>
            <a:pPr algn="l" marL="583816" indent="-291908" lvl="1">
              <a:lnSpc>
                <a:spcPts val="3785"/>
              </a:lnSpc>
              <a:buFont typeface="Arial"/>
              <a:buChar char="•"/>
            </a:pPr>
            <a:r>
              <a:rPr lang="en-US" sz="2704">
                <a:solidFill>
                  <a:srgbClr val="F0CFC7"/>
                </a:solidFill>
                <a:latin typeface="Noto Serif Ethiopic Condensed"/>
                <a:ea typeface="Noto Serif Ethiopic Condensed"/>
                <a:cs typeface="Noto Serif Ethiopic Condensed"/>
                <a:sym typeface="Noto Serif Ethiopic Condensed"/>
              </a:rPr>
              <a:t>The risk of feeling isolated even in a community environment. </a:t>
            </a:r>
          </a:p>
          <a:p>
            <a:pPr algn="just">
              <a:lnSpc>
                <a:spcPts val="3785"/>
              </a:lnSpc>
              <a:spcBef>
                <a:spcPct val="0"/>
              </a:spcBef>
            </a:pPr>
          </a:p>
        </p:txBody>
      </p:sp>
      <p:sp>
        <p:nvSpPr>
          <p:cNvPr name="TextBox 16" id="16"/>
          <p:cNvSpPr txBox="true"/>
          <p:nvPr/>
        </p:nvSpPr>
        <p:spPr>
          <a:xfrm rot="0">
            <a:off x="15540215" y="8468493"/>
            <a:ext cx="1345360" cy="244406"/>
          </a:xfrm>
          <a:prstGeom prst="rect">
            <a:avLst/>
          </a:prstGeom>
        </p:spPr>
        <p:txBody>
          <a:bodyPr anchor="t" rtlCol="false" tIns="0" lIns="0" bIns="0" rIns="0">
            <a:spAutoFit/>
          </a:bodyPr>
          <a:lstStyle/>
          <a:p>
            <a:pPr algn="ctr">
              <a:lnSpc>
                <a:spcPts val="1928"/>
              </a:lnSpc>
            </a:pPr>
          </a:p>
        </p:txBody>
      </p:sp>
      <p:sp>
        <p:nvSpPr>
          <p:cNvPr name="TextBox 17" id="17"/>
          <p:cNvSpPr txBox="true"/>
          <p:nvPr/>
        </p:nvSpPr>
        <p:spPr>
          <a:xfrm rot="0">
            <a:off x="9870791" y="4237858"/>
            <a:ext cx="5582119" cy="4750966"/>
          </a:xfrm>
          <a:prstGeom prst="rect">
            <a:avLst/>
          </a:prstGeom>
        </p:spPr>
        <p:txBody>
          <a:bodyPr anchor="t" rtlCol="false" tIns="0" lIns="0" bIns="0" rIns="0">
            <a:spAutoFit/>
          </a:bodyPr>
          <a:lstStyle/>
          <a:p>
            <a:pPr algn="ctr">
              <a:lnSpc>
                <a:spcPts val="3785"/>
              </a:lnSpc>
              <a:spcBef>
                <a:spcPct val="0"/>
              </a:spcBef>
            </a:pPr>
            <a:r>
              <a:rPr lang="en-US" b="true" sz="2704">
                <a:solidFill>
                  <a:srgbClr val="FFFFFF"/>
                </a:solidFill>
                <a:latin typeface="Noto Serif Ethiopic Condensed Bold"/>
                <a:ea typeface="Noto Serif Ethiopic Condensed Bold"/>
                <a:cs typeface="Noto Serif Ethiopic Condensed Bold"/>
                <a:sym typeface="Noto Serif Ethiopic Condensed Bold"/>
              </a:rPr>
              <a:t>Peer support challenges </a:t>
            </a:r>
          </a:p>
          <a:p>
            <a:pPr algn="l" marL="583816" indent="-291908" lvl="1">
              <a:lnSpc>
                <a:spcPts val="3785"/>
              </a:lnSpc>
              <a:buFont typeface="Arial"/>
              <a:buChar char="•"/>
            </a:pPr>
            <a:r>
              <a:rPr lang="en-US" sz="2704">
                <a:solidFill>
                  <a:srgbClr val="F0CFC7"/>
                </a:solidFill>
                <a:latin typeface="Noto Serif Ethiopic Condensed"/>
                <a:ea typeface="Noto Serif Ethiopic Condensed"/>
                <a:cs typeface="Noto Serif Ethiopic Condensed"/>
                <a:sym typeface="Noto Serif Ethiopic Condensed"/>
              </a:rPr>
              <a:t>Support interactions may feel generic increasing emotional distress.</a:t>
            </a:r>
          </a:p>
          <a:p>
            <a:pPr algn="l" marL="583816" indent="-291908" lvl="1">
              <a:lnSpc>
                <a:spcPts val="3785"/>
              </a:lnSpc>
              <a:buFont typeface="Arial"/>
              <a:buChar char="•"/>
            </a:pPr>
            <a:r>
              <a:rPr lang="en-US" sz="2704">
                <a:solidFill>
                  <a:srgbClr val="F0CFC7"/>
                </a:solidFill>
                <a:latin typeface="Noto Serif Ethiopic Condensed"/>
                <a:ea typeface="Noto Serif Ethiopic Condensed"/>
                <a:cs typeface="Noto Serif Ethiopic Condensed"/>
                <a:sym typeface="Noto Serif Ethiopic Condensed"/>
              </a:rPr>
              <a:t> Unclear guidelines on what to do during a crisis or resource(articles) are outdated. </a:t>
            </a:r>
          </a:p>
          <a:p>
            <a:pPr algn="l" marL="583816" indent="-291908" lvl="1">
              <a:lnSpc>
                <a:spcPts val="3785"/>
              </a:lnSpc>
              <a:buFont typeface="Arial"/>
              <a:buChar char="•"/>
            </a:pPr>
            <a:r>
              <a:rPr lang="en-US" sz="2704">
                <a:solidFill>
                  <a:srgbClr val="F0CFC7"/>
                </a:solidFill>
                <a:latin typeface="Noto Serif Ethiopic Condensed"/>
                <a:ea typeface="Noto Serif Ethiopic Condensed"/>
                <a:cs typeface="Noto Serif Ethiopic Condensed"/>
                <a:sym typeface="Noto Serif Ethiopic Condensed"/>
              </a:rPr>
              <a:t>The risk of feeling isolated even in a community environment. </a:t>
            </a:r>
          </a:p>
          <a:p>
            <a:pPr algn="just">
              <a:lnSpc>
                <a:spcPts val="3785"/>
              </a:lnSpc>
              <a:spcBef>
                <a:spcPct val="0"/>
              </a:spcBef>
            </a:pPr>
          </a:p>
        </p:txBody>
      </p:sp>
      <p:sp>
        <p:nvSpPr>
          <p:cNvPr name="TextBox 18" id="18"/>
          <p:cNvSpPr txBox="true"/>
          <p:nvPr/>
        </p:nvSpPr>
        <p:spPr>
          <a:xfrm rot="0">
            <a:off x="6214998" y="2792368"/>
            <a:ext cx="5858005" cy="613306"/>
          </a:xfrm>
          <a:prstGeom prst="rect">
            <a:avLst/>
          </a:prstGeom>
        </p:spPr>
        <p:txBody>
          <a:bodyPr anchor="t" rtlCol="false" tIns="0" lIns="0" bIns="0" rIns="0">
            <a:spAutoFit/>
          </a:bodyPr>
          <a:lstStyle/>
          <a:p>
            <a:pPr algn="just">
              <a:lnSpc>
                <a:spcPts val="5045"/>
              </a:lnSpc>
              <a:spcBef>
                <a:spcPct val="0"/>
              </a:spcBef>
            </a:pPr>
            <a:r>
              <a:rPr lang="en-US" b="true" sz="3604">
                <a:solidFill>
                  <a:srgbClr val="FFFFFF"/>
                </a:solidFill>
                <a:latin typeface="Noto Serif Ethiopic Condensed Bold"/>
                <a:ea typeface="Noto Serif Ethiopic Condensed Bold"/>
                <a:cs typeface="Noto Serif Ethiopic Condensed Bold"/>
                <a:sym typeface="Noto Serif Ethiopic Condensed Bold"/>
              </a:rPr>
              <a:t>Social and Peer Interactions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Freeform 2" id="2"/>
          <p:cNvSpPr/>
          <p:nvPr/>
        </p:nvSpPr>
        <p:spPr>
          <a:xfrm flipH="false" flipV="false" rot="0">
            <a:off x="15071026" y="9048472"/>
            <a:ext cx="1715278" cy="283801"/>
          </a:xfrm>
          <a:custGeom>
            <a:avLst/>
            <a:gdLst/>
            <a:ahLst/>
            <a:cxnLst/>
            <a:rect r="r" b="b" t="t" l="l"/>
            <a:pathLst>
              <a:path h="283801" w="1715278">
                <a:moveTo>
                  <a:pt x="0" y="0"/>
                </a:moveTo>
                <a:lnTo>
                  <a:pt x="1715278" y="0"/>
                </a:lnTo>
                <a:lnTo>
                  <a:pt x="1715278" y="283801"/>
                </a:lnTo>
                <a:lnTo>
                  <a:pt x="0" y="2838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568978" y="-1171289"/>
            <a:ext cx="3502048" cy="1916575"/>
          </a:xfrm>
          <a:custGeom>
            <a:avLst/>
            <a:gdLst/>
            <a:ahLst/>
            <a:cxnLst/>
            <a:rect r="r" b="b" t="t" l="l"/>
            <a:pathLst>
              <a:path h="1916575" w="3502048">
                <a:moveTo>
                  <a:pt x="0" y="0"/>
                </a:moveTo>
                <a:lnTo>
                  <a:pt x="3502048" y="0"/>
                </a:lnTo>
                <a:lnTo>
                  <a:pt x="3502048" y="1916575"/>
                </a:lnTo>
                <a:lnTo>
                  <a:pt x="0" y="19165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02762" y="6787951"/>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6574305" y="9258300"/>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28700" y="9671206"/>
            <a:ext cx="3502048" cy="1916575"/>
          </a:xfrm>
          <a:custGeom>
            <a:avLst/>
            <a:gdLst/>
            <a:ahLst/>
            <a:cxnLst/>
            <a:rect r="r" b="b" t="t" l="l"/>
            <a:pathLst>
              <a:path h="1916575" w="3502048">
                <a:moveTo>
                  <a:pt x="0" y="0"/>
                </a:moveTo>
                <a:lnTo>
                  <a:pt x="3502048" y="0"/>
                </a:lnTo>
                <a:lnTo>
                  <a:pt x="3502048" y="1916575"/>
                </a:lnTo>
                <a:lnTo>
                  <a:pt x="0" y="19165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215562" y="3788209"/>
            <a:ext cx="15670013" cy="5011454"/>
            <a:chOff x="0" y="0"/>
            <a:chExt cx="3971919" cy="1270266"/>
          </a:xfrm>
        </p:grpSpPr>
        <p:sp>
          <p:nvSpPr>
            <p:cNvPr name="Freeform 8" id="8"/>
            <p:cNvSpPr/>
            <p:nvPr/>
          </p:nvSpPr>
          <p:spPr>
            <a:xfrm flipH="false" flipV="false" rot="0">
              <a:off x="0" y="0"/>
              <a:ext cx="3971919" cy="1270266"/>
            </a:xfrm>
            <a:custGeom>
              <a:avLst/>
              <a:gdLst/>
              <a:ahLst/>
              <a:cxnLst/>
              <a:rect r="r" b="b" t="t" l="l"/>
              <a:pathLst>
                <a:path h="1270266" w="3971919">
                  <a:moveTo>
                    <a:pt x="12351" y="0"/>
                  </a:moveTo>
                  <a:lnTo>
                    <a:pt x="3959568" y="0"/>
                  </a:lnTo>
                  <a:cubicBezTo>
                    <a:pt x="3962843" y="0"/>
                    <a:pt x="3965985" y="1301"/>
                    <a:pt x="3968302" y="3618"/>
                  </a:cubicBezTo>
                  <a:cubicBezTo>
                    <a:pt x="3970618" y="5934"/>
                    <a:pt x="3971919" y="9076"/>
                    <a:pt x="3971919" y="12351"/>
                  </a:cubicBezTo>
                  <a:lnTo>
                    <a:pt x="3971919" y="1257915"/>
                  </a:lnTo>
                  <a:cubicBezTo>
                    <a:pt x="3971919" y="1261191"/>
                    <a:pt x="3970618" y="1264332"/>
                    <a:pt x="3968302" y="1266649"/>
                  </a:cubicBezTo>
                  <a:cubicBezTo>
                    <a:pt x="3965985" y="1268965"/>
                    <a:pt x="3962843" y="1270266"/>
                    <a:pt x="3959568" y="1270266"/>
                  </a:cubicBezTo>
                  <a:lnTo>
                    <a:pt x="12351" y="1270266"/>
                  </a:lnTo>
                  <a:cubicBezTo>
                    <a:pt x="5530" y="1270266"/>
                    <a:pt x="0" y="1264736"/>
                    <a:pt x="0" y="1257915"/>
                  </a:cubicBezTo>
                  <a:lnTo>
                    <a:pt x="0" y="12351"/>
                  </a:lnTo>
                  <a:cubicBezTo>
                    <a:pt x="0" y="9076"/>
                    <a:pt x="1301" y="5934"/>
                    <a:pt x="3618" y="3618"/>
                  </a:cubicBezTo>
                  <a:cubicBezTo>
                    <a:pt x="5934" y="1301"/>
                    <a:pt x="9076" y="0"/>
                    <a:pt x="12351" y="0"/>
                  </a:cubicBezTo>
                  <a:close/>
                </a:path>
              </a:pathLst>
            </a:custGeom>
            <a:solidFill>
              <a:srgbClr val="FFFFFF">
                <a:alpha val="12941"/>
              </a:srgbClr>
            </a:solidFill>
            <a:ln w="38100" cap="rnd">
              <a:solidFill>
                <a:srgbClr val="FFFFFF">
                  <a:alpha val="12941"/>
                </a:srgbClr>
              </a:solidFill>
              <a:prstDash val="solid"/>
              <a:round/>
            </a:ln>
          </p:spPr>
        </p:sp>
        <p:sp>
          <p:nvSpPr>
            <p:cNvPr name="TextBox 9" id="9"/>
            <p:cNvSpPr txBox="true"/>
            <p:nvPr/>
          </p:nvSpPr>
          <p:spPr>
            <a:xfrm>
              <a:off x="0" y="-38100"/>
              <a:ext cx="3971919" cy="1308366"/>
            </a:xfrm>
            <a:prstGeom prst="rect">
              <a:avLst/>
            </a:prstGeom>
          </p:spPr>
          <p:txBody>
            <a:bodyPr anchor="ctr" rtlCol="false" tIns="52784" lIns="52784" bIns="52784" rIns="52784"/>
            <a:lstStyle/>
            <a:p>
              <a:pPr algn="ctr">
                <a:lnSpc>
                  <a:spcPts val="2659"/>
                </a:lnSpc>
              </a:pPr>
            </a:p>
          </p:txBody>
        </p:sp>
      </p:grpSp>
      <p:sp>
        <p:nvSpPr>
          <p:cNvPr name="TextBox 10" id="10"/>
          <p:cNvSpPr txBox="true"/>
          <p:nvPr/>
        </p:nvSpPr>
        <p:spPr>
          <a:xfrm rot="0">
            <a:off x="5592049" y="2891631"/>
            <a:ext cx="7103901" cy="572728"/>
          </a:xfrm>
          <a:prstGeom prst="rect">
            <a:avLst/>
          </a:prstGeom>
        </p:spPr>
        <p:txBody>
          <a:bodyPr anchor="t" rtlCol="false" tIns="0" lIns="0" bIns="0" rIns="0">
            <a:spAutoFit/>
          </a:bodyPr>
          <a:lstStyle/>
          <a:p>
            <a:pPr algn="just">
              <a:lnSpc>
                <a:spcPts val="4657"/>
              </a:lnSpc>
              <a:spcBef>
                <a:spcPct val="0"/>
              </a:spcBef>
            </a:pPr>
            <a:r>
              <a:rPr lang="en-US" b="true" sz="3326">
                <a:solidFill>
                  <a:srgbClr val="FFFFFF"/>
                </a:solidFill>
                <a:latin typeface="Noto Serif Ethiopic Condensed Bold"/>
                <a:ea typeface="Noto Serif Ethiopic Condensed Bold"/>
                <a:cs typeface="Noto Serif Ethiopic Condensed Bold"/>
                <a:sym typeface="Noto Serif Ethiopic Condensed Bold"/>
              </a:rPr>
              <a:t>Psychological and Emotional Barriers</a:t>
            </a:r>
          </a:p>
        </p:txBody>
      </p:sp>
      <p:sp>
        <p:nvSpPr>
          <p:cNvPr name="TextBox 11" id="11"/>
          <p:cNvSpPr txBox="true"/>
          <p:nvPr/>
        </p:nvSpPr>
        <p:spPr>
          <a:xfrm rot="0">
            <a:off x="15540215" y="8458968"/>
            <a:ext cx="1345360" cy="252919"/>
          </a:xfrm>
          <a:prstGeom prst="rect">
            <a:avLst/>
          </a:prstGeom>
        </p:spPr>
        <p:txBody>
          <a:bodyPr anchor="t" rtlCol="false" tIns="0" lIns="0" bIns="0" rIns="0">
            <a:spAutoFit/>
          </a:bodyPr>
          <a:lstStyle/>
          <a:p>
            <a:pPr algn="ctr">
              <a:lnSpc>
                <a:spcPts val="1928"/>
              </a:lnSpc>
            </a:pPr>
          </a:p>
        </p:txBody>
      </p:sp>
      <p:sp>
        <p:nvSpPr>
          <p:cNvPr name="TextBox 12" id="12"/>
          <p:cNvSpPr txBox="true"/>
          <p:nvPr/>
        </p:nvSpPr>
        <p:spPr>
          <a:xfrm rot="0">
            <a:off x="14726282" y="9613752"/>
            <a:ext cx="2679266" cy="317502"/>
          </a:xfrm>
          <a:prstGeom prst="rect">
            <a:avLst/>
          </a:prstGeom>
        </p:spPr>
        <p:txBody>
          <a:bodyPr anchor="t" rtlCol="false" tIns="0" lIns="0" bIns="0" rIns="0">
            <a:spAutoFit/>
          </a:bodyPr>
          <a:lstStyle/>
          <a:p>
            <a:pPr algn="l">
              <a:lnSpc>
                <a:spcPts val="2375"/>
              </a:lnSpc>
            </a:pPr>
            <a:r>
              <a:rPr lang="en-US" sz="2500">
                <a:solidFill>
                  <a:srgbClr val="F0CFC7"/>
                </a:solidFill>
                <a:latin typeface="Noto Serif Ethiopic Condensed"/>
                <a:ea typeface="Noto Serif Ethiopic Condensed"/>
                <a:cs typeface="Noto Serif Ethiopic Condensed"/>
                <a:sym typeface="Noto Serif Ethiopic Condensed"/>
              </a:rPr>
              <a:t>Blessed Dendere</a:t>
            </a:r>
          </a:p>
        </p:txBody>
      </p:sp>
      <p:sp>
        <p:nvSpPr>
          <p:cNvPr name="TextBox 13" id="13"/>
          <p:cNvSpPr txBox="true"/>
          <p:nvPr/>
        </p:nvSpPr>
        <p:spPr>
          <a:xfrm rot="0">
            <a:off x="1268834" y="625679"/>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14" id="14"/>
          <p:cNvSpPr txBox="true"/>
          <p:nvPr/>
        </p:nvSpPr>
        <p:spPr>
          <a:xfrm rot="0">
            <a:off x="5330981" y="902043"/>
            <a:ext cx="7626037" cy="1592576"/>
          </a:xfrm>
          <a:prstGeom prst="rect">
            <a:avLst/>
          </a:prstGeom>
        </p:spPr>
        <p:txBody>
          <a:bodyPr anchor="t" rtlCol="false" tIns="0" lIns="0" bIns="0" rIns="0">
            <a:spAutoFit/>
          </a:bodyPr>
          <a:lstStyle/>
          <a:p>
            <a:pPr algn="ctr">
              <a:lnSpc>
                <a:spcPts val="13020"/>
              </a:lnSpc>
              <a:spcBef>
                <a:spcPct val="0"/>
              </a:spcBef>
            </a:pPr>
            <a:r>
              <a:rPr lang="en-US" b="true" sz="9300">
                <a:solidFill>
                  <a:srgbClr val="F0CFC7"/>
                </a:solidFill>
                <a:latin typeface="Noto Serif Ethiopic Condensed Bold"/>
                <a:ea typeface="Noto Serif Ethiopic Condensed Bold"/>
                <a:cs typeface="Noto Serif Ethiopic Condensed Bold"/>
                <a:sym typeface="Noto Serif Ethiopic Condensed Bold"/>
              </a:rPr>
              <a:t>Pain Point - 03 </a:t>
            </a:r>
          </a:p>
        </p:txBody>
      </p:sp>
      <p:sp>
        <p:nvSpPr>
          <p:cNvPr name="TextBox 15" id="15"/>
          <p:cNvSpPr txBox="true"/>
          <p:nvPr/>
        </p:nvSpPr>
        <p:spPr>
          <a:xfrm rot="0">
            <a:off x="6814439" y="4090212"/>
            <a:ext cx="5138863" cy="4274167"/>
          </a:xfrm>
          <a:prstGeom prst="rect">
            <a:avLst/>
          </a:prstGeom>
        </p:spPr>
        <p:txBody>
          <a:bodyPr anchor="t" rtlCol="false" tIns="0" lIns="0" bIns="0" rIns="0">
            <a:spAutoFit/>
          </a:bodyPr>
          <a:lstStyle/>
          <a:p>
            <a:pPr algn="ctr">
              <a:lnSpc>
                <a:spcPts val="3816"/>
              </a:lnSpc>
            </a:pPr>
            <a:r>
              <a:rPr lang="en-US" sz="2725" b="true">
                <a:solidFill>
                  <a:srgbClr val="FFFFFF"/>
                </a:solidFill>
                <a:latin typeface="Noto Serif Ethiopic Condensed Bold"/>
                <a:ea typeface="Noto Serif Ethiopic Condensed Bold"/>
                <a:cs typeface="Noto Serif Ethiopic Condensed Bold"/>
                <a:sym typeface="Noto Serif Ethiopic Condensed Bold"/>
              </a:rPr>
              <a:t>Privacy </a:t>
            </a:r>
          </a:p>
          <a:p>
            <a:pPr algn="l" marL="588484" indent="-294242" lvl="1">
              <a:lnSpc>
                <a:spcPts val="3816"/>
              </a:lnSpc>
              <a:buFont typeface="Arial"/>
              <a:buChar char="•"/>
            </a:pPr>
            <a:r>
              <a:rPr lang="en-US" sz="2725">
                <a:solidFill>
                  <a:srgbClr val="F0CFC7"/>
                </a:solidFill>
                <a:latin typeface="Noto Serif Ethiopic Condensed"/>
                <a:ea typeface="Noto Serif Ethiopic Condensed"/>
                <a:cs typeface="Noto Serif Ethiopic Condensed"/>
                <a:sym typeface="Noto Serif Ethiopic Condensed"/>
              </a:rPr>
              <a:t>Unable to determine the measures taken to protect users’ sensitive data. </a:t>
            </a:r>
          </a:p>
          <a:p>
            <a:pPr algn="l" marL="588484" indent="-294242" lvl="1">
              <a:lnSpc>
                <a:spcPts val="3816"/>
              </a:lnSpc>
              <a:buFont typeface="Arial"/>
              <a:buChar char="•"/>
            </a:pPr>
            <a:r>
              <a:rPr lang="en-US" sz="2725">
                <a:solidFill>
                  <a:srgbClr val="F0CFC7"/>
                </a:solidFill>
                <a:latin typeface="Noto Serif Ethiopic Condensed"/>
                <a:ea typeface="Noto Serif Ethiopic Condensed"/>
                <a:cs typeface="Noto Serif Ethiopic Condensed"/>
                <a:sym typeface="Noto Serif Ethiopic Condensed"/>
              </a:rPr>
              <a:t>Uncertainty about how journal entries will be secured. </a:t>
            </a:r>
          </a:p>
          <a:p>
            <a:pPr algn="l" marL="588484" indent="-294242" lvl="1">
              <a:lnSpc>
                <a:spcPts val="3816"/>
              </a:lnSpc>
              <a:spcBef>
                <a:spcPct val="0"/>
              </a:spcBef>
              <a:buFont typeface="Arial"/>
              <a:buChar char="•"/>
            </a:pPr>
            <a:r>
              <a:rPr lang="en-US" sz="2725">
                <a:solidFill>
                  <a:srgbClr val="F0CFC7"/>
                </a:solidFill>
                <a:latin typeface="Noto Serif Ethiopic Condensed"/>
                <a:ea typeface="Noto Serif Ethiopic Condensed"/>
                <a:cs typeface="Noto Serif Ethiopic Condensed"/>
                <a:sym typeface="Noto Serif Ethiopic Condensed"/>
              </a:rPr>
              <a:t>Hesitant to engage fully because of confidentiality concerns. </a:t>
            </a:r>
          </a:p>
        </p:txBody>
      </p:sp>
      <p:sp>
        <p:nvSpPr>
          <p:cNvPr name="TextBox 16" id="16"/>
          <p:cNvSpPr txBox="true"/>
          <p:nvPr/>
        </p:nvSpPr>
        <p:spPr>
          <a:xfrm rot="0">
            <a:off x="1472663" y="4197201"/>
            <a:ext cx="4885838" cy="4181457"/>
          </a:xfrm>
          <a:prstGeom prst="rect">
            <a:avLst/>
          </a:prstGeom>
        </p:spPr>
        <p:txBody>
          <a:bodyPr anchor="t" rtlCol="false" tIns="0" lIns="0" bIns="0" rIns="0">
            <a:spAutoFit/>
          </a:bodyPr>
          <a:lstStyle/>
          <a:p>
            <a:pPr algn="ctr">
              <a:lnSpc>
                <a:spcPts val="3676"/>
              </a:lnSpc>
            </a:pPr>
            <a:r>
              <a:rPr lang="en-US" sz="2625" b="true">
                <a:solidFill>
                  <a:srgbClr val="FFFFFF"/>
                </a:solidFill>
                <a:latin typeface="Noto Serif Ethiopic Condensed Bold"/>
                <a:ea typeface="Noto Serif Ethiopic Condensed Bold"/>
                <a:cs typeface="Noto Serif Ethiopic Condensed Bold"/>
                <a:sym typeface="Noto Serif Ethiopic Condensed Bold"/>
              </a:rPr>
              <a:t>Efficiency </a:t>
            </a:r>
          </a:p>
          <a:p>
            <a:pPr algn="l" marL="566895" indent="-283447" lvl="1">
              <a:lnSpc>
                <a:spcPts val="3676"/>
              </a:lnSpc>
              <a:buFont typeface="Arial"/>
              <a:buChar char="•"/>
            </a:pPr>
            <a:r>
              <a:rPr lang="en-US" sz="2625">
                <a:solidFill>
                  <a:srgbClr val="F0CFC7"/>
                </a:solidFill>
                <a:latin typeface="Noto Serif Ethiopic Condensed"/>
                <a:ea typeface="Noto Serif Ethiopic Condensed"/>
                <a:cs typeface="Noto Serif Ethiopic Condensed"/>
                <a:sym typeface="Noto Serif Ethiopic Condensed"/>
              </a:rPr>
              <a:t>Do</a:t>
            </a:r>
            <a:r>
              <a:rPr lang="en-US" sz="2625">
                <a:solidFill>
                  <a:srgbClr val="F0CFC7"/>
                </a:solidFill>
                <a:latin typeface="Noto Serif Ethiopic Condensed"/>
                <a:ea typeface="Noto Serif Ethiopic Condensed"/>
                <a:cs typeface="Noto Serif Ethiopic Condensed"/>
                <a:sym typeface="Noto Serif Ethiopic Condensed"/>
              </a:rPr>
              <a:t>es not provide certainty of what the app offers .</a:t>
            </a:r>
          </a:p>
          <a:p>
            <a:pPr algn="l" marL="566895" indent="-283447" lvl="1">
              <a:lnSpc>
                <a:spcPts val="3676"/>
              </a:lnSpc>
              <a:buFont typeface="Arial"/>
              <a:buChar char="•"/>
            </a:pPr>
            <a:r>
              <a:rPr lang="en-US" sz="2625">
                <a:solidFill>
                  <a:srgbClr val="F0CFC7"/>
                </a:solidFill>
                <a:latin typeface="Noto Serif Ethiopic Condensed"/>
                <a:ea typeface="Noto Serif Ethiopic Condensed"/>
                <a:cs typeface="Noto Serif Ethiopic Condensed"/>
                <a:sym typeface="Noto Serif Ethiopic Condensed"/>
              </a:rPr>
              <a:t>Limited number of resources available. </a:t>
            </a:r>
          </a:p>
          <a:p>
            <a:pPr algn="l" marL="566895" indent="-283447" lvl="1">
              <a:lnSpc>
                <a:spcPts val="3676"/>
              </a:lnSpc>
              <a:buFont typeface="Arial"/>
              <a:buChar char="•"/>
            </a:pPr>
            <a:r>
              <a:rPr lang="en-US" sz="2625">
                <a:solidFill>
                  <a:srgbClr val="F0CFC7"/>
                </a:solidFill>
                <a:latin typeface="Noto Serif Ethiopic Condensed"/>
                <a:ea typeface="Noto Serif Ethiopic Condensed"/>
                <a:cs typeface="Noto Serif Ethiopic Condensed"/>
                <a:sym typeface="Noto Serif Ethiopic Condensed"/>
              </a:rPr>
              <a:t>Users expected outcomes do not match the outcome. </a:t>
            </a:r>
          </a:p>
          <a:p>
            <a:pPr algn="l" marL="566895" indent="-283447" lvl="1">
              <a:lnSpc>
                <a:spcPts val="3676"/>
              </a:lnSpc>
              <a:spcBef>
                <a:spcPct val="0"/>
              </a:spcBef>
              <a:buFont typeface="Arial"/>
              <a:buChar char="•"/>
            </a:pPr>
            <a:r>
              <a:rPr lang="en-US" sz="2625">
                <a:solidFill>
                  <a:srgbClr val="F0CFC7"/>
                </a:solidFill>
                <a:latin typeface="Noto Serif Ethiopic Condensed"/>
                <a:ea typeface="Noto Serif Ethiopic Condensed"/>
                <a:cs typeface="Noto Serif Ethiopic Condensed"/>
                <a:sym typeface="Noto Serif Ethiopic Condensed"/>
              </a:rPr>
              <a:t>Hesitant in trusting automated AI-based advice.</a:t>
            </a:r>
          </a:p>
        </p:txBody>
      </p:sp>
      <p:sp>
        <p:nvSpPr>
          <p:cNvPr name="TextBox 17" id="17"/>
          <p:cNvSpPr txBox="true"/>
          <p:nvPr/>
        </p:nvSpPr>
        <p:spPr>
          <a:xfrm rot="0">
            <a:off x="12195287" y="4197201"/>
            <a:ext cx="4289912" cy="4602462"/>
          </a:xfrm>
          <a:prstGeom prst="rect">
            <a:avLst/>
          </a:prstGeom>
        </p:spPr>
        <p:txBody>
          <a:bodyPr anchor="t" rtlCol="false" tIns="0" lIns="0" bIns="0" rIns="0">
            <a:spAutoFit/>
          </a:bodyPr>
          <a:lstStyle/>
          <a:p>
            <a:pPr algn="ctr">
              <a:lnSpc>
                <a:spcPts val="4096"/>
              </a:lnSpc>
            </a:pPr>
            <a:r>
              <a:rPr lang="en-US" sz="2925" b="true">
                <a:solidFill>
                  <a:srgbClr val="FFFFFF"/>
                </a:solidFill>
                <a:latin typeface="Noto Serif Ethiopic Condensed Bold"/>
                <a:ea typeface="Noto Serif Ethiopic Condensed Bold"/>
                <a:cs typeface="Noto Serif Ethiopic Condensed Bold"/>
                <a:sym typeface="Noto Serif Ethiopic Condensed Bold"/>
              </a:rPr>
              <a:t>E</a:t>
            </a:r>
            <a:r>
              <a:rPr lang="en-US" sz="2925" b="true">
                <a:solidFill>
                  <a:srgbClr val="FFFFFF"/>
                </a:solidFill>
                <a:latin typeface="Noto Serif Ethiopic Condensed Bold"/>
                <a:ea typeface="Noto Serif Ethiopic Condensed Bold"/>
                <a:cs typeface="Noto Serif Ethiopic Condensed Bold"/>
                <a:sym typeface="Noto Serif Ethiopic Condensed Bold"/>
              </a:rPr>
              <a:t>ngagement </a:t>
            </a:r>
          </a:p>
          <a:p>
            <a:pPr algn="l" marL="631663" indent="-315831" lvl="1">
              <a:lnSpc>
                <a:spcPts val="4096"/>
              </a:lnSpc>
              <a:buFont typeface="Arial"/>
              <a:buChar char="•"/>
            </a:pPr>
            <a:r>
              <a:rPr lang="en-US" sz="2925">
                <a:solidFill>
                  <a:srgbClr val="F0CFC7"/>
                </a:solidFill>
                <a:latin typeface="Noto Serif Ethiopic Condensed"/>
                <a:ea typeface="Noto Serif Ethiopic Condensed"/>
                <a:cs typeface="Noto Serif Ethiopic Condensed"/>
                <a:sym typeface="Noto Serif Ethiopic Condensed"/>
              </a:rPr>
              <a:t>Users feel guilty for missing daily reflection or exercise. </a:t>
            </a:r>
          </a:p>
          <a:p>
            <a:pPr algn="l" marL="631663" indent="-315831" lvl="1">
              <a:lnSpc>
                <a:spcPts val="4096"/>
              </a:lnSpc>
              <a:buFont typeface="Arial"/>
              <a:buChar char="•"/>
            </a:pPr>
            <a:r>
              <a:rPr lang="en-US" sz="2925">
                <a:solidFill>
                  <a:srgbClr val="F0CFC7"/>
                </a:solidFill>
                <a:latin typeface="Noto Serif Ethiopic Condensed"/>
                <a:ea typeface="Noto Serif Ethiopic Condensed"/>
                <a:cs typeface="Noto Serif Ethiopic Condensed"/>
                <a:sym typeface="Noto Serif Ethiopic Condensed"/>
              </a:rPr>
              <a:t>Users not knowing their progress.</a:t>
            </a:r>
          </a:p>
          <a:p>
            <a:pPr algn="l" marL="631663" indent="-315831" lvl="1">
              <a:lnSpc>
                <a:spcPts val="4096"/>
              </a:lnSpc>
              <a:buFont typeface="Arial"/>
              <a:buChar char="•"/>
            </a:pPr>
            <a:r>
              <a:rPr lang="en-US" sz="2925">
                <a:solidFill>
                  <a:srgbClr val="F0CFC7"/>
                </a:solidFill>
                <a:latin typeface="Noto Serif Ethiopic Condensed"/>
                <a:ea typeface="Noto Serif Ethiopic Condensed"/>
                <a:cs typeface="Noto Serif Ethiopic Condensed"/>
                <a:sym typeface="Noto Serif Ethiopic Condensed"/>
              </a:rPr>
              <a:t>Lack of reminders to maintain routine use. </a:t>
            </a:r>
          </a:p>
          <a:p>
            <a:pPr algn="l">
              <a:lnSpc>
                <a:spcPts val="4096"/>
              </a:lnSpc>
              <a:spcBef>
                <a:spcPct val="0"/>
              </a:spcBef>
            </a:pPr>
          </a:p>
        </p:txBody>
      </p:sp>
      <p:sp>
        <p:nvSpPr>
          <p:cNvPr name="AutoShape 18" id="18"/>
          <p:cNvSpPr/>
          <p:nvPr/>
        </p:nvSpPr>
        <p:spPr>
          <a:xfrm>
            <a:off x="1028700" y="2653506"/>
            <a:ext cx="15856875" cy="0"/>
          </a:xfrm>
          <a:prstGeom prst="line">
            <a:avLst/>
          </a:prstGeom>
          <a:ln cap="rnd" w="38100">
            <a:solidFill>
              <a:srgbClr val="F0CFC7"/>
            </a:solidFill>
            <a:prstDash val="solid"/>
            <a:headEnd type="none" len="sm" w="sm"/>
            <a:tailEnd type="none" len="sm" w="sm"/>
          </a:ln>
        </p:spPr>
      </p:sp>
      <p:sp>
        <p:nvSpPr>
          <p:cNvPr name="Freeform 19" id="19"/>
          <p:cNvSpPr/>
          <p:nvPr/>
        </p:nvSpPr>
        <p:spPr>
          <a:xfrm flipH="false" flipV="false" rot="0">
            <a:off x="16805354" y="2821507"/>
            <a:ext cx="1926440" cy="3451277"/>
          </a:xfrm>
          <a:custGeom>
            <a:avLst/>
            <a:gdLst/>
            <a:ahLst/>
            <a:cxnLst/>
            <a:rect r="r" b="b" t="t" l="l"/>
            <a:pathLst>
              <a:path h="3451277" w="1926440">
                <a:moveTo>
                  <a:pt x="0" y="0"/>
                </a:moveTo>
                <a:lnTo>
                  <a:pt x="1926440" y="0"/>
                </a:lnTo>
                <a:lnTo>
                  <a:pt x="1926440" y="3451278"/>
                </a:lnTo>
                <a:lnTo>
                  <a:pt x="0" y="34512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true" flipV="false" rot="0">
            <a:off x="-320324" y="2785543"/>
            <a:ext cx="1926440" cy="3451277"/>
          </a:xfrm>
          <a:custGeom>
            <a:avLst/>
            <a:gdLst/>
            <a:ahLst/>
            <a:cxnLst/>
            <a:rect r="r" b="b" t="t" l="l"/>
            <a:pathLst>
              <a:path h="3451277" w="1926440">
                <a:moveTo>
                  <a:pt x="1926440" y="0"/>
                </a:moveTo>
                <a:lnTo>
                  <a:pt x="0" y="0"/>
                </a:lnTo>
                <a:lnTo>
                  <a:pt x="0" y="3451277"/>
                </a:lnTo>
                <a:lnTo>
                  <a:pt x="1926440" y="3451277"/>
                </a:lnTo>
                <a:lnTo>
                  <a:pt x="192644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1" id="21"/>
          <p:cNvSpPr/>
          <p:nvPr/>
        </p:nvSpPr>
        <p:spPr>
          <a:xfrm flipH="false" flipV="false" rot="-1864513">
            <a:off x="16215211" y="513790"/>
            <a:ext cx="773285" cy="793483"/>
          </a:xfrm>
          <a:custGeom>
            <a:avLst/>
            <a:gdLst/>
            <a:ahLst/>
            <a:cxnLst/>
            <a:rect r="r" b="b" t="t" l="l"/>
            <a:pathLst>
              <a:path h="793483" w="773285">
                <a:moveTo>
                  <a:pt x="0" y="0"/>
                </a:moveTo>
                <a:lnTo>
                  <a:pt x="773285" y="0"/>
                </a:lnTo>
                <a:lnTo>
                  <a:pt x="773285" y="793483"/>
                </a:lnTo>
                <a:lnTo>
                  <a:pt x="0" y="79348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grpSp>
        <p:nvGrpSpPr>
          <p:cNvPr name="Group 2" id="2"/>
          <p:cNvGrpSpPr/>
          <p:nvPr/>
        </p:nvGrpSpPr>
        <p:grpSpPr>
          <a:xfrm rot="0">
            <a:off x="1215562" y="3789205"/>
            <a:ext cx="15570741" cy="4989357"/>
            <a:chOff x="0" y="0"/>
            <a:chExt cx="3946757" cy="1264666"/>
          </a:xfrm>
        </p:grpSpPr>
        <p:sp>
          <p:nvSpPr>
            <p:cNvPr name="Freeform 3" id="3"/>
            <p:cNvSpPr/>
            <p:nvPr/>
          </p:nvSpPr>
          <p:spPr>
            <a:xfrm flipH="false" flipV="false" rot="0">
              <a:off x="0" y="0"/>
              <a:ext cx="3946757" cy="1264666"/>
            </a:xfrm>
            <a:custGeom>
              <a:avLst/>
              <a:gdLst/>
              <a:ahLst/>
              <a:cxnLst/>
              <a:rect r="r" b="b" t="t" l="l"/>
              <a:pathLst>
                <a:path h="1264666" w="3946757">
                  <a:moveTo>
                    <a:pt x="12430" y="0"/>
                  </a:moveTo>
                  <a:lnTo>
                    <a:pt x="3934327" y="0"/>
                  </a:lnTo>
                  <a:cubicBezTo>
                    <a:pt x="3941192" y="0"/>
                    <a:pt x="3946757" y="5565"/>
                    <a:pt x="3946757" y="12430"/>
                  </a:cubicBezTo>
                  <a:lnTo>
                    <a:pt x="3946757" y="1252235"/>
                  </a:lnTo>
                  <a:cubicBezTo>
                    <a:pt x="3946757" y="1259100"/>
                    <a:pt x="3941192" y="1264666"/>
                    <a:pt x="3934327" y="1264666"/>
                  </a:cubicBezTo>
                  <a:lnTo>
                    <a:pt x="12430" y="1264666"/>
                  </a:lnTo>
                  <a:cubicBezTo>
                    <a:pt x="9134" y="1264666"/>
                    <a:pt x="5972" y="1263356"/>
                    <a:pt x="3641" y="1261025"/>
                  </a:cubicBezTo>
                  <a:cubicBezTo>
                    <a:pt x="1310" y="1258694"/>
                    <a:pt x="0" y="1255532"/>
                    <a:pt x="0" y="1252235"/>
                  </a:cubicBezTo>
                  <a:lnTo>
                    <a:pt x="0" y="12430"/>
                  </a:lnTo>
                  <a:cubicBezTo>
                    <a:pt x="0" y="9134"/>
                    <a:pt x="1310" y="5972"/>
                    <a:pt x="3641" y="3641"/>
                  </a:cubicBezTo>
                  <a:cubicBezTo>
                    <a:pt x="5972" y="1310"/>
                    <a:pt x="9134" y="0"/>
                    <a:pt x="12430" y="0"/>
                  </a:cubicBezTo>
                  <a:close/>
                </a:path>
              </a:pathLst>
            </a:custGeom>
            <a:solidFill>
              <a:srgbClr val="FFFFFF">
                <a:alpha val="12941"/>
              </a:srgbClr>
            </a:solidFill>
            <a:ln w="38100" cap="rnd">
              <a:solidFill>
                <a:srgbClr val="FFFFFF">
                  <a:alpha val="12941"/>
                </a:srgbClr>
              </a:solidFill>
              <a:prstDash val="solid"/>
              <a:round/>
            </a:ln>
          </p:spPr>
        </p:sp>
        <p:sp>
          <p:nvSpPr>
            <p:cNvPr name="TextBox 4" id="4"/>
            <p:cNvSpPr txBox="true"/>
            <p:nvPr/>
          </p:nvSpPr>
          <p:spPr>
            <a:xfrm>
              <a:off x="0" y="-38100"/>
              <a:ext cx="3946757" cy="1302766"/>
            </a:xfrm>
            <a:prstGeom prst="rect">
              <a:avLst/>
            </a:prstGeom>
          </p:spPr>
          <p:txBody>
            <a:bodyPr anchor="ctr" rtlCol="false" tIns="52784" lIns="52784" bIns="52784" rIns="52784"/>
            <a:lstStyle/>
            <a:p>
              <a:pPr algn="ctr">
                <a:lnSpc>
                  <a:spcPts val="2659"/>
                </a:lnSpc>
              </a:pPr>
            </a:p>
          </p:txBody>
        </p:sp>
      </p:grpSp>
      <p:sp>
        <p:nvSpPr>
          <p:cNvPr name="Freeform 5" id="5"/>
          <p:cNvSpPr/>
          <p:nvPr/>
        </p:nvSpPr>
        <p:spPr>
          <a:xfrm flipH="false" flipV="false" rot="0">
            <a:off x="15071026" y="9026213"/>
            <a:ext cx="1715278" cy="283801"/>
          </a:xfrm>
          <a:custGeom>
            <a:avLst/>
            <a:gdLst/>
            <a:ahLst/>
            <a:cxnLst/>
            <a:rect r="r" b="b" t="t" l="l"/>
            <a:pathLst>
              <a:path h="283801" w="1715278">
                <a:moveTo>
                  <a:pt x="0" y="0"/>
                </a:moveTo>
                <a:lnTo>
                  <a:pt x="1715278" y="0"/>
                </a:lnTo>
                <a:lnTo>
                  <a:pt x="1715278" y="283800"/>
                </a:lnTo>
                <a:lnTo>
                  <a:pt x="0" y="283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568978" y="-1171289"/>
            <a:ext cx="3502048" cy="1916575"/>
          </a:xfrm>
          <a:custGeom>
            <a:avLst/>
            <a:gdLst/>
            <a:ahLst/>
            <a:cxnLst/>
            <a:rect r="r" b="b" t="t" l="l"/>
            <a:pathLst>
              <a:path h="1916575" w="3502048">
                <a:moveTo>
                  <a:pt x="0" y="0"/>
                </a:moveTo>
                <a:lnTo>
                  <a:pt x="3502048" y="0"/>
                </a:lnTo>
                <a:lnTo>
                  <a:pt x="3502048" y="1916575"/>
                </a:lnTo>
                <a:lnTo>
                  <a:pt x="0" y="19165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79793" y="2973907"/>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2421717" y="9190939"/>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28700" y="9671206"/>
            <a:ext cx="3502048" cy="1916575"/>
          </a:xfrm>
          <a:custGeom>
            <a:avLst/>
            <a:gdLst/>
            <a:ahLst/>
            <a:cxnLst/>
            <a:rect r="r" b="b" t="t" l="l"/>
            <a:pathLst>
              <a:path h="1916575" w="3502048">
                <a:moveTo>
                  <a:pt x="0" y="0"/>
                </a:moveTo>
                <a:lnTo>
                  <a:pt x="3502048" y="0"/>
                </a:lnTo>
                <a:lnTo>
                  <a:pt x="3502048" y="1916575"/>
                </a:lnTo>
                <a:lnTo>
                  <a:pt x="0" y="19165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6203244" y="2907232"/>
            <a:ext cx="6361253" cy="596223"/>
          </a:xfrm>
          <a:prstGeom prst="rect">
            <a:avLst/>
          </a:prstGeom>
        </p:spPr>
        <p:txBody>
          <a:bodyPr anchor="t" rtlCol="false" tIns="0" lIns="0" bIns="0" rIns="0">
            <a:spAutoFit/>
          </a:bodyPr>
          <a:lstStyle/>
          <a:p>
            <a:pPr algn="just">
              <a:lnSpc>
                <a:spcPts val="4937"/>
              </a:lnSpc>
              <a:spcBef>
                <a:spcPct val="0"/>
              </a:spcBef>
            </a:pPr>
            <a:r>
              <a:rPr lang="en-US" b="true" sz="3526">
                <a:solidFill>
                  <a:srgbClr val="FFFFFF"/>
                </a:solidFill>
                <a:latin typeface="Noto Serif Ethiopic Condensed Bold"/>
                <a:ea typeface="Noto Serif Ethiopic Condensed Bold"/>
                <a:cs typeface="Noto Serif Ethiopic Condensed Bold"/>
                <a:sym typeface="Noto Serif Ethiopic Condensed Bold"/>
              </a:rPr>
              <a:t>Usability and Content Design</a:t>
            </a:r>
          </a:p>
        </p:txBody>
      </p:sp>
      <p:sp>
        <p:nvSpPr>
          <p:cNvPr name="TextBox 11" id="11"/>
          <p:cNvSpPr txBox="true"/>
          <p:nvPr/>
        </p:nvSpPr>
        <p:spPr>
          <a:xfrm rot="0">
            <a:off x="14726282" y="9613752"/>
            <a:ext cx="2679266" cy="317502"/>
          </a:xfrm>
          <a:prstGeom prst="rect">
            <a:avLst/>
          </a:prstGeom>
        </p:spPr>
        <p:txBody>
          <a:bodyPr anchor="t" rtlCol="false" tIns="0" lIns="0" bIns="0" rIns="0">
            <a:spAutoFit/>
          </a:bodyPr>
          <a:lstStyle/>
          <a:p>
            <a:pPr algn="l">
              <a:lnSpc>
                <a:spcPts val="2375"/>
              </a:lnSpc>
            </a:pPr>
            <a:r>
              <a:rPr lang="en-US" sz="2500">
                <a:solidFill>
                  <a:srgbClr val="F0CFC7"/>
                </a:solidFill>
                <a:latin typeface="Noto Serif Ethiopic Condensed"/>
                <a:ea typeface="Noto Serif Ethiopic Condensed"/>
                <a:cs typeface="Noto Serif Ethiopic Condensed"/>
                <a:sym typeface="Noto Serif Ethiopic Condensed"/>
              </a:rPr>
              <a:t>Blessed Dendere</a:t>
            </a:r>
          </a:p>
        </p:txBody>
      </p:sp>
      <p:sp>
        <p:nvSpPr>
          <p:cNvPr name="TextBox 12" id="12"/>
          <p:cNvSpPr txBox="true"/>
          <p:nvPr/>
        </p:nvSpPr>
        <p:spPr>
          <a:xfrm rot="0">
            <a:off x="1268834" y="625679"/>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13" id="13"/>
          <p:cNvSpPr txBox="true"/>
          <p:nvPr/>
        </p:nvSpPr>
        <p:spPr>
          <a:xfrm rot="0">
            <a:off x="4839115" y="847725"/>
            <a:ext cx="8609771" cy="1592576"/>
          </a:xfrm>
          <a:prstGeom prst="rect">
            <a:avLst/>
          </a:prstGeom>
        </p:spPr>
        <p:txBody>
          <a:bodyPr anchor="t" rtlCol="false" tIns="0" lIns="0" bIns="0" rIns="0">
            <a:spAutoFit/>
          </a:bodyPr>
          <a:lstStyle/>
          <a:p>
            <a:pPr algn="ctr">
              <a:lnSpc>
                <a:spcPts val="13020"/>
              </a:lnSpc>
              <a:spcBef>
                <a:spcPct val="0"/>
              </a:spcBef>
            </a:pPr>
            <a:r>
              <a:rPr lang="en-US" b="true" sz="9300">
                <a:solidFill>
                  <a:srgbClr val="F0CFC7"/>
                </a:solidFill>
                <a:latin typeface="Noto Serif Ethiopic Condensed Bold"/>
                <a:ea typeface="Noto Serif Ethiopic Condensed Bold"/>
                <a:cs typeface="Noto Serif Ethiopic Condensed Bold"/>
                <a:sym typeface="Noto Serif Ethiopic Condensed Bold"/>
              </a:rPr>
              <a:t>Pain Point - 04 </a:t>
            </a:r>
          </a:p>
        </p:txBody>
      </p:sp>
      <p:sp>
        <p:nvSpPr>
          <p:cNvPr name="TextBox 14" id="14"/>
          <p:cNvSpPr txBox="true"/>
          <p:nvPr/>
        </p:nvSpPr>
        <p:spPr>
          <a:xfrm rot="0">
            <a:off x="5311309" y="4226092"/>
            <a:ext cx="3405504" cy="2781282"/>
          </a:xfrm>
          <a:prstGeom prst="rect">
            <a:avLst/>
          </a:prstGeom>
        </p:spPr>
        <p:txBody>
          <a:bodyPr anchor="t" rtlCol="false" tIns="0" lIns="0" bIns="0" rIns="0">
            <a:spAutoFit/>
          </a:bodyPr>
          <a:lstStyle/>
          <a:p>
            <a:pPr algn="ctr">
              <a:lnSpc>
                <a:spcPts val="3676"/>
              </a:lnSpc>
            </a:pPr>
            <a:r>
              <a:rPr lang="en-US" sz="2625" b="true">
                <a:solidFill>
                  <a:srgbClr val="FFFFFF"/>
                </a:solidFill>
                <a:latin typeface="Noto Serif Ethiopic Condensed Bold"/>
                <a:ea typeface="Noto Serif Ethiopic Condensed Bold"/>
                <a:cs typeface="Noto Serif Ethiopic Condensed Bold"/>
                <a:sym typeface="Noto Serif Ethiopic Condensed Bold"/>
              </a:rPr>
              <a:t>Navig</a:t>
            </a:r>
            <a:r>
              <a:rPr lang="en-US" sz="2625" b="true">
                <a:solidFill>
                  <a:srgbClr val="FFFFFF"/>
                </a:solidFill>
                <a:latin typeface="Noto Serif Ethiopic Condensed Bold"/>
                <a:ea typeface="Noto Serif Ethiopic Condensed Bold"/>
                <a:cs typeface="Noto Serif Ethiopic Condensed Bold"/>
                <a:sym typeface="Noto Serif Ethiopic Condensed Bold"/>
              </a:rPr>
              <a:t>ation difficulties </a:t>
            </a:r>
          </a:p>
          <a:p>
            <a:pPr algn="l" marL="566895" indent="-283447" lvl="1">
              <a:lnSpc>
                <a:spcPts val="3676"/>
              </a:lnSpc>
              <a:buFont typeface="Arial"/>
              <a:buChar char="•"/>
            </a:pPr>
            <a:r>
              <a:rPr lang="en-US" sz="2625">
                <a:solidFill>
                  <a:srgbClr val="F0CFC7"/>
                </a:solidFill>
                <a:latin typeface="Noto Serif Ethiopic Condensed"/>
                <a:ea typeface="Noto Serif Ethiopic Condensed"/>
                <a:cs typeface="Noto Serif Ethiopic Condensed"/>
                <a:sym typeface="Noto Serif Ethiopic Condensed"/>
              </a:rPr>
              <a:t>Users struggle to find progress history. </a:t>
            </a:r>
          </a:p>
          <a:p>
            <a:pPr algn="l" marL="566895" indent="-283447" lvl="1">
              <a:lnSpc>
                <a:spcPts val="3676"/>
              </a:lnSpc>
              <a:spcBef>
                <a:spcPct val="0"/>
              </a:spcBef>
              <a:buFont typeface="Arial"/>
              <a:buChar char="•"/>
            </a:pPr>
            <a:r>
              <a:rPr lang="en-US" sz="2625">
                <a:solidFill>
                  <a:srgbClr val="F0CFC7"/>
                </a:solidFill>
                <a:latin typeface="Noto Serif Ethiopic Condensed"/>
                <a:ea typeface="Noto Serif Ethiopic Condensed"/>
                <a:cs typeface="Noto Serif Ethiopic Condensed"/>
                <a:sym typeface="Noto Serif Ethiopic Condensed"/>
              </a:rPr>
              <a:t>An unclear app design. </a:t>
            </a:r>
          </a:p>
        </p:txBody>
      </p:sp>
      <p:sp>
        <p:nvSpPr>
          <p:cNvPr name="TextBox 15" id="15"/>
          <p:cNvSpPr txBox="true"/>
          <p:nvPr/>
        </p:nvSpPr>
        <p:spPr>
          <a:xfrm rot="0">
            <a:off x="1421234" y="4216567"/>
            <a:ext cx="3705311" cy="4022071"/>
          </a:xfrm>
          <a:prstGeom prst="rect">
            <a:avLst/>
          </a:prstGeom>
        </p:spPr>
        <p:txBody>
          <a:bodyPr anchor="t" rtlCol="false" tIns="0" lIns="0" bIns="0" rIns="0">
            <a:spAutoFit/>
          </a:bodyPr>
          <a:lstStyle/>
          <a:p>
            <a:pPr algn="ctr">
              <a:lnSpc>
                <a:spcPts val="3536"/>
              </a:lnSpc>
            </a:pPr>
            <a:r>
              <a:rPr lang="en-US" sz="2525" b="true">
                <a:solidFill>
                  <a:srgbClr val="FFFFFF"/>
                </a:solidFill>
                <a:latin typeface="Noto Serif Ethiopic Condensed Bold"/>
                <a:ea typeface="Noto Serif Ethiopic Condensed Bold"/>
                <a:cs typeface="Noto Serif Ethiopic Condensed Bold"/>
                <a:sym typeface="Noto Serif Ethiopic Condensed Bold"/>
              </a:rPr>
              <a:t>Information ov</a:t>
            </a:r>
            <a:r>
              <a:rPr lang="en-US" sz="2525" b="true">
                <a:solidFill>
                  <a:srgbClr val="FFFFFF"/>
                </a:solidFill>
                <a:latin typeface="Noto Serif Ethiopic Condensed Bold"/>
                <a:ea typeface="Noto Serif Ethiopic Condensed Bold"/>
                <a:cs typeface="Noto Serif Ethiopic Condensed Bold"/>
                <a:sym typeface="Noto Serif Ethiopic Condensed Bold"/>
              </a:rPr>
              <a:t>erload </a:t>
            </a:r>
          </a:p>
          <a:p>
            <a:pPr algn="l" marL="545305" indent="-272653" lvl="1">
              <a:lnSpc>
                <a:spcPts val="3536"/>
              </a:lnSpc>
              <a:buFont typeface="Arial"/>
              <a:buChar char="•"/>
            </a:pPr>
            <a:r>
              <a:rPr lang="en-US" sz="2525">
                <a:solidFill>
                  <a:srgbClr val="F0CFC7"/>
                </a:solidFill>
                <a:latin typeface="Noto Serif Ethiopic Condensed"/>
                <a:ea typeface="Noto Serif Ethiopic Condensed"/>
                <a:cs typeface="Noto Serif Ethiopic Condensed"/>
                <a:sym typeface="Noto Serif Ethiopic Condensed"/>
              </a:rPr>
              <a:t>Ov</a:t>
            </a:r>
            <a:r>
              <a:rPr lang="en-US" sz="2525">
                <a:solidFill>
                  <a:srgbClr val="F0CFC7"/>
                </a:solidFill>
                <a:latin typeface="Noto Serif Ethiopic Condensed"/>
                <a:ea typeface="Noto Serif Ethiopic Condensed"/>
                <a:cs typeface="Noto Serif Ethiopic Condensed"/>
                <a:sym typeface="Noto Serif Ethiopic Condensed"/>
              </a:rPr>
              <a:t>erwhelming content. </a:t>
            </a:r>
          </a:p>
          <a:p>
            <a:pPr algn="l" marL="545305" indent="-272653" lvl="1">
              <a:lnSpc>
                <a:spcPts val="3536"/>
              </a:lnSpc>
              <a:buFont typeface="Arial"/>
              <a:buChar char="•"/>
            </a:pPr>
            <a:r>
              <a:rPr lang="en-US" sz="2525">
                <a:solidFill>
                  <a:srgbClr val="F0CFC7"/>
                </a:solidFill>
                <a:latin typeface="Noto Serif Ethiopic Condensed"/>
                <a:ea typeface="Noto Serif Ethiopic Condensed"/>
                <a:cs typeface="Noto Serif Ethiopic Condensed"/>
                <a:sym typeface="Noto Serif Ethiopic Condensed"/>
              </a:rPr>
              <a:t>Key features and guides may be difficult to locate. </a:t>
            </a:r>
          </a:p>
          <a:p>
            <a:pPr algn="l" marL="545305" indent="-272653" lvl="1">
              <a:lnSpc>
                <a:spcPts val="3536"/>
              </a:lnSpc>
              <a:spcBef>
                <a:spcPct val="0"/>
              </a:spcBef>
              <a:buFont typeface="Arial"/>
              <a:buChar char="•"/>
            </a:pPr>
            <a:r>
              <a:rPr lang="en-US" sz="2525">
                <a:solidFill>
                  <a:srgbClr val="F0CFC7"/>
                </a:solidFill>
                <a:latin typeface="Noto Serif Ethiopic Condensed"/>
                <a:ea typeface="Noto Serif Ethiopic Condensed"/>
                <a:cs typeface="Noto Serif Ethiopic Condensed"/>
                <a:sym typeface="Noto Serif Ethiopic Condensed"/>
              </a:rPr>
              <a:t>Difficulty in prioritizing in which guides and articles to read.</a:t>
            </a:r>
            <a:r>
              <a:rPr lang="en-US" b="true" sz="2525">
                <a:solidFill>
                  <a:srgbClr val="F0CFC7"/>
                </a:solidFill>
                <a:latin typeface="Noto Serif Ethiopic Condensed Bold"/>
                <a:ea typeface="Noto Serif Ethiopic Condensed Bold"/>
                <a:cs typeface="Noto Serif Ethiopic Condensed Bold"/>
                <a:sym typeface="Noto Serif Ethiopic Condensed Bold"/>
              </a:rPr>
              <a:t> </a:t>
            </a:r>
          </a:p>
        </p:txBody>
      </p:sp>
      <p:sp>
        <p:nvSpPr>
          <p:cNvPr name="TextBox 16" id="16"/>
          <p:cNvSpPr txBox="true"/>
          <p:nvPr/>
        </p:nvSpPr>
        <p:spPr>
          <a:xfrm rot="0">
            <a:off x="13171485" y="4216567"/>
            <a:ext cx="3361132" cy="4022071"/>
          </a:xfrm>
          <a:prstGeom prst="rect">
            <a:avLst/>
          </a:prstGeom>
        </p:spPr>
        <p:txBody>
          <a:bodyPr anchor="t" rtlCol="false" tIns="0" lIns="0" bIns="0" rIns="0">
            <a:spAutoFit/>
          </a:bodyPr>
          <a:lstStyle/>
          <a:p>
            <a:pPr algn="ctr">
              <a:lnSpc>
                <a:spcPts val="3536"/>
              </a:lnSpc>
            </a:pPr>
            <a:r>
              <a:rPr lang="en-US" sz="2525" b="true">
                <a:solidFill>
                  <a:srgbClr val="FFFFFF"/>
                </a:solidFill>
                <a:latin typeface="Noto Serif Ethiopic Condensed Bold"/>
                <a:ea typeface="Noto Serif Ethiopic Condensed Bold"/>
                <a:cs typeface="Noto Serif Ethiopic Condensed Bold"/>
                <a:sym typeface="Noto Serif Ethiopic Condensed Bold"/>
              </a:rPr>
              <a:t>Acc</a:t>
            </a:r>
            <a:r>
              <a:rPr lang="en-US" sz="2525" b="true">
                <a:solidFill>
                  <a:srgbClr val="FFFFFF"/>
                </a:solidFill>
                <a:latin typeface="Noto Serif Ethiopic Condensed Bold"/>
                <a:ea typeface="Noto Serif Ethiopic Condensed Bold"/>
                <a:cs typeface="Noto Serif Ethiopic Condensed Bold"/>
                <a:sym typeface="Noto Serif Ethiopic Condensed Bold"/>
              </a:rPr>
              <a:t>e</a:t>
            </a:r>
            <a:r>
              <a:rPr lang="en-US" sz="2525" b="true">
                <a:solidFill>
                  <a:srgbClr val="FFFFFF"/>
                </a:solidFill>
                <a:latin typeface="Noto Serif Ethiopic Condensed Bold"/>
                <a:ea typeface="Noto Serif Ethiopic Condensed Bold"/>
                <a:cs typeface="Noto Serif Ethiopic Condensed Bold"/>
                <a:sym typeface="Noto Serif Ethiopic Condensed Bold"/>
              </a:rPr>
              <a:t>ss</a:t>
            </a:r>
            <a:r>
              <a:rPr lang="en-US" sz="2525" b="true">
                <a:solidFill>
                  <a:srgbClr val="FFFFFF"/>
                </a:solidFill>
                <a:latin typeface="Noto Serif Ethiopic Condensed Bold"/>
                <a:ea typeface="Noto Serif Ethiopic Condensed Bold"/>
                <a:cs typeface="Noto Serif Ethiopic Condensed Bold"/>
                <a:sym typeface="Noto Serif Ethiopic Condensed Bold"/>
              </a:rPr>
              <a:t>ibi</a:t>
            </a:r>
            <a:r>
              <a:rPr lang="en-US" sz="2525" b="true">
                <a:solidFill>
                  <a:srgbClr val="FFFFFF"/>
                </a:solidFill>
                <a:latin typeface="Noto Serif Ethiopic Condensed Bold"/>
                <a:ea typeface="Noto Serif Ethiopic Condensed Bold"/>
                <a:cs typeface="Noto Serif Ethiopic Condensed Bold"/>
                <a:sym typeface="Noto Serif Ethiopic Condensed Bold"/>
              </a:rPr>
              <a:t>lity iss</a:t>
            </a:r>
            <a:r>
              <a:rPr lang="en-US" sz="2525" b="true">
                <a:solidFill>
                  <a:srgbClr val="FFFFFF"/>
                </a:solidFill>
                <a:latin typeface="Noto Serif Ethiopic Condensed Bold"/>
                <a:ea typeface="Noto Serif Ethiopic Condensed Bold"/>
                <a:cs typeface="Noto Serif Ethiopic Condensed Bold"/>
                <a:sym typeface="Noto Serif Ethiopic Condensed Bold"/>
              </a:rPr>
              <a:t>ues </a:t>
            </a:r>
          </a:p>
          <a:p>
            <a:pPr algn="l" marL="545305" indent="-272653" lvl="1">
              <a:lnSpc>
                <a:spcPts val="3536"/>
              </a:lnSpc>
              <a:buFont typeface="Arial"/>
              <a:buChar char="•"/>
            </a:pPr>
            <a:r>
              <a:rPr lang="en-US" sz="2525">
                <a:solidFill>
                  <a:srgbClr val="F0CFC7"/>
                </a:solidFill>
                <a:latin typeface="Noto Serif Ethiopic Condensed"/>
                <a:ea typeface="Noto Serif Ethiopic Condensed"/>
                <a:cs typeface="Noto Serif Ethiopic Condensed"/>
                <a:sym typeface="Noto Serif Ethiopic Condensed"/>
              </a:rPr>
              <a:t>Conte</a:t>
            </a:r>
            <a:r>
              <a:rPr lang="en-US" sz="2525">
                <a:solidFill>
                  <a:srgbClr val="F0CFC7"/>
                </a:solidFill>
                <a:latin typeface="Noto Serif Ethiopic Condensed"/>
                <a:ea typeface="Noto Serif Ethiopic Condensed"/>
                <a:cs typeface="Noto Serif Ethiopic Condensed"/>
                <a:sym typeface="Noto Serif Ethiopic Condensed"/>
              </a:rPr>
              <a:t>n</a:t>
            </a:r>
            <a:r>
              <a:rPr lang="en-US" sz="2525">
                <a:solidFill>
                  <a:srgbClr val="F0CFC7"/>
                </a:solidFill>
                <a:latin typeface="Noto Serif Ethiopic Condensed"/>
                <a:ea typeface="Noto Serif Ethiopic Condensed"/>
                <a:cs typeface="Noto Serif Ethiopic Condensed"/>
                <a:sym typeface="Noto Serif Ethiopic Condensed"/>
              </a:rPr>
              <a:t>t</a:t>
            </a:r>
            <a:r>
              <a:rPr lang="en-US" sz="2525">
                <a:solidFill>
                  <a:srgbClr val="F0CFC7"/>
                </a:solidFill>
                <a:latin typeface="Noto Serif Ethiopic Condensed"/>
                <a:ea typeface="Noto Serif Ethiopic Condensed"/>
                <a:cs typeface="Noto Serif Ethiopic Condensed"/>
                <a:sym typeface="Noto Serif Ethiopic Condensed"/>
              </a:rPr>
              <a:t> di</a:t>
            </a:r>
            <a:r>
              <a:rPr lang="en-US" sz="2525">
                <a:solidFill>
                  <a:srgbClr val="F0CFC7"/>
                </a:solidFill>
                <a:latin typeface="Noto Serif Ethiopic Condensed"/>
                <a:ea typeface="Noto Serif Ethiopic Condensed"/>
                <a:cs typeface="Noto Serif Ethiopic Condensed"/>
                <a:sym typeface="Noto Serif Ethiopic Condensed"/>
              </a:rPr>
              <a:t>f</a:t>
            </a:r>
            <a:r>
              <a:rPr lang="en-US" sz="2525">
                <a:solidFill>
                  <a:srgbClr val="F0CFC7"/>
                </a:solidFill>
                <a:latin typeface="Noto Serif Ethiopic Condensed"/>
                <a:ea typeface="Noto Serif Ethiopic Condensed"/>
                <a:cs typeface="Noto Serif Ethiopic Condensed"/>
                <a:sym typeface="Noto Serif Ethiopic Condensed"/>
              </a:rPr>
              <a:t>f</a:t>
            </a:r>
            <a:r>
              <a:rPr lang="en-US" sz="2525">
                <a:solidFill>
                  <a:srgbClr val="F0CFC7"/>
                </a:solidFill>
                <a:latin typeface="Noto Serif Ethiopic Condensed"/>
                <a:ea typeface="Noto Serif Ethiopic Condensed"/>
                <a:cs typeface="Noto Serif Ethiopic Condensed"/>
                <a:sym typeface="Noto Serif Ethiopic Condensed"/>
              </a:rPr>
              <a:t>icu</a:t>
            </a:r>
            <a:r>
              <a:rPr lang="en-US" sz="2525">
                <a:solidFill>
                  <a:srgbClr val="F0CFC7"/>
                </a:solidFill>
                <a:latin typeface="Noto Serif Ethiopic Condensed"/>
                <a:ea typeface="Noto Serif Ethiopic Condensed"/>
                <a:cs typeface="Noto Serif Ethiopic Condensed"/>
                <a:sym typeface="Noto Serif Ethiopic Condensed"/>
              </a:rPr>
              <a:t>lt </a:t>
            </a:r>
            <a:r>
              <a:rPr lang="en-US" sz="2525">
                <a:solidFill>
                  <a:srgbClr val="F0CFC7"/>
                </a:solidFill>
                <a:latin typeface="Noto Serif Ethiopic Condensed"/>
                <a:ea typeface="Noto Serif Ethiopic Condensed"/>
                <a:cs typeface="Noto Serif Ethiopic Condensed"/>
                <a:sym typeface="Noto Serif Ethiopic Condensed"/>
              </a:rPr>
              <a:t>t</a:t>
            </a:r>
            <a:r>
              <a:rPr lang="en-US" sz="2525">
                <a:solidFill>
                  <a:srgbClr val="F0CFC7"/>
                </a:solidFill>
                <a:latin typeface="Noto Serif Ethiopic Condensed"/>
                <a:ea typeface="Noto Serif Ethiopic Condensed"/>
                <a:cs typeface="Noto Serif Ethiopic Condensed"/>
                <a:sym typeface="Noto Serif Ethiopic Condensed"/>
              </a:rPr>
              <a:t>o re</a:t>
            </a:r>
            <a:r>
              <a:rPr lang="en-US" sz="2525">
                <a:solidFill>
                  <a:srgbClr val="F0CFC7"/>
                </a:solidFill>
                <a:latin typeface="Noto Serif Ethiopic Condensed"/>
                <a:ea typeface="Noto Serif Ethiopic Condensed"/>
                <a:cs typeface="Noto Serif Ethiopic Condensed"/>
                <a:sym typeface="Noto Serif Ethiopic Condensed"/>
              </a:rPr>
              <a:t>ad</a:t>
            </a:r>
            <a:r>
              <a:rPr lang="en-US" sz="2525">
                <a:solidFill>
                  <a:srgbClr val="F0CFC7"/>
                </a:solidFill>
                <a:latin typeface="Noto Serif Ethiopic Condensed"/>
                <a:ea typeface="Noto Serif Ethiopic Condensed"/>
                <a:cs typeface="Noto Serif Ethiopic Condensed"/>
                <a:sym typeface="Noto Serif Ethiopic Condensed"/>
              </a:rPr>
              <a:t>. </a:t>
            </a:r>
          </a:p>
          <a:p>
            <a:pPr algn="l" marL="545305" indent="-272653" lvl="1">
              <a:lnSpc>
                <a:spcPts val="3536"/>
              </a:lnSpc>
              <a:buFont typeface="Arial"/>
              <a:buChar char="•"/>
            </a:pPr>
            <a:r>
              <a:rPr lang="en-US" sz="2525">
                <a:solidFill>
                  <a:srgbClr val="F0CFC7"/>
                </a:solidFill>
                <a:latin typeface="Noto Serif Ethiopic Condensed"/>
                <a:ea typeface="Noto Serif Ethiopic Condensed"/>
                <a:cs typeface="Noto Serif Ethiopic Condensed"/>
                <a:sym typeface="Noto Serif Ethiopic Condensed"/>
              </a:rPr>
              <a:t>Limit</a:t>
            </a:r>
            <a:r>
              <a:rPr lang="en-US" sz="2525">
                <a:solidFill>
                  <a:srgbClr val="F0CFC7"/>
                </a:solidFill>
                <a:latin typeface="Noto Serif Ethiopic Condensed"/>
                <a:ea typeface="Noto Serif Ethiopic Condensed"/>
                <a:cs typeface="Noto Serif Ethiopic Condensed"/>
                <a:sym typeface="Noto Serif Ethiopic Condensed"/>
              </a:rPr>
              <a:t>e</a:t>
            </a:r>
            <a:r>
              <a:rPr lang="en-US" sz="2525">
                <a:solidFill>
                  <a:srgbClr val="F0CFC7"/>
                </a:solidFill>
                <a:latin typeface="Noto Serif Ethiopic Condensed"/>
                <a:ea typeface="Noto Serif Ethiopic Condensed"/>
                <a:cs typeface="Noto Serif Ethiopic Condensed"/>
                <a:sym typeface="Noto Serif Ethiopic Condensed"/>
              </a:rPr>
              <a:t>d cu</a:t>
            </a:r>
            <a:r>
              <a:rPr lang="en-US" sz="2525">
                <a:solidFill>
                  <a:srgbClr val="F0CFC7"/>
                </a:solidFill>
                <a:latin typeface="Noto Serif Ethiopic Condensed"/>
                <a:ea typeface="Noto Serif Ethiopic Condensed"/>
                <a:cs typeface="Noto Serif Ethiopic Condensed"/>
                <a:sym typeface="Noto Serif Ethiopic Condensed"/>
              </a:rPr>
              <a:t>sto</a:t>
            </a:r>
            <a:r>
              <a:rPr lang="en-US" sz="2525">
                <a:solidFill>
                  <a:srgbClr val="F0CFC7"/>
                </a:solidFill>
                <a:latin typeface="Noto Serif Ethiopic Condensed"/>
                <a:ea typeface="Noto Serif Ethiopic Condensed"/>
                <a:cs typeface="Noto Serif Ethiopic Condensed"/>
                <a:sym typeface="Noto Serif Ethiopic Condensed"/>
              </a:rPr>
              <a:t>m</a:t>
            </a:r>
            <a:r>
              <a:rPr lang="en-US" sz="2525">
                <a:solidFill>
                  <a:srgbClr val="F0CFC7"/>
                </a:solidFill>
                <a:latin typeface="Noto Serif Ethiopic Condensed"/>
                <a:ea typeface="Noto Serif Ethiopic Condensed"/>
                <a:cs typeface="Noto Serif Ethiopic Condensed"/>
                <a:sym typeface="Noto Serif Ethiopic Condensed"/>
              </a:rPr>
              <a:t>i</a:t>
            </a:r>
            <a:r>
              <a:rPr lang="en-US" sz="2525">
                <a:solidFill>
                  <a:srgbClr val="F0CFC7"/>
                </a:solidFill>
                <a:latin typeface="Noto Serif Ethiopic Condensed"/>
                <a:ea typeface="Noto Serif Ethiopic Condensed"/>
                <a:cs typeface="Noto Serif Ethiopic Condensed"/>
                <a:sym typeface="Noto Serif Ethiopic Condensed"/>
              </a:rPr>
              <a:t>zable</a:t>
            </a:r>
            <a:r>
              <a:rPr lang="en-US" sz="2525">
                <a:solidFill>
                  <a:srgbClr val="F0CFC7"/>
                </a:solidFill>
                <a:latin typeface="Noto Serif Ethiopic Condensed"/>
                <a:ea typeface="Noto Serif Ethiopic Condensed"/>
                <a:cs typeface="Noto Serif Ethiopic Condensed"/>
                <a:sym typeface="Noto Serif Ethiopic Condensed"/>
              </a:rPr>
              <a:t> </a:t>
            </a:r>
            <a:r>
              <a:rPr lang="en-US" sz="2525">
                <a:solidFill>
                  <a:srgbClr val="F0CFC7"/>
                </a:solidFill>
                <a:latin typeface="Noto Serif Ethiopic Condensed"/>
                <a:ea typeface="Noto Serif Ethiopic Condensed"/>
                <a:cs typeface="Noto Serif Ethiopic Condensed"/>
                <a:sym typeface="Noto Serif Ethiopic Condensed"/>
              </a:rPr>
              <a:t>s</a:t>
            </a:r>
            <a:r>
              <a:rPr lang="en-US" sz="2525">
                <a:solidFill>
                  <a:srgbClr val="F0CFC7"/>
                </a:solidFill>
                <a:latin typeface="Noto Serif Ethiopic Condensed"/>
                <a:ea typeface="Noto Serif Ethiopic Condensed"/>
                <a:cs typeface="Noto Serif Ethiopic Condensed"/>
                <a:sym typeface="Noto Serif Ethiopic Condensed"/>
              </a:rPr>
              <a:t>e</a:t>
            </a:r>
            <a:r>
              <a:rPr lang="en-US" sz="2525">
                <a:solidFill>
                  <a:srgbClr val="F0CFC7"/>
                </a:solidFill>
                <a:latin typeface="Noto Serif Ethiopic Condensed"/>
                <a:ea typeface="Noto Serif Ethiopic Condensed"/>
                <a:cs typeface="Noto Serif Ethiopic Condensed"/>
                <a:sym typeface="Noto Serif Ethiopic Condensed"/>
              </a:rPr>
              <a:t>tt</a:t>
            </a:r>
            <a:r>
              <a:rPr lang="en-US" sz="2525">
                <a:solidFill>
                  <a:srgbClr val="F0CFC7"/>
                </a:solidFill>
                <a:latin typeface="Noto Serif Ethiopic Condensed"/>
                <a:ea typeface="Noto Serif Ethiopic Condensed"/>
                <a:cs typeface="Noto Serif Ethiopic Condensed"/>
                <a:sym typeface="Noto Serif Ethiopic Condensed"/>
              </a:rPr>
              <a:t>i</a:t>
            </a:r>
            <a:r>
              <a:rPr lang="en-US" sz="2525">
                <a:solidFill>
                  <a:srgbClr val="F0CFC7"/>
                </a:solidFill>
                <a:latin typeface="Noto Serif Ethiopic Condensed"/>
                <a:ea typeface="Noto Serif Ethiopic Condensed"/>
                <a:cs typeface="Noto Serif Ethiopic Condensed"/>
                <a:sym typeface="Noto Serif Ethiopic Condensed"/>
              </a:rPr>
              <a:t>n</a:t>
            </a:r>
            <a:r>
              <a:rPr lang="en-US" sz="2525">
                <a:solidFill>
                  <a:srgbClr val="F0CFC7"/>
                </a:solidFill>
                <a:latin typeface="Noto Serif Ethiopic Condensed"/>
                <a:ea typeface="Noto Serif Ethiopic Condensed"/>
                <a:cs typeface="Noto Serif Ethiopic Condensed"/>
                <a:sym typeface="Noto Serif Ethiopic Condensed"/>
              </a:rPr>
              <a:t>gs.</a:t>
            </a:r>
          </a:p>
          <a:p>
            <a:pPr algn="l" marL="545305" indent="-272653" lvl="1">
              <a:lnSpc>
                <a:spcPts val="3536"/>
              </a:lnSpc>
              <a:spcBef>
                <a:spcPct val="0"/>
              </a:spcBef>
              <a:buFont typeface="Arial"/>
              <a:buChar char="•"/>
            </a:pPr>
            <a:r>
              <a:rPr lang="en-US" sz="2525">
                <a:solidFill>
                  <a:srgbClr val="F0CFC7"/>
                </a:solidFill>
                <a:latin typeface="Noto Serif Ethiopic Condensed"/>
                <a:ea typeface="Noto Serif Ethiopic Condensed"/>
                <a:cs typeface="Noto Serif Ethiopic Condensed"/>
                <a:sym typeface="Noto Serif Ethiopic Condensed"/>
              </a:rPr>
              <a:t>C</a:t>
            </a:r>
            <a:r>
              <a:rPr lang="en-US" sz="2525">
                <a:solidFill>
                  <a:srgbClr val="F0CFC7"/>
                </a:solidFill>
                <a:latin typeface="Noto Serif Ethiopic Condensed"/>
                <a:ea typeface="Noto Serif Ethiopic Condensed"/>
                <a:cs typeface="Noto Serif Ethiopic Condensed"/>
                <a:sym typeface="Noto Serif Ethiopic Condensed"/>
              </a:rPr>
              <a:t>on</a:t>
            </a:r>
            <a:r>
              <a:rPr lang="en-US" sz="2525">
                <a:solidFill>
                  <a:srgbClr val="F0CFC7"/>
                </a:solidFill>
                <a:latin typeface="Noto Serif Ethiopic Condensed"/>
                <a:ea typeface="Noto Serif Ethiopic Condensed"/>
                <a:cs typeface="Noto Serif Ethiopic Condensed"/>
                <a:sym typeface="Noto Serif Ethiopic Condensed"/>
              </a:rPr>
              <a:t>t</a:t>
            </a:r>
            <a:r>
              <a:rPr lang="en-US" sz="2525">
                <a:solidFill>
                  <a:srgbClr val="F0CFC7"/>
                </a:solidFill>
                <a:latin typeface="Noto Serif Ethiopic Condensed"/>
                <a:ea typeface="Noto Serif Ethiopic Condensed"/>
                <a:cs typeface="Noto Serif Ethiopic Condensed"/>
                <a:sym typeface="Noto Serif Ethiopic Condensed"/>
              </a:rPr>
              <a:t>e</a:t>
            </a:r>
            <a:r>
              <a:rPr lang="en-US" sz="2525">
                <a:solidFill>
                  <a:srgbClr val="F0CFC7"/>
                </a:solidFill>
                <a:latin typeface="Noto Serif Ethiopic Condensed"/>
                <a:ea typeface="Noto Serif Ethiopic Condensed"/>
                <a:cs typeface="Noto Serif Ethiopic Condensed"/>
                <a:sym typeface="Noto Serif Ethiopic Condensed"/>
              </a:rPr>
              <a:t>nt</a:t>
            </a:r>
            <a:r>
              <a:rPr lang="en-US" sz="2525">
                <a:solidFill>
                  <a:srgbClr val="F0CFC7"/>
                </a:solidFill>
                <a:latin typeface="Noto Serif Ethiopic Condensed"/>
                <a:ea typeface="Noto Serif Ethiopic Condensed"/>
                <a:cs typeface="Noto Serif Ethiopic Condensed"/>
                <a:sym typeface="Noto Serif Ethiopic Condensed"/>
              </a:rPr>
              <a:t> t</a:t>
            </a:r>
            <a:r>
              <a:rPr lang="en-US" sz="2525">
                <a:solidFill>
                  <a:srgbClr val="F0CFC7"/>
                </a:solidFill>
                <a:latin typeface="Noto Serif Ethiopic Condensed"/>
                <a:ea typeface="Noto Serif Ethiopic Condensed"/>
                <a:cs typeface="Noto Serif Ethiopic Condensed"/>
                <a:sym typeface="Noto Serif Ethiopic Condensed"/>
              </a:rPr>
              <a:t>hat's</a:t>
            </a:r>
            <a:r>
              <a:rPr lang="en-US" sz="2525">
                <a:solidFill>
                  <a:srgbClr val="F0CFC7"/>
                </a:solidFill>
                <a:latin typeface="Noto Serif Ethiopic Condensed"/>
                <a:ea typeface="Noto Serif Ethiopic Condensed"/>
                <a:cs typeface="Noto Serif Ethiopic Condensed"/>
                <a:sym typeface="Noto Serif Ethiopic Condensed"/>
              </a:rPr>
              <a:t> </a:t>
            </a:r>
            <a:r>
              <a:rPr lang="en-US" sz="2525">
                <a:solidFill>
                  <a:srgbClr val="F0CFC7"/>
                </a:solidFill>
                <a:latin typeface="Noto Serif Ethiopic Condensed"/>
                <a:ea typeface="Noto Serif Ethiopic Condensed"/>
                <a:cs typeface="Noto Serif Ethiopic Condensed"/>
                <a:sym typeface="Noto Serif Ethiopic Condensed"/>
              </a:rPr>
              <a:t>wr</a:t>
            </a:r>
            <a:r>
              <a:rPr lang="en-US" sz="2525">
                <a:solidFill>
                  <a:srgbClr val="F0CFC7"/>
                </a:solidFill>
                <a:latin typeface="Noto Serif Ethiopic Condensed"/>
                <a:ea typeface="Noto Serif Ethiopic Condensed"/>
                <a:cs typeface="Noto Serif Ethiopic Condensed"/>
                <a:sym typeface="Noto Serif Ethiopic Condensed"/>
              </a:rPr>
              <a:t>i</a:t>
            </a:r>
            <a:r>
              <a:rPr lang="en-US" sz="2525">
                <a:solidFill>
                  <a:srgbClr val="F0CFC7"/>
                </a:solidFill>
                <a:latin typeface="Noto Serif Ethiopic Condensed"/>
                <a:ea typeface="Noto Serif Ethiopic Condensed"/>
                <a:cs typeface="Noto Serif Ethiopic Condensed"/>
                <a:sym typeface="Noto Serif Ethiopic Condensed"/>
              </a:rPr>
              <a:t>tte</a:t>
            </a:r>
            <a:r>
              <a:rPr lang="en-US" sz="2525">
                <a:solidFill>
                  <a:srgbClr val="F0CFC7"/>
                </a:solidFill>
                <a:latin typeface="Noto Serif Ethiopic Condensed"/>
                <a:ea typeface="Noto Serif Ethiopic Condensed"/>
                <a:cs typeface="Noto Serif Ethiopic Condensed"/>
                <a:sym typeface="Noto Serif Ethiopic Condensed"/>
              </a:rPr>
              <a:t>n</a:t>
            </a:r>
            <a:r>
              <a:rPr lang="en-US" sz="2525">
                <a:solidFill>
                  <a:srgbClr val="F0CFC7"/>
                </a:solidFill>
                <a:latin typeface="Noto Serif Ethiopic Condensed"/>
                <a:ea typeface="Noto Serif Ethiopic Condensed"/>
                <a:cs typeface="Noto Serif Ethiopic Condensed"/>
                <a:sym typeface="Noto Serif Ethiopic Condensed"/>
              </a:rPr>
              <a:t> </a:t>
            </a:r>
            <a:r>
              <a:rPr lang="en-US" sz="2525">
                <a:solidFill>
                  <a:srgbClr val="F0CFC7"/>
                </a:solidFill>
                <a:latin typeface="Noto Serif Ethiopic Condensed"/>
                <a:ea typeface="Noto Serif Ethiopic Condensed"/>
                <a:cs typeface="Noto Serif Ethiopic Condensed"/>
                <a:sym typeface="Noto Serif Ethiopic Condensed"/>
              </a:rPr>
              <a:t>in </a:t>
            </a:r>
            <a:r>
              <a:rPr lang="en-US" sz="2525">
                <a:solidFill>
                  <a:srgbClr val="F0CFC7"/>
                </a:solidFill>
                <a:latin typeface="Noto Serif Ethiopic Condensed"/>
                <a:ea typeface="Noto Serif Ethiopic Condensed"/>
                <a:cs typeface="Noto Serif Ethiopic Condensed"/>
                <a:sym typeface="Noto Serif Ethiopic Condensed"/>
              </a:rPr>
              <a:t>c</a:t>
            </a:r>
            <a:r>
              <a:rPr lang="en-US" sz="2525">
                <a:solidFill>
                  <a:srgbClr val="F0CFC7"/>
                </a:solidFill>
                <a:latin typeface="Noto Serif Ethiopic Condensed"/>
                <a:ea typeface="Noto Serif Ethiopic Condensed"/>
                <a:cs typeface="Noto Serif Ethiopic Condensed"/>
                <a:sym typeface="Noto Serif Ethiopic Condensed"/>
              </a:rPr>
              <a:t>o</a:t>
            </a:r>
            <a:r>
              <a:rPr lang="en-US" sz="2525">
                <a:solidFill>
                  <a:srgbClr val="F0CFC7"/>
                </a:solidFill>
                <a:latin typeface="Noto Serif Ethiopic Condensed"/>
                <a:ea typeface="Noto Serif Ethiopic Condensed"/>
                <a:cs typeface="Noto Serif Ethiopic Condensed"/>
                <a:sym typeface="Noto Serif Ethiopic Condensed"/>
              </a:rPr>
              <a:t>mpl</a:t>
            </a:r>
            <a:r>
              <a:rPr lang="en-US" sz="2525">
                <a:solidFill>
                  <a:srgbClr val="F0CFC7"/>
                </a:solidFill>
                <a:latin typeface="Noto Serif Ethiopic Condensed"/>
                <a:ea typeface="Noto Serif Ethiopic Condensed"/>
                <a:cs typeface="Noto Serif Ethiopic Condensed"/>
                <a:sym typeface="Noto Serif Ethiopic Condensed"/>
              </a:rPr>
              <a:t>e</a:t>
            </a:r>
            <a:r>
              <a:rPr lang="en-US" sz="2525">
                <a:solidFill>
                  <a:srgbClr val="F0CFC7"/>
                </a:solidFill>
                <a:latin typeface="Noto Serif Ethiopic Condensed"/>
                <a:ea typeface="Noto Serif Ethiopic Condensed"/>
                <a:cs typeface="Noto Serif Ethiopic Condensed"/>
                <a:sym typeface="Noto Serif Ethiopic Condensed"/>
              </a:rPr>
              <a:t>x</a:t>
            </a:r>
            <a:r>
              <a:rPr lang="en-US" sz="2525">
                <a:solidFill>
                  <a:srgbClr val="F0CFC7"/>
                </a:solidFill>
                <a:latin typeface="Noto Serif Ethiopic Condensed"/>
                <a:ea typeface="Noto Serif Ethiopic Condensed"/>
                <a:cs typeface="Noto Serif Ethiopic Condensed"/>
                <a:sym typeface="Noto Serif Ethiopic Condensed"/>
              </a:rPr>
              <a:t> </a:t>
            </a:r>
            <a:r>
              <a:rPr lang="en-US" sz="2525">
                <a:solidFill>
                  <a:srgbClr val="F0CFC7"/>
                </a:solidFill>
                <a:latin typeface="Noto Serif Ethiopic Condensed"/>
                <a:ea typeface="Noto Serif Ethiopic Condensed"/>
                <a:cs typeface="Noto Serif Ethiopic Condensed"/>
                <a:sym typeface="Noto Serif Ethiopic Condensed"/>
              </a:rPr>
              <a:t>lang</a:t>
            </a:r>
            <a:r>
              <a:rPr lang="en-US" sz="2525">
                <a:solidFill>
                  <a:srgbClr val="F0CFC7"/>
                </a:solidFill>
                <a:latin typeface="Noto Serif Ethiopic Condensed"/>
                <a:ea typeface="Noto Serif Ethiopic Condensed"/>
                <a:cs typeface="Noto Serif Ethiopic Condensed"/>
                <a:sym typeface="Noto Serif Ethiopic Condensed"/>
              </a:rPr>
              <a:t>u</a:t>
            </a:r>
            <a:r>
              <a:rPr lang="en-US" sz="2525">
                <a:solidFill>
                  <a:srgbClr val="F0CFC7"/>
                </a:solidFill>
                <a:latin typeface="Noto Serif Ethiopic Condensed"/>
                <a:ea typeface="Noto Serif Ethiopic Condensed"/>
                <a:cs typeface="Noto Serif Ethiopic Condensed"/>
                <a:sym typeface="Noto Serif Ethiopic Condensed"/>
              </a:rPr>
              <a:t>ag</a:t>
            </a:r>
            <a:r>
              <a:rPr lang="en-US" sz="2525">
                <a:solidFill>
                  <a:srgbClr val="F0CFC7"/>
                </a:solidFill>
                <a:latin typeface="Noto Serif Ethiopic Condensed"/>
                <a:ea typeface="Noto Serif Ethiopic Condensed"/>
                <a:cs typeface="Noto Serif Ethiopic Condensed"/>
                <a:sym typeface="Noto Serif Ethiopic Condensed"/>
              </a:rPr>
              <a:t>e</a:t>
            </a:r>
            <a:r>
              <a:rPr lang="en-US" sz="2525">
                <a:solidFill>
                  <a:srgbClr val="F0CFC7"/>
                </a:solidFill>
                <a:latin typeface="Noto Serif Ethiopic Condensed"/>
                <a:ea typeface="Noto Serif Ethiopic Condensed"/>
                <a:cs typeface="Noto Serif Ethiopic Condensed"/>
                <a:sym typeface="Noto Serif Ethiopic Condensed"/>
              </a:rPr>
              <a:t>.</a:t>
            </a:r>
          </a:p>
        </p:txBody>
      </p:sp>
      <p:sp>
        <p:nvSpPr>
          <p:cNvPr name="AutoShape 17" id="17"/>
          <p:cNvSpPr/>
          <p:nvPr/>
        </p:nvSpPr>
        <p:spPr>
          <a:xfrm>
            <a:off x="1028700" y="2669107"/>
            <a:ext cx="15856875" cy="0"/>
          </a:xfrm>
          <a:prstGeom prst="line">
            <a:avLst/>
          </a:prstGeom>
          <a:ln cap="rnd" w="38100">
            <a:solidFill>
              <a:srgbClr val="F0CFC7"/>
            </a:solidFill>
            <a:prstDash val="solid"/>
            <a:headEnd type="none" len="sm" w="sm"/>
            <a:tailEnd type="none" len="sm" w="sm"/>
          </a:ln>
        </p:spPr>
      </p:sp>
      <p:sp>
        <p:nvSpPr>
          <p:cNvPr name="TextBox 18" id="18"/>
          <p:cNvSpPr txBox="true"/>
          <p:nvPr/>
        </p:nvSpPr>
        <p:spPr>
          <a:xfrm rot="0">
            <a:off x="8716812" y="4216567"/>
            <a:ext cx="4732073" cy="4022071"/>
          </a:xfrm>
          <a:prstGeom prst="rect">
            <a:avLst/>
          </a:prstGeom>
        </p:spPr>
        <p:txBody>
          <a:bodyPr anchor="t" rtlCol="false" tIns="0" lIns="0" bIns="0" rIns="0">
            <a:spAutoFit/>
          </a:bodyPr>
          <a:lstStyle/>
          <a:p>
            <a:pPr algn="ctr">
              <a:lnSpc>
                <a:spcPts val="3536"/>
              </a:lnSpc>
            </a:pPr>
            <a:r>
              <a:rPr lang="en-US" sz="2525" b="true">
                <a:solidFill>
                  <a:srgbClr val="FFFFFF"/>
                </a:solidFill>
                <a:latin typeface="Noto Serif Ethiopic Condensed Bold"/>
                <a:ea typeface="Noto Serif Ethiopic Condensed Bold"/>
                <a:cs typeface="Noto Serif Ethiopic Condensed Bold"/>
                <a:sym typeface="Noto Serif Ethiopic Condensed Bold"/>
              </a:rPr>
              <a:t>Operational and prof</a:t>
            </a:r>
            <a:r>
              <a:rPr lang="en-US" sz="2525" b="true">
                <a:solidFill>
                  <a:srgbClr val="FFFFFF"/>
                </a:solidFill>
                <a:latin typeface="Noto Serif Ethiopic Condensed Bold"/>
                <a:ea typeface="Noto Serif Ethiopic Condensed Bold"/>
                <a:cs typeface="Noto Serif Ethiopic Condensed Bold"/>
                <a:sym typeface="Noto Serif Ethiopic Condensed Bold"/>
              </a:rPr>
              <a:t>e</a:t>
            </a:r>
            <a:r>
              <a:rPr lang="en-US" sz="2525" b="true">
                <a:solidFill>
                  <a:srgbClr val="FFFFFF"/>
                </a:solidFill>
                <a:latin typeface="Noto Serif Ethiopic Condensed Bold"/>
                <a:ea typeface="Noto Serif Ethiopic Condensed Bold"/>
                <a:cs typeface="Noto Serif Ethiopic Condensed Bold"/>
                <a:sym typeface="Noto Serif Ethiopic Condensed Bold"/>
              </a:rPr>
              <a:t>ss</a:t>
            </a:r>
            <a:r>
              <a:rPr lang="en-US" sz="2525" b="true">
                <a:solidFill>
                  <a:srgbClr val="FFFFFF"/>
                </a:solidFill>
                <a:latin typeface="Noto Serif Ethiopic Condensed Bold"/>
                <a:ea typeface="Noto Serif Ethiopic Condensed Bold"/>
                <a:cs typeface="Noto Serif Ethiopic Condensed Bold"/>
                <a:sym typeface="Noto Serif Ethiopic Condensed Bold"/>
              </a:rPr>
              <a:t>iona</a:t>
            </a:r>
            <a:r>
              <a:rPr lang="en-US" sz="2525" b="true">
                <a:solidFill>
                  <a:srgbClr val="FFFFFF"/>
                </a:solidFill>
                <a:latin typeface="Noto Serif Ethiopic Condensed Bold"/>
                <a:ea typeface="Noto Serif Ethiopic Condensed Bold"/>
                <a:cs typeface="Noto Serif Ethiopic Condensed Bold"/>
                <a:sym typeface="Noto Serif Ethiopic Condensed Bold"/>
              </a:rPr>
              <a:t>l Matchmaking</a:t>
            </a:r>
          </a:p>
          <a:p>
            <a:pPr algn="l" marL="545305" indent="-272653" lvl="1">
              <a:lnSpc>
                <a:spcPts val="3536"/>
              </a:lnSpc>
              <a:buFont typeface="Arial"/>
              <a:buChar char="•"/>
            </a:pPr>
            <a:r>
              <a:rPr lang="en-US" sz="2525">
                <a:solidFill>
                  <a:srgbClr val="F0CFC7"/>
                </a:solidFill>
                <a:latin typeface="Noto Serif Ethiopic Condensed"/>
                <a:ea typeface="Noto Serif Ethiopic Condensed"/>
                <a:cs typeface="Noto Serif Ethiopic Condensed"/>
                <a:sym typeface="Noto Serif Ethiopic Condensed"/>
              </a:rPr>
              <a:t>Acc</a:t>
            </a:r>
            <a:r>
              <a:rPr lang="en-US" sz="2525">
                <a:solidFill>
                  <a:srgbClr val="F0CFC7"/>
                </a:solidFill>
                <a:latin typeface="Noto Serif Ethiopic Condensed"/>
                <a:ea typeface="Noto Serif Ethiopic Condensed"/>
                <a:cs typeface="Noto Serif Ethiopic Condensed"/>
                <a:sym typeface="Noto Serif Ethiopic Condensed"/>
              </a:rPr>
              <a:t>ess to appropriate professio</a:t>
            </a:r>
            <a:r>
              <a:rPr lang="en-US" sz="2525">
                <a:solidFill>
                  <a:srgbClr val="F0CFC7"/>
                </a:solidFill>
                <a:latin typeface="Noto Serif Ethiopic Condensed"/>
                <a:ea typeface="Noto Serif Ethiopic Condensed"/>
                <a:cs typeface="Noto Serif Ethiopic Condensed"/>
                <a:sym typeface="Noto Serif Ethiopic Condensed"/>
              </a:rPr>
              <a:t>nals </a:t>
            </a:r>
          </a:p>
          <a:p>
            <a:pPr algn="l" marL="545305" indent="-272653" lvl="1">
              <a:lnSpc>
                <a:spcPts val="3536"/>
              </a:lnSpc>
              <a:buFont typeface="Arial"/>
              <a:buChar char="•"/>
            </a:pPr>
            <a:r>
              <a:rPr lang="en-US" sz="2525">
                <a:solidFill>
                  <a:srgbClr val="F0CFC7"/>
                </a:solidFill>
                <a:latin typeface="Noto Serif Ethiopic Condensed"/>
                <a:ea typeface="Noto Serif Ethiopic Condensed"/>
                <a:cs typeface="Noto Serif Ethiopic Condensed"/>
                <a:sym typeface="Noto Serif Ethiopic Condensed"/>
              </a:rPr>
              <a:t>Di</a:t>
            </a:r>
            <a:r>
              <a:rPr lang="en-US" sz="2525">
                <a:solidFill>
                  <a:srgbClr val="F0CFC7"/>
                </a:solidFill>
                <a:latin typeface="Noto Serif Ethiopic Condensed"/>
                <a:ea typeface="Noto Serif Ethiopic Condensed"/>
                <a:cs typeface="Noto Serif Ethiopic Condensed"/>
                <a:sym typeface="Noto Serif Ethiopic Condensed"/>
              </a:rPr>
              <a:t>f</a:t>
            </a:r>
            <a:r>
              <a:rPr lang="en-US" sz="2525">
                <a:solidFill>
                  <a:srgbClr val="F0CFC7"/>
                </a:solidFill>
                <a:latin typeface="Noto Serif Ethiopic Condensed"/>
                <a:ea typeface="Noto Serif Ethiopic Condensed"/>
                <a:cs typeface="Noto Serif Ethiopic Condensed"/>
                <a:sym typeface="Noto Serif Ethiopic Condensed"/>
              </a:rPr>
              <a:t>f</a:t>
            </a:r>
            <a:r>
              <a:rPr lang="en-US" sz="2525">
                <a:solidFill>
                  <a:srgbClr val="F0CFC7"/>
                </a:solidFill>
                <a:latin typeface="Noto Serif Ethiopic Condensed"/>
                <a:ea typeface="Noto Serif Ethiopic Condensed"/>
                <a:cs typeface="Noto Serif Ethiopic Condensed"/>
                <a:sym typeface="Noto Serif Ethiopic Condensed"/>
              </a:rPr>
              <a:t>icu</a:t>
            </a:r>
            <a:r>
              <a:rPr lang="en-US" sz="2525">
                <a:solidFill>
                  <a:srgbClr val="F0CFC7"/>
                </a:solidFill>
                <a:latin typeface="Noto Serif Ethiopic Condensed"/>
                <a:ea typeface="Noto Serif Ethiopic Condensed"/>
                <a:cs typeface="Noto Serif Ethiopic Condensed"/>
                <a:sym typeface="Noto Serif Ethiopic Condensed"/>
              </a:rPr>
              <a:t>lty finding a profession</a:t>
            </a:r>
            <a:r>
              <a:rPr lang="en-US" sz="2525">
                <a:solidFill>
                  <a:srgbClr val="F0CFC7"/>
                </a:solidFill>
                <a:latin typeface="Noto Serif Ethiopic Condensed"/>
                <a:ea typeface="Noto Serif Ethiopic Condensed"/>
                <a:cs typeface="Noto Serif Ethiopic Condensed"/>
                <a:sym typeface="Noto Serif Ethiopic Condensed"/>
              </a:rPr>
              <a:t>al that meets preferences</a:t>
            </a:r>
            <a:r>
              <a:rPr lang="en-US" sz="2525">
                <a:solidFill>
                  <a:srgbClr val="F0CFC7"/>
                </a:solidFill>
                <a:latin typeface="Noto Serif Ethiopic Condensed"/>
                <a:ea typeface="Noto Serif Ethiopic Condensed"/>
                <a:cs typeface="Noto Serif Ethiopic Condensed"/>
                <a:sym typeface="Noto Serif Ethiopic Condensed"/>
              </a:rPr>
              <a:t>. </a:t>
            </a:r>
          </a:p>
          <a:p>
            <a:pPr algn="l" marL="545305" indent="-272653" lvl="1">
              <a:lnSpc>
                <a:spcPts val="3536"/>
              </a:lnSpc>
              <a:spcBef>
                <a:spcPct val="0"/>
              </a:spcBef>
              <a:buFont typeface="Arial"/>
              <a:buChar char="•"/>
            </a:pPr>
            <a:r>
              <a:rPr lang="en-US" sz="2525">
                <a:solidFill>
                  <a:srgbClr val="F0CFC7"/>
                </a:solidFill>
                <a:latin typeface="Noto Serif Ethiopic Condensed"/>
                <a:ea typeface="Noto Serif Ethiopic Condensed"/>
                <a:cs typeface="Noto Serif Ethiopic Condensed"/>
                <a:sym typeface="Noto Serif Ethiopic Condensed"/>
              </a:rPr>
              <a:t>Limit</a:t>
            </a:r>
            <a:r>
              <a:rPr lang="en-US" sz="2525">
                <a:solidFill>
                  <a:srgbClr val="F0CFC7"/>
                </a:solidFill>
                <a:latin typeface="Noto Serif Ethiopic Condensed"/>
                <a:ea typeface="Noto Serif Ethiopic Condensed"/>
                <a:cs typeface="Noto Serif Ethiopic Condensed"/>
                <a:sym typeface="Noto Serif Ethiopic Condensed"/>
              </a:rPr>
              <a:t>e</a:t>
            </a:r>
            <a:r>
              <a:rPr lang="en-US" sz="2525">
                <a:solidFill>
                  <a:srgbClr val="F0CFC7"/>
                </a:solidFill>
                <a:latin typeface="Noto Serif Ethiopic Condensed"/>
                <a:ea typeface="Noto Serif Ethiopic Condensed"/>
                <a:cs typeface="Noto Serif Ethiopic Condensed"/>
                <a:sym typeface="Noto Serif Ethiopic Condensed"/>
              </a:rPr>
              <a:t>d ava</a:t>
            </a:r>
            <a:r>
              <a:rPr lang="en-US" sz="2525">
                <a:solidFill>
                  <a:srgbClr val="F0CFC7"/>
                </a:solidFill>
                <a:latin typeface="Noto Serif Ethiopic Condensed"/>
                <a:ea typeface="Noto Serif Ethiopic Condensed"/>
                <a:cs typeface="Noto Serif Ethiopic Condensed"/>
                <a:sym typeface="Noto Serif Ethiopic Condensed"/>
              </a:rPr>
              <a:t>il</a:t>
            </a:r>
            <a:r>
              <a:rPr lang="en-US" sz="2525">
                <a:solidFill>
                  <a:srgbClr val="F0CFC7"/>
                </a:solidFill>
                <a:latin typeface="Noto Serif Ethiopic Condensed"/>
                <a:ea typeface="Noto Serif Ethiopic Condensed"/>
                <a:cs typeface="Noto Serif Ethiopic Condensed"/>
                <a:sym typeface="Noto Serif Ethiopic Condensed"/>
              </a:rPr>
              <a:t>ability of tra</a:t>
            </a:r>
            <a:r>
              <a:rPr lang="en-US" sz="2525">
                <a:solidFill>
                  <a:srgbClr val="F0CFC7"/>
                </a:solidFill>
                <a:latin typeface="Noto Serif Ethiopic Condensed"/>
                <a:ea typeface="Noto Serif Ethiopic Condensed"/>
                <a:cs typeface="Noto Serif Ethiopic Condensed"/>
                <a:sym typeface="Noto Serif Ethiopic Condensed"/>
              </a:rPr>
              <a:t>i</a:t>
            </a:r>
            <a:r>
              <a:rPr lang="en-US" sz="2525">
                <a:solidFill>
                  <a:srgbClr val="F0CFC7"/>
                </a:solidFill>
                <a:latin typeface="Noto Serif Ethiopic Condensed"/>
                <a:ea typeface="Noto Serif Ethiopic Condensed"/>
                <a:cs typeface="Noto Serif Ethiopic Condensed"/>
                <a:sym typeface="Noto Serif Ethiopic Condensed"/>
              </a:rPr>
              <a:t>ned m</a:t>
            </a:r>
            <a:r>
              <a:rPr lang="en-US" sz="2525">
                <a:solidFill>
                  <a:srgbClr val="F0CFC7"/>
                </a:solidFill>
                <a:latin typeface="Noto Serif Ethiopic Condensed"/>
                <a:ea typeface="Noto Serif Ethiopic Condensed"/>
                <a:cs typeface="Noto Serif Ethiopic Condensed"/>
                <a:sym typeface="Noto Serif Ethiopic Condensed"/>
              </a:rPr>
              <a:t>e</a:t>
            </a:r>
            <a:r>
              <a:rPr lang="en-US" sz="2525">
                <a:solidFill>
                  <a:srgbClr val="F0CFC7"/>
                </a:solidFill>
                <a:latin typeface="Noto Serif Ethiopic Condensed"/>
                <a:ea typeface="Noto Serif Ethiopic Condensed"/>
                <a:cs typeface="Noto Serif Ethiopic Condensed"/>
                <a:sym typeface="Noto Serif Ethiopic Condensed"/>
              </a:rPr>
              <a:t>ntal</a:t>
            </a:r>
            <a:r>
              <a:rPr lang="en-US" sz="2525">
                <a:solidFill>
                  <a:srgbClr val="F0CFC7"/>
                </a:solidFill>
                <a:latin typeface="Noto Serif Ethiopic Condensed"/>
                <a:ea typeface="Noto Serif Ethiopic Condensed"/>
                <a:cs typeface="Noto Serif Ethiopic Condensed"/>
                <a:sym typeface="Noto Serif Ethiopic Condensed"/>
              </a:rPr>
              <a:t> </a:t>
            </a:r>
            <a:r>
              <a:rPr lang="en-US" sz="2525">
                <a:solidFill>
                  <a:srgbClr val="F0CFC7"/>
                </a:solidFill>
                <a:latin typeface="Noto Serif Ethiopic Condensed"/>
                <a:ea typeface="Noto Serif Ethiopic Condensed"/>
                <a:cs typeface="Noto Serif Ethiopic Condensed"/>
                <a:sym typeface="Noto Serif Ethiopic Condensed"/>
              </a:rPr>
              <a:t>health</a:t>
            </a:r>
            <a:r>
              <a:rPr lang="en-US" sz="2525">
                <a:solidFill>
                  <a:srgbClr val="F0CFC7"/>
                </a:solidFill>
                <a:latin typeface="Noto Serif Ethiopic Condensed"/>
                <a:ea typeface="Noto Serif Ethiopic Condensed"/>
                <a:cs typeface="Noto Serif Ethiopic Condensed"/>
                <a:sym typeface="Noto Serif Ethiopic Condensed"/>
              </a:rPr>
              <a:t> e</a:t>
            </a:r>
            <a:r>
              <a:rPr lang="en-US" sz="2525">
                <a:solidFill>
                  <a:srgbClr val="F0CFC7"/>
                </a:solidFill>
                <a:latin typeface="Noto Serif Ethiopic Condensed"/>
                <a:ea typeface="Noto Serif Ethiopic Condensed"/>
                <a:cs typeface="Noto Serif Ethiopic Condensed"/>
                <a:sym typeface="Noto Serif Ethiopic Condensed"/>
              </a:rPr>
              <a:t>xp</a:t>
            </a:r>
            <a:r>
              <a:rPr lang="en-US" sz="2525">
                <a:solidFill>
                  <a:srgbClr val="F0CFC7"/>
                </a:solidFill>
                <a:latin typeface="Noto Serif Ethiopic Condensed"/>
                <a:ea typeface="Noto Serif Ethiopic Condensed"/>
                <a:cs typeface="Noto Serif Ethiopic Condensed"/>
                <a:sym typeface="Noto Serif Ethiopic Condensed"/>
              </a:rPr>
              <a:t>erts</a:t>
            </a:r>
            <a:r>
              <a:rPr lang="en-US" sz="2525">
                <a:solidFill>
                  <a:srgbClr val="F0CFC7"/>
                </a:solidFill>
                <a:latin typeface="Noto Serif Ethiopic Condensed"/>
                <a:ea typeface="Noto Serif Ethiopic Condensed"/>
                <a:cs typeface="Noto Serif Ethiopic Condensed"/>
                <a:sym typeface="Noto Serif Ethiopic Condensed"/>
              </a:rPr>
              <a: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Freeform 2" id="2"/>
          <p:cNvSpPr/>
          <p:nvPr/>
        </p:nvSpPr>
        <p:spPr>
          <a:xfrm flipH="false" flipV="false" rot="0">
            <a:off x="15690270" y="1257506"/>
            <a:ext cx="1715278" cy="283801"/>
          </a:xfrm>
          <a:custGeom>
            <a:avLst/>
            <a:gdLst/>
            <a:ahLst/>
            <a:cxnLst/>
            <a:rect r="r" b="b" t="t" l="l"/>
            <a:pathLst>
              <a:path h="283801" w="1715278">
                <a:moveTo>
                  <a:pt x="0" y="0"/>
                </a:moveTo>
                <a:lnTo>
                  <a:pt x="1715277" y="0"/>
                </a:lnTo>
                <a:lnTo>
                  <a:pt x="1715277" y="283801"/>
                </a:lnTo>
                <a:lnTo>
                  <a:pt x="0" y="2838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759759" y="-1300153"/>
            <a:ext cx="3502048" cy="1916575"/>
          </a:xfrm>
          <a:custGeom>
            <a:avLst/>
            <a:gdLst/>
            <a:ahLst/>
            <a:cxnLst/>
            <a:rect r="r" b="b" t="t" l="l"/>
            <a:pathLst>
              <a:path h="1916575" w="3502048">
                <a:moveTo>
                  <a:pt x="0" y="0"/>
                </a:moveTo>
                <a:lnTo>
                  <a:pt x="3502049" y="0"/>
                </a:lnTo>
                <a:lnTo>
                  <a:pt x="3502049" y="1916575"/>
                </a:lnTo>
                <a:lnTo>
                  <a:pt x="0" y="19165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25638" y="9328712"/>
            <a:ext cx="3502048" cy="1916575"/>
          </a:xfrm>
          <a:custGeom>
            <a:avLst/>
            <a:gdLst/>
            <a:ahLst/>
            <a:cxnLst/>
            <a:rect r="r" b="b" t="t" l="l"/>
            <a:pathLst>
              <a:path h="1916575" w="3502048">
                <a:moveTo>
                  <a:pt x="0" y="0"/>
                </a:moveTo>
                <a:lnTo>
                  <a:pt x="3502048" y="0"/>
                </a:lnTo>
                <a:lnTo>
                  <a:pt x="3502048" y="1916576"/>
                </a:lnTo>
                <a:lnTo>
                  <a:pt x="0" y="1916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5540215" y="8458968"/>
            <a:ext cx="1345360" cy="252919"/>
          </a:xfrm>
          <a:prstGeom prst="rect">
            <a:avLst/>
          </a:prstGeom>
        </p:spPr>
        <p:txBody>
          <a:bodyPr anchor="t" rtlCol="false" tIns="0" lIns="0" bIns="0" rIns="0">
            <a:spAutoFit/>
          </a:bodyPr>
          <a:lstStyle/>
          <a:p>
            <a:pPr algn="ctr">
              <a:lnSpc>
                <a:spcPts val="1928"/>
              </a:lnSpc>
            </a:pPr>
          </a:p>
        </p:txBody>
      </p:sp>
      <p:sp>
        <p:nvSpPr>
          <p:cNvPr name="Freeform 6" id="6"/>
          <p:cNvSpPr/>
          <p:nvPr/>
        </p:nvSpPr>
        <p:spPr>
          <a:xfrm flipH="false" flipV="false" rot="0">
            <a:off x="1285252" y="7781229"/>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2444922" y="9377086"/>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 id="8"/>
          <p:cNvGrpSpPr/>
          <p:nvPr/>
        </p:nvGrpSpPr>
        <p:grpSpPr>
          <a:xfrm rot="0">
            <a:off x="1361694" y="3253272"/>
            <a:ext cx="4910113" cy="2788436"/>
            <a:chOff x="0" y="0"/>
            <a:chExt cx="6546817" cy="3717915"/>
          </a:xfrm>
        </p:grpSpPr>
        <p:grpSp>
          <p:nvGrpSpPr>
            <p:cNvPr name="Group 9" id="9"/>
            <p:cNvGrpSpPr/>
            <p:nvPr/>
          </p:nvGrpSpPr>
          <p:grpSpPr>
            <a:xfrm rot="0">
              <a:off x="0" y="0"/>
              <a:ext cx="6546817" cy="3717915"/>
              <a:chOff x="0" y="0"/>
              <a:chExt cx="1327721" cy="754008"/>
            </a:xfrm>
          </p:grpSpPr>
          <p:sp>
            <p:nvSpPr>
              <p:cNvPr name="Freeform 10" id="10"/>
              <p:cNvSpPr/>
              <p:nvPr/>
            </p:nvSpPr>
            <p:spPr>
              <a:xfrm flipH="false" flipV="false" rot="0">
                <a:off x="0" y="0"/>
                <a:ext cx="1327721" cy="754008"/>
              </a:xfrm>
              <a:custGeom>
                <a:avLst/>
                <a:gdLst/>
                <a:ahLst/>
                <a:cxnLst/>
                <a:rect r="r" b="b" t="t" l="l"/>
                <a:pathLst>
                  <a:path h="754008" w="1327721">
                    <a:moveTo>
                      <a:pt x="46072" y="0"/>
                    </a:moveTo>
                    <a:lnTo>
                      <a:pt x="1281649" y="0"/>
                    </a:lnTo>
                    <a:cubicBezTo>
                      <a:pt x="1307094" y="0"/>
                      <a:pt x="1327721" y="20627"/>
                      <a:pt x="1327721" y="46072"/>
                    </a:cubicBezTo>
                    <a:lnTo>
                      <a:pt x="1327721" y="707936"/>
                    </a:lnTo>
                    <a:cubicBezTo>
                      <a:pt x="1327721" y="733381"/>
                      <a:pt x="1307094" y="754008"/>
                      <a:pt x="1281649" y="754008"/>
                    </a:cubicBezTo>
                    <a:lnTo>
                      <a:pt x="46072" y="754008"/>
                    </a:lnTo>
                    <a:cubicBezTo>
                      <a:pt x="20627" y="754008"/>
                      <a:pt x="0" y="733381"/>
                      <a:pt x="0" y="707936"/>
                    </a:cubicBezTo>
                    <a:lnTo>
                      <a:pt x="0" y="46072"/>
                    </a:lnTo>
                    <a:cubicBezTo>
                      <a:pt x="0" y="20627"/>
                      <a:pt x="20627" y="0"/>
                      <a:pt x="46072" y="0"/>
                    </a:cubicBezTo>
                    <a:close/>
                  </a:path>
                </a:pathLst>
              </a:custGeom>
              <a:gradFill rotWithShape="true">
                <a:gsLst>
                  <a:gs pos="0">
                    <a:srgbClr val="542D5C">
                      <a:alpha val="100000"/>
                    </a:srgbClr>
                  </a:gs>
                  <a:gs pos="100000">
                    <a:srgbClr val="C87D96">
                      <a:alpha val="100000"/>
                    </a:srgbClr>
                  </a:gs>
                </a:gsLst>
                <a:lin ang="2700000"/>
              </a:gradFill>
              <a:ln w="38100" cap="rnd">
                <a:solidFill>
                  <a:srgbClr val="EDC4BC"/>
                </a:solidFill>
                <a:prstDash val="solid"/>
                <a:round/>
              </a:ln>
            </p:spPr>
          </p:sp>
          <p:sp>
            <p:nvSpPr>
              <p:cNvPr name="TextBox 11" id="11"/>
              <p:cNvSpPr txBox="true"/>
              <p:nvPr/>
            </p:nvSpPr>
            <p:spPr>
              <a:xfrm>
                <a:off x="0" y="57150"/>
                <a:ext cx="1327721" cy="696858"/>
              </a:xfrm>
              <a:prstGeom prst="rect">
                <a:avLst/>
              </a:prstGeom>
            </p:spPr>
            <p:txBody>
              <a:bodyPr anchor="ctr" rtlCol="false" tIns="50800" lIns="50800" bIns="50800" rIns="50800"/>
              <a:lstStyle/>
              <a:p>
                <a:pPr algn="ctr">
                  <a:lnSpc>
                    <a:spcPts val="2375"/>
                  </a:lnSpc>
                </a:pPr>
              </a:p>
            </p:txBody>
          </p:sp>
        </p:grpSp>
        <p:sp>
          <p:nvSpPr>
            <p:cNvPr name="TextBox 12" id="12"/>
            <p:cNvSpPr txBox="true"/>
            <p:nvPr/>
          </p:nvSpPr>
          <p:spPr>
            <a:xfrm rot="0">
              <a:off x="164298" y="710371"/>
              <a:ext cx="6096623" cy="2813643"/>
            </a:xfrm>
            <a:prstGeom prst="rect">
              <a:avLst/>
            </a:prstGeom>
          </p:spPr>
          <p:txBody>
            <a:bodyPr anchor="t" rtlCol="false" tIns="0" lIns="0" bIns="0" rIns="0">
              <a:spAutoFit/>
            </a:bodyPr>
            <a:lstStyle/>
            <a:p>
              <a:pPr algn="ctr">
                <a:lnSpc>
                  <a:spcPts val="3388"/>
                </a:lnSpc>
                <a:spcBef>
                  <a:spcPct val="0"/>
                </a:spcBef>
              </a:pPr>
              <a:r>
                <a:rPr lang="en-US" sz="2420">
                  <a:solidFill>
                    <a:srgbClr val="FFFFFF"/>
                  </a:solidFill>
                  <a:latin typeface="Noto Serif Ethiopic Condensed"/>
                  <a:ea typeface="Noto Serif Ethiopic Condensed"/>
                  <a:cs typeface="Noto Serif Ethiopic Condensed"/>
                  <a:sym typeface="Noto Serif Ethiopic Condensed"/>
                </a:rPr>
                <a:t>As Sarah, I want t</a:t>
              </a:r>
              <a:r>
                <a:rPr lang="en-US" sz="2420">
                  <a:solidFill>
                    <a:srgbClr val="FFFFFF"/>
                  </a:solidFill>
                  <a:latin typeface="Noto Serif Ethiopic Condensed"/>
                  <a:ea typeface="Noto Serif Ethiopic Condensed"/>
                  <a:cs typeface="Noto Serif Ethiopic Condensed"/>
                  <a:sym typeface="Noto Serif Ethiopic Condensed"/>
                </a:rPr>
                <a:t>o be aware of the app’s policies on data protection, so I can feel reassured about sharing my personal information</a:t>
              </a:r>
            </a:p>
            <a:p>
              <a:pPr algn="ctr">
                <a:lnSpc>
                  <a:spcPts val="3388"/>
                </a:lnSpc>
                <a:spcBef>
                  <a:spcPct val="0"/>
                </a:spcBef>
              </a:pPr>
            </a:p>
          </p:txBody>
        </p:sp>
      </p:grpSp>
      <p:grpSp>
        <p:nvGrpSpPr>
          <p:cNvPr name="Group 13" id="13"/>
          <p:cNvGrpSpPr/>
          <p:nvPr/>
        </p:nvGrpSpPr>
        <p:grpSpPr>
          <a:xfrm rot="0">
            <a:off x="6690907" y="3253272"/>
            <a:ext cx="4906187" cy="2617928"/>
            <a:chOff x="0" y="0"/>
            <a:chExt cx="6541582" cy="3490571"/>
          </a:xfrm>
        </p:grpSpPr>
        <p:grpSp>
          <p:nvGrpSpPr>
            <p:cNvPr name="Group 14" id="14"/>
            <p:cNvGrpSpPr/>
            <p:nvPr/>
          </p:nvGrpSpPr>
          <p:grpSpPr>
            <a:xfrm rot="0">
              <a:off x="0" y="0"/>
              <a:ext cx="6541582" cy="3490571"/>
              <a:chOff x="0" y="0"/>
              <a:chExt cx="1284221" cy="685257"/>
            </a:xfrm>
          </p:grpSpPr>
          <p:sp>
            <p:nvSpPr>
              <p:cNvPr name="Freeform 15" id="15"/>
              <p:cNvSpPr/>
              <p:nvPr/>
            </p:nvSpPr>
            <p:spPr>
              <a:xfrm flipH="false" flipV="false" rot="0">
                <a:off x="0" y="0"/>
                <a:ext cx="1284221" cy="685257"/>
              </a:xfrm>
              <a:custGeom>
                <a:avLst/>
                <a:gdLst/>
                <a:ahLst/>
                <a:cxnLst/>
                <a:rect r="r" b="b" t="t" l="l"/>
                <a:pathLst>
                  <a:path h="685257" w="1284221">
                    <a:moveTo>
                      <a:pt x="47633" y="0"/>
                    </a:moveTo>
                    <a:lnTo>
                      <a:pt x="1236588" y="0"/>
                    </a:lnTo>
                    <a:cubicBezTo>
                      <a:pt x="1249221" y="0"/>
                      <a:pt x="1261337" y="5018"/>
                      <a:pt x="1270270" y="13951"/>
                    </a:cubicBezTo>
                    <a:cubicBezTo>
                      <a:pt x="1279203" y="22884"/>
                      <a:pt x="1284221" y="35000"/>
                      <a:pt x="1284221" y="47633"/>
                    </a:cubicBezTo>
                    <a:lnTo>
                      <a:pt x="1284221" y="637624"/>
                    </a:lnTo>
                    <a:cubicBezTo>
                      <a:pt x="1284221" y="650257"/>
                      <a:pt x="1279203" y="662373"/>
                      <a:pt x="1270270" y="671306"/>
                    </a:cubicBezTo>
                    <a:cubicBezTo>
                      <a:pt x="1261337" y="680238"/>
                      <a:pt x="1249221" y="685257"/>
                      <a:pt x="1236588" y="685257"/>
                    </a:cubicBezTo>
                    <a:lnTo>
                      <a:pt x="47633" y="685257"/>
                    </a:lnTo>
                    <a:cubicBezTo>
                      <a:pt x="35000" y="685257"/>
                      <a:pt x="22884" y="680238"/>
                      <a:pt x="13951" y="671306"/>
                    </a:cubicBezTo>
                    <a:cubicBezTo>
                      <a:pt x="5018" y="662373"/>
                      <a:pt x="0" y="650257"/>
                      <a:pt x="0" y="637624"/>
                    </a:cubicBezTo>
                    <a:lnTo>
                      <a:pt x="0" y="47633"/>
                    </a:lnTo>
                    <a:cubicBezTo>
                      <a:pt x="0" y="35000"/>
                      <a:pt x="5018" y="22884"/>
                      <a:pt x="13951" y="13951"/>
                    </a:cubicBezTo>
                    <a:cubicBezTo>
                      <a:pt x="22884" y="5018"/>
                      <a:pt x="35000" y="0"/>
                      <a:pt x="47633" y="0"/>
                    </a:cubicBezTo>
                    <a:close/>
                  </a:path>
                </a:pathLst>
              </a:custGeom>
              <a:gradFill rotWithShape="true">
                <a:gsLst>
                  <a:gs pos="0">
                    <a:srgbClr val="542D5C">
                      <a:alpha val="100000"/>
                    </a:srgbClr>
                  </a:gs>
                  <a:gs pos="100000">
                    <a:srgbClr val="C87D96">
                      <a:alpha val="100000"/>
                    </a:srgbClr>
                  </a:gs>
                </a:gsLst>
                <a:lin ang="2700000"/>
              </a:gradFill>
              <a:ln w="38100" cap="rnd">
                <a:solidFill>
                  <a:srgbClr val="EDC4BC"/>
                </a:solidFill>
                <a:prstDash val="solid"/>
                <a:round/>
              </a:ln>
            </p:spPr>
          </p:sp>
          <p:sp>
            <p:nvSpPr>
              <p:cNvPr name="TextBox 16" id="16"/>
              <p:cNvSpPr txBox="true"/>
              <p:nvPr/>
            </p:nvSpPr>
            <p:spPr>
              <a:xfrm>
                <a:off x="0" y="57150"/>
                <a:ext cx="1284221" cy="628107"/>
              </a:xfrm>
              <a:prstGeom prst="rect">
                <a:avLst/>
              </a:prstGeom>
            </p:spPr>
            <p:txBody>
              <a:bodyPr anchor="ctr" rtlCol="false" tIns="50800" lIns="50800" bIns="50800" rIns="50800"/>
              <a:lstStyle/>
              <a:p>
                <a:pPr algn="ctr">
                  <a:lnSpc>
                    <a:spcPts val="2375"/>
                  </a:lnSpc>
                </a:pPr>
              </a:p>
            </p:txBody>
          </p:sp>
        </p:grpSp>
        <p:sp>
          <p:nvSpPr>
            <p:cNvPr name="TextBox 17" id="17"/>
            <p:cNvSpPr txBox="true"/>
            <p:nvPr/>
          </p:nvSpPr>
          <p:spPr>
            <a:xfrm rot="0">
              <a:off x="318288" y="716926"/>
              <a:ext cx="5905007" cy="2242294"/>
            </a:xfrm>
            <a:prstGeom prst="rect">
              <a:avLst/>
            </a:prstGeom>
          </p:spPr>
          <p:txBody>
            <a:bodyPr anchor="t" rtlCol="false" tIns="0" lIns="0" bIns="0" rIns="0">
              <a:spAutoFit/>
            </a:bodyPr>
            <a:lstStyle/>
            <a:p>
              <a:pPr algn="ctr">
                <a:lnSpc>
                  <a:spcPts val="3381"/>
                </a:lnSpc>
                <a:spcBef>
                  <a:spcPct val="0"/>
                </a:spcBef>
              </a:pPr>
              <a:r>
                <a:rPr lang="en-US" sz="2415">
                  <a:solidFill>
                    <a:srgbClr val="FFFFFF"/>
                  </a:solidFill>
                  <a:latin typeface="Noto Serif Ethiopic Condensed"/>
                  <a:ea typeface="Noto Serif Ethiopic Condensed"/>
                  <a:cs typeface="Noto Serif Ethiopic Condensed"/>
                  <a:sym typeface="Noto Serif Ethiopic Condensed"/>
                </a:rPr>
                <a:t>As Evan, I want to seek advice on breathing exercises, so that I can calm down my brother during panic attacks</a:t>
              </a:r>
            </a:p>
          </p:txBody>
        </p:sp>
      </p:grpSp>
      <p:grpSp>
        <p:nvGrpSpPr>
          <p:cNvPr name="Group 18" id="18"/>
          <p:cNvGrpSpPr/>
          <p:nvPr/>
        </p:nvGrpSpPr>
        <p:grpSpPr>
          <a:xfrm rot="0">
            <a:off x="12016193" y="3253272"/>
            <a:ext cx="4641042" cy="2630991"/>
            <a:chOff x="0" y="0"/>
            <a:chExt cx="6188056" cy="3507988"/>
          </a:xfrm>
        </p:grpSpPr>
        <p:grpSp>
          <p:nvGrpSpPr>
            <p:cNvPr name="Group 19" id="19"/>
            <p:cNvGrpSpPr/>
            <p:nvPr/>
          </p:nvGrpSpPr>
          <p:grpSpPr>
            <a:xfrm rot="0">
              <a:off x="0" y="0"/>
              <a:ext cx="6188056" cy="3507988"/>
              <a:chOff x="0" y="0"/>
              <a:chExt cx="1461660" cy="828610"/>
            </a:xfrm>
          </p:grpSpPr>
          <p:sp>
            <p:nvSpPr>
              <p:cNvPr name="Freeform 20" id="20"/>
              <p:cNvSpPr/>
              <p:nvPr/>
            </p:nvSpPr>
            <p:spPr>
              <a:xfrm flipH="false" flipV="false" rot="0">
                <a:off x="0" y="0"/>
                <a:ext cx="1461660" cy="828610"/>
              </a:xfrm>
              <a:custGeom>
                <a:avLst/>
                <a:gdLst/>
                <a:ahLst/>
                <a:cxnLst/>
                <a:rect r="r" b="b" t="t" l="l"/>
                <a:pathLst>
                  <a:path h="828610" w="1461660">
                    <a:moveTo>
                      <a:pt x="41850" y="0"/>
                    </a:moveTo>
                    <a:lnTo>
                      <a:pt x="1419810" y="0"/>
                    </a:lnTo>
                    <a:cubicBezTo>
                      <a:pt x="1430909" y="0"/>
                      <a:pt x="1441554" y="4409"/>
                      <a:pt x="1449403" y="12258"/>
                    </a:cubicBezTo>
                    <a:cubicBezTo>
                      <a:pt x="1457251" y="20106"/>
                      <a:pt x="1461660" y="30751"/>
                      <a:pt x="1461660" y="41850"/>
                    </a:cubicBezTo>
                    <a:lnTo>
                      <a:pt x="1461660" y="786760"/>
                    </a:lnTo>
                    <a:cubicBezTo>
                      <a:pt x="1461660" y="809873"/>
                      <a:pt x="1442923" y="828610"/>
                      <a:pt x="1419810" y="828610"/>
                    </a:cubicBezTo>
                    <a:lnTo>
                      <a:pt x="41850" y="828610"/>
                    </a:lnTo>
                    <a:cubicBezTo>
                      <a:pt x="30751" y="828610"/>
                      <a:pt x="20106" y="824201"/>
                      <a:pt x="12258" y="816353"/>
                    </a:cubicBezTo>
                    <a:cubicBezTo>
                      <a:pt x="4409" y="808504"/>
                      <a:pt x="0" y="797859"/>
                      <a:pt x="0" y="786760"/>
                    </a:cubicBezTo>
                    <a:lnTo>
                      <a:pt x="0" y="41850"/>
                    </a:lnTo>
                    <a:cubicBezTo>
                      <a:pt x="0" y="30751"/>
                      <a:pt x="4409" y="20106"/>
                      <a:pt x="12258" y="12258"/>
                    </a:cubicBezTo>
                    <a:cubicBezTo>
                      <a:pt x="20106" y="4409"/>
                      <a:pt x="30751" y="0"/>
                      <a:pt x="41850" y="0"/>
                    </a:cubicBezTo>
                    <a:close/>
                  </a:path>
                </a:pathLst>
              </a:custGeom>
              <a:gradFill rotWithShape="true">
                <a:gsLst>
                  <a:gs pos="0">
                    <a:srgbClr val="542D5C">
                      <a:alpha val="100000"/>
                    </a:srgbClr>
                  </a:gs>
                  <a:gs pos="100000">
                    <a:srgbClr val="C87D96">
                      <a:alpha val="100000"/>
                    </a:srgbClr>
                  </a:gs>
                </a:gsLst>
                <a:lin ang="2700000"/>
              </a:gradFill>
              <a:ln w="38100" cap="rnd">
                <a:solidFill>
                  <a:srgbClr val="F0CFC7"/>
                </a:solidFill>
                <a:prstDash val="solid"/>
                <a:round/>
              </a:ln>
            </p:spPr>
          </p:sp>
          <p:sp>
            <p:nvSpPr>
              <p:cNvPr name="TextBox 21" id="21"/>
              <p:cNvSpPr txBox="true"/>
              <p:nvPr/>
            </p:nvSpPr>
            <p:spPr>
              <a:xfrm>
                <a:off x="0" y="57150"/>
                <a:ext cx="1461660" cy="771460"/>
              </a:xfrm>
              <a:prstGeom prst="rect">
                <a:avLst/>
              </a:prstGeom>
            </p:spPr>
            <p:txBody>
              <a:bodyPr anchor="ctr" rtlCol="false" tIns="50800" lIns="50800" bIns="50800" rIns="50800"/>
              <a:lstStyle/>
              <a:p>
                <a:pPr algn="ctr">
                  <a:lnSpc>
                    <a:spcPts val="2375"/>
                  </a:lnSpc>
                </a:pPr>
              </a:p>
            </p:txBody>
          </p:sp>
        </p:grpSp>
        <p:sp>
          <p:nvSpPr>
            <p:cNvPr name="TextBox 22" id="22"/>
            <p:cNvSpPr txBox="true"/>
            <p:nvPr/>
          </p:nvSpPr>
          <p:spPr>
            <a:xfrm rot="0">
              <a:off x="331827" y="612681"/>
              <a:ext cx="5524402" cy="2244527"/>
            </a:xfrm>
            <a:prstGeom prst="rect">
              <a:avLst/>
            </a:prstGeom>
          </p:spPr>
          <p:txBody>
            <a:bodyPr anchor="t" rtlCol="false" tIns="0" lIns="0" bIns="0" rIns="0">
              <a:spAutoFit/>
            </a:bodyPr>
            <a:lstStyle/>
            <a:p>
              <a:pPr algn="ctr">
                <a:lnSpc>
                  <a:spcPts val="3381"/>
                </a:lnSpc>
                <a:spcBef>
                  <a:spcPct val="0"/>
                </a:spcBef>
              </a:pPr>
              <a:r>
                <a:rPr lang="en-US" sz="2415">
                  <a:solidFill>
                    <a:srgbClr val="FFFFFF"/>
                  </a:solidFill>
                  <a:latin typeface="Noto Serif Ethiopic Condensed"/>
                  <a:ea typeface="Noto Serif Ethiopic Condensed"/>
                  <a:cs typeface="Noto Serif Ethiopic Condensed"/>
                  <a:sym typeface="Noto Serif Ethiopic Condensed"/>
                </a:rPr>
                <a:t>As a manager, I want to learn about mental illness, so that I can improve the workplace environment. </a:t>
              </a:r>
            </a:p>
          </p:txBody>
        </p:sp>
      </p:grpSp>
      <p:grpSp>
        <p:nvGrpSpPr>
          <p:cNvPr name="Group 23" id="23"/>
          <p:cNvGrpSpPr/>
          <p:nvPr/>
        </p:nvGrpSpPr>
        <p:grpSpPr>
          <a:xfrm rot="0">
            <a:off x="4106844" y="6457254"/>
            <a:ext cx="4910113" cy="2647950"/>
            <a:chOff x="0" y="0"/>
            <a:chExt cx="6546817" cy="3530600"/>
          </a:xfrm>
        </p:grpSpPr>
        <p:grpSp>
          <p:nvGrpSpPr>
            <p:cNvPr name="Group 24" id="24"/>
            <p:cNvGrpSpPr/>
            <p:nvPr/>
          </p:nvGrpSpPr>
          <p:grpSpPr>
            <a:xfrm rot="0">
              <a:off x="0" y="0"/>
              <a:ext cx="6546817" cy="3530600"/>
              <a:chOff x="0" y="0"/>
              <a:chExt cx="1293198" cy="697402"/>
            </a:xfrm>
          </p:grpSpPr>
          <p:sp>
            <p:nvSpPr>
              <p:cNvPr name="Freeform 25" id="25"/>
              <p:cNvSpPr/>
              <p:nvPr/>
            </p:nvSpPr>
            <p:spPr>
              <a:xfrm flipH="false" flipV="false" rot="0">
                <a:off x="0" y="0"/>
                <a:ext cx="1293198" cy="697402"/>
              </a:xfrm>
              <a:custGeom>
                <a:avLst/>
                <a:gdLst/>
                <a:ahLst/>
                <a:cxnLst/>
                <a:rect r="r" b="b" t="t" l="l"/>
                <a:pathLst>
                  <a:path h="697402" w="1293198">
                    <a:moveTo>
                      <a:pt x="47302" y="0"/>
                    </a:moveTo>
                    <a:lnTo>
                      <a:pt x="1245897" y="0"/>
                    </a:lnTo>
                    <a:cubicBezTo>
                      <a:pt x="1258442" y="0"/>
                      <a:pt x="1270473" y="4984"/>
                      <a:pt x="1279344" y="13854"/>
                    </a:cubicBezTo>
                    <a:cubicBezTo>
                      <a:pt x="1288215" y="22725"/>
                      <a:pt x="1293198" y="34757"/>
                      <a:pt x="1293198" y="47302"/>
                    </a:cubicBezTo>
                    <a:lnTo>
                      <a:pt x="1293198" y="650101"/>
                    </a:lnTo>
                    <a:cubicBezTo>
                      <a:pt x="1293198" y="676225"/>
                      <a:pt x="1272021" y="697402"/>
                      <a:pt x="1245897" y="697402"/>
                    </a:cubicBezTo>
                    <a:lnTo>
                      <a:pt x="47302" y="697402"/>
                    </a:lnTo>
                    <a:cubicBezTo>
                      <a:pt x="21178" y="697402"/>
                      <a:pt x="0" y="676225"/>
                      <a:pt x="0" y="650101"/>
                    </a:cubicBezTo>
                    <a:lnTo>
                      <a:pt x="0" y="47302"/>
                    </a:lnTo>
                    <a:cubicBezTo>
                      <a:pt x="0" y="34757"/>
                      <a:pt x="4984" y="22725"/>
                      <a:pt x="13854" y="13854"/>
                    </a:cubicBezTo>
                    <a:cubicBezTo>
                      <a:pt x="22725" y="4984"/>
                      <a:pt x="34757" y="0"/>
                      <a:pt x="47302" y="0"/>
                    </a:cubicBezTo>
                    <a:close/>
                  </a:path>
                </a:pathLst>
              </a:custGeom>
              <a:gradFill rotWithShape="true">
                <a:gsLst>
                  <a:gs pos="0">
                    <a:srgbClr val="542D5C">
                      <a:alpha val="100000"/>
                    </a:srgbClr>
                  </a:gs>
                  <a:gs pos="100000">
                    <a:srgbClr val="C87D96">
                      <a:alpha val="100000"/>
                    </a:srgbClr>
                  </a:gs>
                </a:gsLst>
                <a:lin ang="2700000"/>
              </a:gradFill>
              <a:ln w="38100" cap="rnd">
                <a:solidFill>
                  <a:srgbClr val="F0CFC7"/>
                </a:solidFill>
                <a:prstDash val="solid"/>
                <a:round/>
              </a:ln>
            </p:spPr>
          </p:sp>
          <p:sp>
            <p:nvSpPr>
              <p:cNvPr name="TextBox 26" id="26"/>
              <p:cNvSpPr txBox="true"/>
              <p:nvPr/>
            </p:nvSpPr>
            <p:spPr>
              <a:xfrm>
                <a:off x="0" y="57150"/>
                <a:ext cx="1293198" cy="640252"/>
              </a:xfrm>
              <a:prstGeom prst="rect">
                <a:avLst/>
              </a:prstGeom>
            </p:spPr>
            <p:txBody>
              <a:bodyPr anchor="ctr" rtlCol="false" tIns="50800" lIns="50800" bIns="50800" rIns="50800"/>
              <a:lstStyle/>
              <a:p>
                <a:pPr algn="ctr">
                  <a:lnSpc>
                    <a:spcPts val="2375"/>
                  </a:lnSpc>
                </a:pPr>
              </a:p>
            </p:txBody>
          </p:sp>
        </p:grpSp>
        <p:sp>
          <p:nvSpPr>
            <p:cNvPr name="TextBox 27" id="27"/>
            <p:cNvSpPr txBox="true"/>
            <p:nvPr/>
          </p:nvSpPr>
          <p:spPr>
            <a:xfrm rot="0">
              <a:off x="338559" y="838402"/>
              <a:ext cx="5869699" cy="2309281"/>
            </a:xfrm>
            <a:prstGeom prst="rect">
              <a:avLst/>
            </a:prstGeom>
          </p:spPr>
          <p:txBody>
            <a:bodyPr anchor="t" rtlCol="false" tIns="0" lIns="0" bIns="0" rIns="0">
              <a:spAutoFit/>
            </a:bodyPr>
            <a:lstStyle/>
            <a:p>
              <a:pPr algn="ctr">
                <a:lnSpc>
                  <a:spcPts val="3500"/>
                </a:lnSpc>
                <a:spcBef>
                  <a:spcPct val="0"/>
                </a:spcBef>
              </a:pPr>
              <a:r>
                <a:rPr lang="en-US" sz="2500">
                  <a:solidFill>
                    <a:srgbClr val="FFFFFF"/>
                  </a:solidFill>
                  <a:latin typeface="Noto Serif Ethiopic Condensed"/>
                  <a:ea typeface="Noto Serif Ethiopic Condensed"/>
                  <a:cs typeface="Noto Serif Ethiopic Condensed"/>
                  <a:sym typeface="Noto Serif Ethiopic Condensed"/>
                </a:rPr>
                <a:t>As a psych</a:t>
              </a:r>
              <a:r>
                <a:rPr lang="en-US" sz="2500">
                  <a:solidFill>
                    <a:srgbClr val="FFFFFF"/>
                  </a:solidFill>
                  <a:latin typeface="Noto Serif Ethiopic Condensed"/>
                  <a:ea typeface="Noto Serif Ethiopic Condensed"/>
                  <a:cs typeface="Noto Serif Ethiopic Condensed"/>
                  <a:sym typeface="Noto Serif Ethiopic Condensed"/>
                </a:rPr>
                <a:t>ology student, I want to research mental cases so that I can do my assignments. </a:t>
              </a:r>
            </a:p>
            <a:p>
              <a:pPr algn="ctr">
                <a:lnSpc>
                  <a:spcPts val="3500"/>
                </a:lnSpc>
                <a:spcBef>
                  <a:spcPct val="0"/>
                </a:spcBef>
              </a:pPr>
            </a:p>
          </p:txBody>
        </p:sp>
      </p:grpSp>
      <p:grpSp>
        <p:nvGrpSpPr>
          <p:cNvPr name="Group 28" id="28"/>
          <p:cNvGrpSpPr/>
          <p:nvPr/>
        </p:nvGrpSpPr>
        <p:grpSpPr>
          <a:xfrm rot="0">
            <a:off x="9426602" y="6457254"/>
            <a:ext cx="4910113" cy="2577955"/>
            <a:chOff x="0" y="0"/>
            <a:chExt cx="6546817" cy="3437273"/>
          </a:xfrm>
        </p:grpSpPr>
        <p:grpSp>
          <p:nvGrpSpPr>
            <p:cNvPr name="Group 29" id="29"/>
            <p:cNvGrpSpPr/>
            <p:nvPr/>
          </p:nvGrpSpPr>
          <p:grpSpPr>
            <a:xfrm rot="0">
              <a:off x="0" y="0"/>
              <a:ext cx="6546817" cy="3437273"/>
              <a:chOff x="0" y="0"/>
              <a:chExt cx="1293198" cy="678968"/>
            </a:xfrm>
          </p:grpSpPr>
          <p:sp>
            <p:nvSpPr>
              <p:cNvPr name="Freeform 30" id="30"/>
              <p:cNvSpPr/>
              <p:nvPr/>
            </p:nvSpPr>
            <p:spPr>
              <a:xfrm flipH="false" flipV="false" rot="0">
                <a:off x="0" y="0"/>
                <a:ext cx="1293198" cy="678968"/>
              </a:xfrm>
              <a:custGeom>
                <a:avLst/>
                <a:gdLst/>
                <a:ahLst/>
                <a:cxnLst/>
                <a:rect r="r" b="b" t="t" l="l"/>
                <a:pathLst>
                  <a:path h="678968" w="1293198">
                    <a:moveTo>
                      <a:pt x="47302" y="0"/>
                    </a:moveTo>
                    <a:lnTo>
                      <a:pt x="1245897" y="0"/>
                    </a:lnTo>
                    <a:cubicBezTo>
                      <a:pt x="1258442" y="0"/>
                      <a:pt x="1270473" y="4984"/>
                      <a:pt x="1279344" y="13854"/>
                    </a:cubicBezTo>
                    <a:cubicBezTo>
                      <a:pt x="1288215" y="22725"/>
                      <a:pt x="1293198" y="34757"/>
                      <a:pt x="1293198" y="47302"/>
                    </a:cubicBezTo>
                    <a:lnTo>
                      <a:pt x="1293198" y="631666"/>
                    </a:lnTo>
                    <a:cubicBezTo>
                      <a:pt x="1293198" y="657790"/>
                      <a:pt x="1272021" y="678968"/>
                      <a:pt x="1245897" y="678968"/>
                    </a:cubicBezTo>
                    <a:lnTo>
                      <a:pt x="47302" y="678968"/>
                    </a:lnTo>
                    <a:cubicBezTo>
                      <a:pt x="34757" y="678968"/>
                      <a:pt x="22725" y="673984"/>
                      <a:pt x="13854" y="665113"/>
                    </a:cubicBezTo>
                    <a:cubicBezTo>
                      <a:pt x="4984" y="656242"/>
                      <a:pt x="0" y="644211"/>
                      <a:pt x="0" y="631666"/>
                    </a:cubicBezTo>
                    <a:lnTo>
                      <a:pt x="0" y="47302"/>
                    </a:lnTo>
                    <a:cubicBezTo>
                      <a:pt x="0" y="34757"/>
                      <a:pt x="4984" y="22725"/>
                      <a:pt x="13854" y="13854"/>
                    </a:cubicBezTo>
                    <a:cubicBezTo>
                      <a:pt x="22725" y="4984"/>
                      <a:pt x="34757" y="0"/>
                      <a:pt x="47302" y="0"/>
                    </a:cubicBezTo>
                    <a:close/>
                  </a:path>
                </a:pathLst>
              </a:custGeom>
              <a:gradFill rotWithShape="true">
                <a:gsLst>
                  <a:gs pos="0">
                    <a:srgbClr val="542D5C">
                      <a:alpha val="100000"/>
                    </a:srgbClr>
                  </a:gs>
                  <a:gs pos="100000">
                    <a:srgbClr val="C87D96">
                      <a:alpha val="100000"/>
                    </a:srgbClr>
                  </a:gs>
                </a:gsLst>
                <a:lin ang="2700000"/>
              </a:gradFill>
              <a:ln w="38100" cap="rnd">
                <a:solidFill>
                  <a:srgbClr val="F0CFC7"/>
                </a:solidFill>
                <a:prstDash val="solid"/>
                <a:round/>
              </a:ln>
            </p:spPr>
          </p:sp>
          <p:sp>
            <p:nvSpPr>
              <p:cNvPr name="TextBox 31" id="31"/>
              <p:cNvSpPr txBox="true"/>
              <p:nvPr/>
            </p:nvSpPr>
            <p:spPr>
              <a:xfrm>
                <a:off x="0" y="57150"/>
                <a:ext cx="1293198" cy="621818"/>
              </a:xfrm>
              <a:prstGeom prst="rect">
                <a:avLst/>
              </a:prstGeom>
            </p:spPr>
            <p:txBody>
              <a:bodyPr anchor="ctr" rtlCol="false" tIns="50800" lIns="50800" bIns="50800" rIns="50800"/>
              <a:lstStyle/>
              <a:p>
                <a:pPr algn="ctr">
                  <a:lnSpc>
                    <a:spcPts val="2375"/>
                  </a:lnSpc>
                </a:pPr>
              </a:p>
            </p:txBody>
          </p:sp>
        </p:grpSp>
        <p:sp>
          <p:nvSpPr>
            <p:cNvPr name="TextBox 32" id="32"/>
            <p:cNvSpPr txBox="true"/>
            <p:nvPr/>
          </p:nvSpPr>
          <p:spPr>
            <a:xfrm rot="0">
              <a:off x="1094886" y="486314"/>
              <a:ext cx="4357046" cy="2407495"/>
            </a:xfrm>
            <a:prstGeom prst="rect">
              <a:avLst/>
            </a:prstGeom>
          </p:spPr>
          <p:txBody>
            <a:bodyPr anchor="t" rtlCol="false" tIns="0" lIns="0" bIns="0" rIns="0">
              <a:spAutoFit/>
            </a:bodyPr>
            <a:lstStyle/>
            <a:p>
              <a:pPr algn="ctr">
                <a:lnSpc>
                  <a:spcPts val="3640"/>
                </a:lnSpc>
                <a:spcBef>
                  <a:spcPct val="0"/>
                </a:spcBef>
              </a:pPr>
              <a:r>
                <a:rPr lang="en-US" sz="2600">
                  <a:solidFill>
                    <a:srgbClr val="FFFFFF"/>
                  </a:solidFill>
                  <a:latin typeface="Noto Serif Ethiopic Condensed"/>
                  <a:ea typeface="Noto Serif Ethiopic Condensed"/>
                  <a:cs typeface="Noto Serif Ethiopic Condensed"/>
                  <a:sym typeface="Noto Serif Ethiopic Condensed"/>
                </a:rPr>
                <a:t>As Ari, I want to see the patterns, so that I can share it with my therapist. </a:t>
              </a:r>
            </a:p>
          </p:txBody>
        </p:sp>
      </p:grpSp>
      <p:sp>
        <p:nvSpPr>
          <p:cNvPr name="TextBox 33" id="33"/>
          <p:cNvSpPr txBox="true"/>
          <p:nvPr/>
        </p:nvSpPr>
        <p:spPr>
          <a:xfrm rot="0">
            <a:off x="5473551" y="616422"/>
            <a:ext cx="7329488" cy="1524011"/>
          </a:xfrm>
          <a:prstGeom prst="rect">
            <a:avLst/>
          </a:prstGeom>
        </p:spPr>
        <p:txBody>
          <a:bodyPr anchor="t" rtlCol="false" tIns="0" lIns="0" bIns="0" rIns="0">
            <a:spAutoFit/>
          </a:bodyPr>
          <a:lstStyle/>
          <a:p>
            <a:pPr algn="ctr">
              <a:lnSpc>
                <a:spcPts val="12599"/>
              </a:lnSpc>
              <a:spcBef>
                <a:spcPct val="0"/>
              </a:spcBef>
            </a:pPr>
            <a:r>
              <a:rPr lang="en-US" b="true" sz="8999">
                <a:solidFill>
                  <a:srgbClr val="F0CFC7"/>
                </a:solidFill>
                <a:latin typeface="Noto Serif Ethiopic Condensed Bold"/>
                <a:ea typeface="Noto Serif Ethiopic Condensed Bold"/>
                <a:cs typeface="Noto Serif Ethiopic Condensed Bold"/>
                <a:sym typeface="Noto Serif Ethiopic Condensed Bold"/>
              </a:rPr>
              <a:t>USER STORIES</a:t>
            </a:r>
          </a:p>
        </p:txBody>
      </p:sp>
      <p:sp>
        <p:nvSpPr>
          <p:cNvPr name="TextBox 34" id="34"/>
          <p:cNvSpPr txBox="true"/>
          <p:nvPr/>
        </p:nvSpPr>
        <p:spPr>
          <a:xfrm rot="0">
            <a:off x="1044281" y="2198551"/>
            <a:ext cx="15945351" cy="869949"/>
          </a:xfrm>
          <a:prstGeom prst="rect">
            <a:avLst/>
          </a:prstGeom>
        </p:spPr>
        <p:txBody>
          <a:bodyPr anchor="t" rtlCol="false" tIns="0" lIns="0" bIns="0" rIns="0">
            <a:spAutoFit/>
          </a:bodyPr>
          <a:lstStyle/>
          <a:p>
            <a:pPr algn="ctr">
              <a:lnSpc>
                <a:spcPts val="3500"/>
              </a:lnSpc>
              <a:spcBef>
                <a:spcPct val="0"/>
              </a:spcBef>
            </a:pPr>
            <a:r>
              <a:rPr lang="en-US" sz="2500">
                <a:solidFill>
                  <a:srgbClr val="FFFFFF"/>
                </a:solidFill>
                <a:latin typeface="Noto Serif Ethiopic Condensed"/>
                <a:ea typeface="Noto Serif Ethiopic Condensed"/>
                <a:cs typeface="Noto Serif Ethiopic Condensed"/>
                <a:sym typeface="Noto Serif Ethiopic Condensed"/>
              </a:rPr>
              <a:t>User stories are c</a:t>
            </a:r>
            <a:r>
              <a:rPr lang="en-US" sz="2500">
                <a:solidFill>
                  <a:srgbClr val="FFFFFF"/>
                </a:solidFill>
                <a:latin typeface="Noto Serif Ethiopic Condensed"/>
                <a:ea typeface="Noto Serif Ethiopic Condensed"/>
                <a:cs typeface="Noto Serif Ethiopic Condensed"/>
                <a:sym typeface="Noto Serif Ethiopic Condensed"/>
              </a:rPr>
              <a:t>oncise, user-focused descriptions of desired outcomes focusing on who needs it, what they want, &amp; why</a:t>
            </a:r>
          </a:p>
          <a:p>
            <a:pPr algn="ctr">
              <a:lnSpc>
                <a:spcPts val="3500"/>
              </a:lnSpc>
              <a:spcBef>
                <a:spcPct val="0"/>
              </a:spcBef>
            </a:pPr>
          </a:p>
        </p:txBody>
      </p:sp>
      <p:sp>
        <p:nvSpPr>
          <p:cNvPr name="TextBox 35" id="35"/>
          <p:cNvSpPr txBox="true"/>
          <p:nvPr/>
        </p:nvSpPr>
        <p:spPr>
          <a:xfrm rot="0">
            <a:off x="1071577" y="403696"/>
            <a:ext cx="5619330" cy="317502"/>
          </a:xfrm>
          <a:prstGeom prst="rect">
            <a:avLst/>
          </a:prstGeom>
        </p:spPr>
        <p:txBody>
          <a:bodyPr anchor="t" rtlCol="false" tIns="0" lIns="0" bIns="0" rIns="0">
            <a:spAutoFit/>
          </a:bodyPr>
          <a:lstStyle/>
          <a:p>
            <a:pPr algn="l">
              <a:lnSpc>
                <a:spcPts val="2375"/>
              </a:lnSpc>
            </a:pPr>
            <a:r>
              <a:rPr lang="en-US" sz="2500">
                <a:solidFill>
                  <a:srgbClr val="F1D0C7"/>
                </a:solidFill>
                <a:latin typeface="Noto Serif Ethiopic Condensed"/>
                <a:ea typeface="Noto Serif Ethiopic Condensed"/>
                <a:cs typeface="Noto Serif Ethiopic Condensed"/>
                <a:sym typeface="Noto Serif Ethiopic Condensed"/>
              </a:rPr>
              <a:t>Human Computer Interface ICTE 3002</a:t>
            </a:r>
          </a:p>
        </p:txBody>
      </p:sp>
      <p:sp>
        <p:nvSpPr>
          <p:cNvPr name="AutoShape 36" id="36"/>
          <p:cNvSpPr/>
          <p:nvPr/>
        </p:nvSpPr>
        <p:spPr>
          <a:xfrm>
            <a:off x="1056393" y="2938947"/>
            <a:ext cx="15933239" cy="0"/>
          </a:xfrm>
          <a:prstGeom prst="line">
            <a:avLst/>
          </a:prstGeom>
          <a:ln cap="rnd" w="38100">
            <a:solidFill>
              <a:srgbClr val="F0CFC7"/>
            </a:solidFill>
            <a:prstDash val="solid"/>
            <a:headEnd type="none" len="sm" w="sm"/>
            <a:tailEnd type="none" len="sm" w="sm"/>
          </a:ln>
        </p:spPr>
      </p:sp>
      <p:sp>
        <p:nvSpPr>
          <p:cNvPr name="TextBox 37" id="37"/>
          <p:cNvSpPr txBox="true"/>
          <p:nvPr/>
        </p:nvSpPr>
        <p:spPr>
          <a:xfrm rot="0">
            <a:off x="15608734" y="9487044"/>
            <a:ext cx="2679266" cy="317502"/>
          </a:xfrm>
          <a:prstGeom prst="rect">
            <a:avLst/>
          </a:prstGeom>
        </p:spPr>
        <p:txBody>
          <a:bodyPr anchor="t" rtlCol="false" tIns="0" lIns="0" bIns="0" rIns="0">
            <a:spAutoFit/>
          </a:bodyPr>
          <a:lstStyle/>
          <a:p>
            <a:pPr algn="l">
              <a:lnSpc>
                <a:spcPts val="2375"/>
              </a:lnSpc>
            </a:pPr>
            <a:r>
              <a:rPr lang="en-US" sz="2500">
                <a:solidFill>
                  <a:srgbClr val="F0CFC7"/>
                </a:solidFill>
                <a:latin typeface="Noto Serif Ethiopic Condensed"/>
                <a:ea typeface="Noto Serif Ethiopic Condensed"/>
                <a:cs typeface="Noto Serif Ethiopic Condensed"/>
                <a:sym typeface="Noto Serif Ethiopic Condensed"/>
              </a:rPr>
              <a:t>Blessed Dendere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TextBox 2" id="2"/>
          <p:cNvSpPr txBox="true"/>
          <p:nvPr/>
        </p:nvSpPr>
        <p:spPr>
          <a:xfrm rot="0">
            <a:off x="1309873" y="1142373"/>
            <a:ext cx="15921509" cy="1129986"/>
          </a:xfrm>
          <a:prstGeom prst="rect">
            <a:avLst/>
          </a:prstGeom>
        </p:spPr>
        <p:txBody>
          <a:bodyPr anchor="t" rtlCol="false" tIns="0" lIns="0" bIns="0" rIns="0">
            <a:spAutoFit/>
          </a:bodyPr>
          <a:lstStyle/>
          <a:p>
            <a:pPr algn="ctr">
              <a:lnSpc>
                <a:spcPts val="8445"/>
              </a:lnSpc>
            </a:pPr>
            <a:r>
              <a:rPr lang="en-US" b="true" sz="8890">
                <a:solidFill>
                  <a:srgbClr val="F1D0C7"/>
                </a:solidFill>
                <a:latin typeface="Noto Serif Ethiopic Condensed Bold"/>
                <a:ea typeface="Noto Serif Ethiopic Condensed Bold"/>
                <a:cs typeface="Noto Serif Ethiopic Condensed Bold"/>
                <a:sym typeface="Noto Serif Ethiopic Condensed Bold"/>
              </a:rPr>
              <a:t>CAUSES OF MENTAL HEALTH</a:t>
            </a:r>
          </a:p>
        </p:txBody>
      </p:sp>
      <p:sp>
        <p:nvSpPr>
          <p:cNvPr name="TextBox 3" id="3"/>
          <p:cNvSpPr txBox="true"/>
          <p:nvPr/>
        </p:nvSpPr>
        <p:spPr>
          <a:xfrm rot="0">
            <a:off x="4043753" y="2144458"/>
            <a:ext cx="10616863" cy="680047"/>
          </a:xfrm>
          <a:prstGeom prst="rect">
            <a:avLst/>
          </a:prstGeom>
        </p:spPr>
        <p:txBody>
          <a:bodyPr anchor="t" rtlCol="false" tIns="0" lIns="0" bIns="0" rIns="0">
            <a:spAutoFit/>
          </a:bodyPr>
          <a:lstStyle/>
          <a:p>
            <a:pPr algn="ctr">
              <a:lnSpc>
                <a:spcPts val="5567"/>
              </a:lnSpc>
            </a:pPr>
            <a:r>
              <a:rPr lang="en-US" sz="3976">
                <a:solidFill>
                  <a:srgbClr val="FFFFFF"/>
                </a:solidFill>
                <a:latin typeface="Noto Serif Ethiopic Condensed"/>
                <a:ea typeface="Noto Serif Ethiopic Condensed"/>
                <a:cs typeface="Noto Serif Ethiopic Condensed"/>
                <a:sym typeface="Noto Serif Ethiopic Condensed"/>
              </a:rPr>
              <a:t>Understanding the mental health app landscape </a:t>
            </a:r>
          </a:p>
        </p:txBody>
      </p:sp>
      <p:sp>
        <p:nvSpPr>
          <p:cNvPr name="AutoShape 4" id="4"/>
          <p:cNvSpPr/>
          <p:nvPr/>
        </p:nvSpPr>
        <p:spPr>
          <a:xfrm>
            <a:off x="869004" y="3057550"/>
            <a:ext cx="16390296" cy="0"/>
          </a:xfrm>
          <a:prstGeom prst="line">
            <a:avLst/>
          </a:prstGeom>
          <a:ln cap="rnd" w="38100">
            <a:solidFill>
              <a:srgbClr val="F0CFC7"/>
            </a:solidFill>
            <a:prstDash val="solid"/>
            <a:headEnd type="none" len="sm" w="sm"/>
            <a:tailEnd type="none" len="sm" w="sm"/>
          </a:ln>
        </p:spPr>
      </p:sp>
      <p:sp>
        <p:nvSpPr>
          <p:cNvPr name="Freeform 5" id="5"/>
          <p:cNvSpPr/>
          <p:nvPr/>
        </p:nvSpPr>
        <p:spPr>
          <a:xfrm flipH="false" flipV="false" rot="-1864513">
            <a:off x="16153788" y="8299473"/>
            <a:ext cx="549707" cy="564065"/>
          </a:xfrm>
          <a:custGeom>
            <a:avLst/>
            <a:gdLst/>
            <a:ahLst/>
            <a:cxnLst/>
            <a:rect r="r" b="b" t="t" l="l"/>
            <a:pathLst>
              <a:path h="564065" w="549707">
                <a:moveTo>
                  <a:pt x="0" y="0"/>
                </a:moveTo>
                <a:lnTo>
                  <a:pt x="549707" y="0"/>
                </a:lnTo>
                <a:lnTo>
                  <a:pt x="549707" y="564065"/>
                </a:lnTo>
                <a:lnTo>
                  <a:pt x="0" y="5640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5755523">
            <a:off x="3455434" y="2225185"/>
            <a:ext cx="464781" cy="667441"/>
          </a:xfrm>
          <a:custGeom>
            <a:avLst/>
            <a:gdLst/>
            <a:ahLst/>
            <a:cxnLst/>
            <a:rect r="r" b="b" t="t" l="l"/>
            <a:pathLst>
              <a:path h="667441" w="464781">
                <a:moveTo>
                  <a:pt x="464782" y="0"/>
                </a:moveTo>
                <a:lnTo>
                  <a:pt x="0" y="0"/>
                </a:lnTo>
                <a:lnTo>
                  <a:pt x="0" y="667440"/>
                </a:lnTo>
                <a:lnTo>
                  <a:pt x="464782" y="667440"/>
                </a:lnTo>
                <a:lnTo>
                  <a:pt x="46478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6047657" y="179454"/>
            <a:ext cx="506211" cy="506211"/>
          </a:xfrm>
          <a:custGeom>
            <a:avLst/>
            <a:gdLst/>
            <a:ahLst/>
            <a:cxnLst/>
            <a:rect r="r" b="b" t="t" l="l"/>
            <a:pathLst>
              <a:path h="506211" w="506211">
                <a:moveTo>
                  <a:pt x="0" y="0"/>
                </a:moveTo>
                <a:lnTo>
                  <a:pt x="506211" y="0"/>
                </a:lnTo>
                <a:lnTo>
                  <a:pt x="506211" y="506210"/>
                </a:lnTo>
                <a:lnTo>
                  <a:pt x="0" y="50621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559866" y="8964933"/>
            <a:ext cx="4247691" cy="2324645"/>
          </a:xfrm>
          <a:custGeom>
            <a:avLst/>
            <a:gdLst/>
            <a:ahLst/>
            <a:cxnLst/>
            <a:rect r="r" b="b" t="t" l="l"/>
            <a:pathLst>
              <a:path h="2324645" w="4247691">
                <a:moveTo>
                  <a:pt x="0" y="0"/>
                </a:moveTo>
                <a:lnTo>
                  <a:pt x="4247691" y="0"/>
                </a:lnTo>
                <a:lnTo>
                  <a:pt x="4247691" y="2324645"/>
                </a:lnTo>
                <a:lnTo>
                  <a:pt x="0" y="23246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8619532" y="-1648506"/>
            <a:ext cx="4247691" cy="2324645"/>
          </a:xfrm>
          <a:custGeom>
            <a:avLst/>
            <a:gdLst/>
            <a:ahLst/>
            <a:cxnLst/>
            <a:rect r="r" b="b" t="t" l="l"/>
            <a:pathLst>
              <a:path h="2324645" w="4247691">
                <a:moveTo>
                  <a:pt x="0" y="0"/>
                </a:moveTo>
                <a:lnTo>
                  <a:pt x="4247691" y="0"/>
                </a:lnTo>
                <a:lnTo>
                  <a:pt x="4247691" y="2324645"/>
                </a:lnTo>
                <a:lnTo>
                  <a:pt x="0" y="23246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true" flipV="false" rot="-9269010">
            <a:off x="14707372" y="2155429"/>
            <a:ext cx="480115" cy="689461"/>
          </a:xfrm>
          <a:custGeom>
            <a:avLst/>
            <a:gdLst/>
            <a:ahLst/>
            <a:cxnLst/>
            <a:rect r="r" b="b" t="t" l="l"/>
            <a:pathLst>
              <a:path h="689461" w="480115">
                <a:moveTo>
                  <a:pt x="480115" y="0"/>
                </a:moveTo>
                <a:lnTo>
                  <a:pt x="0" y="0"/>
                </a:lnTo>
                <a:lnTo>
                  <a:pt x="0" y="689461"/>
                </a:lnTo>
                <a:lnTo>
                  <a:pt x="480115" y="689461"/>
                </a:lnTo>
                <a:lnTo>
                  <a:pt x="48011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864513">
            <a:off x="1141264" y="6935431"/>
            <a:ext cx="583029" cy="598257"/>
          </a:xfrm>
          <a:custGeom>
            <a:avLst/>
            <a:gdLst/>
            <a:ahLst/>
            <a:cxnLst/>
            <a:rect r="r" b="b" t="t" l="l"/>
            <a:pathLst>
              <a:path h="598257" w="583029">
                <a:moveTo>
                  <a:pt x="0" y="0"/>
                </a:moveTo>
                <a:lnTo>
                  <a:pt x="583029" y="0"/>
                </a:lnTo>
                <a:lnTo>
                  <a:pt x="583029" y="598257"/>
                </a:lnTo>
                <a:lnTo>
                  <a:pt x="0" y="5982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2" id="12"/>
          <p:cNvGrpSpPr/>
          <p:nvPr/>
        </p:nvGrpSpPr>
        <p:grpSpPr>
          <a:xfrm rot="0">
            <a:off x="6755451" y="3305200"/>
            <a:ext cx="5030352" cy="2957384"/>
            <a:chOff x="0" y="0"/>
            <a:chExt cx="6707137" cy="3943178"/>
          </a:xfrm>
        </p:grpSpPr>
        <p:grpSp>
          <p:nvGrpSpPr>
            <p:cNvPr name="Group 13" id="13"/>
            <p:cNvGrpSpPr/>
            <p:nvPr/>
          </p:nvGrpSpPr>
          <p:grpSpPr>
            <a:xfrm rot="0">
              <a:off x="0" y="0"/>
              <a:ext cx="6707137" cy="3943178"/>
              <a:chOff x="0" y="0"/>
              <a:chExt cx="1324866" cy="778899"/>
            </a:xfrm>
          </p:grpSpPr>
          <p:sp>
            <p:nvSpPr>
              <p:cNvPr name="Freeform 14" id="14"/>
              <p:cNvSpPr/>
              <p:nvPr/>
            </p:nvSpPr>
            <p:spPr>
              <a:xfrm flipH="false" flipV="false" rot="0">
                <a:off x="0" y="0"/>
                <a:ext cx="1324867" cy="778899"/>
              </a:xfrm>
              <a:custGeom>
                <a:avLst/>
                <a:gdLst/>
                <a:ahLst/>
                <a:cxnLst/>
                <a:rect r="r" b="b" t="t" l="l"/>
                <a:pathLst>
                  <a:path h="778899" w="1324867">
                    <a:moveTo>
                      <a:pt x="43093" y="0"/>
                    </a:moveTo>
                    <a:lnTo>
                      <a:pt x="1281773" y="0"/>
                    </a:lnTo>
                    <a:cubicBezTo>
                      <a:pt x="1293202" y="0"/>
                      <a:pt x="1304163" y="4540"/>
                      <a:pt x="1312245" y="12622"/>
                    </a:cubicBezTo>
                    <a:cubicBezTo>
                      <a:pt x="1320326" y="20703"/>
                      <a:pt x="1324867" y="31664"/>
                      <a:pt x="1324867" y="43093"/>
                    </a:cubicBezTo>
                    <a:lnTo>
                      <a:pt x="1324867" y="735806"/>
                    </a:lnTo>
                    <a:cubicBezTo>
                      <a:pt x="1324867" y="759606"/>
                      <a:pt x="1305573" y="778899"/>
                      <a:pt x="1281773" y="778899"/>
                    </a:cubicBezTo>
                    <a:lnTo>
                      <a:pt x="43093" y="778899"/>
                    </a:lnTo>
                    <a:cubicBezTo>
                      <a:pt x="31664" y="778899"/>
                      <a:pt x="20703" y="774359"/>
                      <a:pt x="12622" y="766278"/>
                    </a:cubicBezTo>
                    <a:cubicBezTo>
                      <a:pt x="4540" y="758196"/>
                      <a:pt x="0" y="747235"/>
                      <a:pt x="0" y="735806"/>
                    </a:cubicBezTo>
                    <a:lnTo>
                      <a:pt x="0" y="43093"/>
                    </a:lnTo>
                    <a:cubicBezTo>
                      <a:pt x="0" y="31664"/>
                      <a:pt x="4540" y="20703"/>
                      <a:pt x="12622" y="12622"/>
                    </a:cubicBezTo>
                    <a:cubicBezTo>
                      <a:pt x="20703" y="4540"/>
                      <a:pt x="31664" y="0"/>
                      <a:pt x="43093" y="0"/>
                    </a:cubicBezTo>
                    <a:close/>
                  </a:path>
                </a:pathLst>
              </a:custGeom>
              <a:gradFill rotWithShape="true">
                <a:gsLst>
                  <a:gs pos="0">
                    <a:srgbClr val="542D5C">
                      <a:alpha val="100000"/>
                    </a:srgbClr>
                  </a:gs>
                  <a:gs pos="100000">
                    <a:srgbClr val="C87D96">
                      <a:alpha val="100000"/>
                    </a:srgbClr>
                  </a:gs>
                </a:gsLst>
                <a:lin ang="5400000"/>
              </a:gradFill>
              <a:ln w="38100" cap="rnd">
                <a:solidFill>
                  <a:srgbClr val="F1D0C7"/>
                </a:solidFill>
                <a:prstDash val="solid"/>
                <a:round/>
              </a:ln>
            </p:spPr>
          </p:sp>
          <p:sp>
            <p:nvSpPr>
              <p:cNvPr name="TextBox 15" id="15"/>
              <p:cNvSpPr txBox="true"/>
              <p:nvPr/>
            </p:nvSpPr>
            <p:spPr>
              <a:xfrm>
                <a:off x="0" y="-38100"/>
                <a:ext cx="1324866" cy="816999"/>
              </a:xfrm>
              <a:prstGeom prst="rect">
                <a:avLst/>
              </a:prstGeom>
            </p:spPr>
            <p:txBody>
              <a:bodyPr anchor="ctr" rtlCol="false" tIns="50800" lIns="50800" bIns="50800" rIns="50800"/>
              <a:lstStyle/>
              <a:p>
                <a:pPr algn="ctr">
                  <a:lnSpc>
                    <a:spcPts val="2659"/>
                  </a:lnSpc>
                </a:pPr>
              </a:p>
            </p:txBody>
          </p:sp>
        </p:grpSp>
        <p:sp>
          <p:nvSpPr>
            <p:cNvPr name="Freeform 16" id="16"/>
            <p:cNvSpPr/>
            <p:nvPr/>
          </p:nvSpPr>
          <p:spPr>
            <a:xfrm flipH="false" flipV="false" rot="0">
              <a:off x="2768736" y="202035"/>
              <a:ext cx="1450487" cy="1418840"/>
            </a:xfrm>
            <a:custGeom>
              <a:avLst/>
              <a:gdLst/>
              <a:ahLst/>
              <a:cxnLst/>
              <a:rect r="r" b="b" t="t" l="l"/>
              <a:pathLst>
                <a:path h="1418840" w="1450487">
                  <a:moveTo>
                    <a:pt x="0" y="0"/>
                  </a:moveTo>
                  <a:lnTo>
                    <a:pt x="1450487" y="0"/>
                  </a:lnTo>
                  <a:lnTo>
                    <a:pt x="1450487" y="1418840"/>
                  </a:lnTo>
                  <a:lnTo>
                    <a:pt x="0" y="141884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7" id="17"/>
            <p:cNvSpPr txBox="true"/>
            <p:nvPr/>
          </p:nvSpPr>
          <p:spPr>
            <a:xfrm rot="0">
              <a:off x="340283" y="1749339"/>
              <a:ext cx="6256592" cy="1858753"/>
            </a:xfrm>
            <a:prstGeom prst="rect">
              <a:avLst/>
            </a:prstGeom>
          </p:spPr>
          <p:txBody>
            <a:bodyPr anchor="t" rtlCol="false" tIns="0" lIns="0" bIns="0" rIns="0">
              <a:spAutoFit/>
            </a:bodyPr>
            <a:lstStyle/>
            <a:p>
              <a:pPr algn="ctr">
                <a:lnSpc>
                  <a:spcPts val="3358"/>
                </a:lnSpc>
              </a:pPr>
              <a:r>
                <a:rPr lang="en-US" b="true" sz="2300">
                  <a:solidFill>
                    <a:srgbClr val="FFFFFF"/>
                  </a:solidFill>
                  <a:latin typeface="Noto Serif Ethiopic Condensed Bold"/>
                  <a:ea typeface="Noto Serif Ethiopic Condensed Bold"/>
                  <a:cs typeface="Noto Serif Ethiopic Condensed Bold"/>
                  <a:sym typeface="Noto Serif Ethiopic Condensed Bold"/>
                </a:rPr>
                <a:t>Selected Competitors</a:t>
              </a:r>
            </a:p>
            <a:p>
              <a:pPr algn="ctr">
                <a:lnSpc>
                  <a:spcPts val="2657"/>
                </a:lnSpc>
              </a:pPr>
              <a:r>
                <a:rPr lang="en-US" sz="1820">
                  <a:solidFill>
                    <a:srgbClr val="FFFFFF"/>
                  </a:solidFill>
                  <a:latin typeface="Noto Serif Ethiopic Condensed"/>
                  <a:ea typeface="Noto Serif Ethiopic Condensed"/>
                  <a:cs typeface="Noto Serif Ethiopic Condensed"/>
                  <a:sym typeface="Noto Serif Ethiopic Condensed"/>
                </a:rPr>
                <a:t>Key competitors such as 7 Cups and TalkLife were analysed due to their focus on peer-based emotional support.</a:t>
              </a:r>
            </a:p>
          </p:txBody>
        </p:sp>
      </p:grpSp>
      <p:grpSp>
        <p:nvGrpSpPr>
          <p:cNvPr name="Group 18" id="18"/>
          <p:cNvGrpSpPr/>
          <p:nvPr/>
        </p:nvGrpSpPr>
        <p:grpSpPr>
          <a:xfrm rot="0">
            <a:off x="1028700" y="3295675"/>
            <a:ext cx="5498612" cy="2957384"/>
            <a:chOff x="0" y="0"/>
            <a:chExt cx="7331482" cy="3943178"/>
          </a:xfrm>
        </p:grpSpPr>
        <p:grpSp>
          <p:nvGrpSpPr>
            <p:cNvPr name="Group 19" id="19"/>
            <p:cNvGrpSpPr/>
            <p:nvPr/>
          </p:nvGrpSpPr>
          <p:grpSpPr>
            <a:xfrm rot="0">
              <a:off x="0" y="0"/>
              <a:ext cx="7331482" cy="3943178"/>
              <a:chOff x="0" y="0"/>
              <a:chExt cx="1448194" cy="778899"/>
            </a:xfrm>
          </p:grpSpPr>
          <p:sp>
            <p:nvSpPr>
              <p:cNvPr name="Freeform 20" id="20"/>
              <p:cNvSpPr/>
              <p:nvPr/>
            </p:nvSpPr>
            <p:spPr>
              <a:xfrm flipH="false" flipV="false" rot="0">
                <a:off x="0" y="0"/>
                <a:ext cx="1448194" cy="778899"/>
              </a:xfrm>
              <a:custGeom>
                <a:avLst/>
                <a:gdLst/>
                <a:ahLst/>
                <a:cxnLst/>
                <a:rect r="r" b="b" t="t" l="l"/>
                <a:pathLst>
                  <a:path h="778899" w="1448194">
                    <a:moveTo>
                      <a:pt x="39423" y="0"/>
                    </a:moveTo>
                    <a:lnTo>
                      <a:pt x="1408771" y="0"/>
                    </a:lnTo>
                    <a:cubicBezTo>
                      <a:pt x="1430543" y="0"/>
                      <a:pt x="1448194" y="17650"/>
                      <a:pt x="1448194" y="39423"/>
                    </a:cubicBezTo>
                    <a:lnTo>
                      <a:pt x="1448194" y="739476"/>
                    </a:lnTo>
                    <a:cubicBezTo>
                      <a:pt x="1448194" y="761249"/>
                      <a:pt x="1430543" y="778899"/>
                      <a:pt x="1408771" y="778899"/>
                    </a:cubicBezTo>
                    <a:lnTo>
                      <a:pt x="39423" y="778899"/>
                    </a:lnTo>
                    <a:cubicBezTo>
                      <a:pt x="17650" y="778899"/>
                      <a:pt x="0" y="761249"/>
                      <a:pt x="0" y="739476"/>
                    </a:cubicBezTo>
                    <a:lnTo>
                      <a:pt x="0" y="39423"/>
                    </a:lnTo>
                    <a:cubicBezTo>
                      <a:pt x="0" y="17650"/>
                      <a:pt x="17650" y="0"/>
                      <a:pt x="39423" y="0"/>
                    </a:cubicBezTo>
                    <a:close/>
                  </a:path>
                </a:pathLst>
              </a:custGeom>
              <a:gradFill rotWithShape="true">
                <a:gsLst>
                  <a:gs pos="0">
                    <a:srgbClr val="542D5C">
                      <a:alpha val="100000"/>
                    </a:srgbClr>
                  </a:gs>
                  <a:gs pos="100000">
                    <a:srgbClr val="C87D96">
                      <a:alpha val="100000"/>
                    </a:srgbClr>
                  </a:gs>
                </a:gsLst>
                <a:lin ang="5400000"/>
              </a:gradFill>
              <a:ln w="38100" cap="rnd">
                <a:solidFill>
                  <a:srgbClr val="F1D0C7"/>
                </a:solidFill>
                <a:prstDash val="solid"/>
                <a:round/>
              </a:ln>
            </p:spPr>
          </p:sp>
          <p:sp>
            <p:nvSpPr>
              <p:cNvPr name="TextBox 21" id="21"/>
              <p:cNvSpPr txBox="true"/>
              <p:nvPr/>
            </p:nvSpPr>
            <p:spPr>
              <a:xfrm>
                <a:off x="0" y="-38100"/>
                <a:ext cx="1448194" cy="816999"/>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3108265" y="455123"/>
              <a:ext cx="1114952" cy="1114952"/>
            </a:xfrm>
            <a:custGeom>
              <a:avLst/>
              <a:gdLst/>
              <a:ahLst/>
              <a:cxnLst/>
              <a:rect r="r" b="b" t="t" l="l"/>
              <a:pathLst>
                <a:path h="1114952" w="1114952">
                  <a:moveTo>
                    <a:pt x="0" y="0"/>
                  </a:moveTo>
                  <a:lnTo>
                    <a:pt x="1114952" y="0"/>
                  </a:lnTo>
                  <a:lnTo>
                    <a:pt x="1114952" y="1114952"/>
                  </a:lnTo>
                  <a:lnTo>
                    <a:pt x="0" y="111495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23" id="23"/>
            <p:cNvSpPr txBox="true"/>
            <p:nvPr/>
          </p:nvSpPr>
          <p:spPr>
            <a:xfrm rot="0">
              <a:off x="148785" y="1512925"/>
              <a:ext cx="6830788" cy="1858753"/>
            </a:xfrm>
            <a:prstGeom prst="rect">
              <a:avLst/>
            </a:prstGeom>
          </p:spPr>
          <p:txBody>
            <a:bodyPr anchor="t" rtlCol="false" tIns="0" lIns="0" bIns="0" rIns="0">
              <a:spAutoFit/>
            </a:bodyPr>
            <a:lstStyle/>
            <a:p>
              <a:pPr algn="ctr">
                <a:lnSpc>
                  <a:spcPts val="3358"/>
                </a:lnSpc>
              </a:pPr>
              <a:r>
                <a:rPr lang="en-US" b="true" sz="2300">
                  <a:solidFill>
                    <a:srgbClr val="FFFFFF"/>
                  </a:solidFill>
                  <a:latin typeface="Noto Serif Ethiopic Condensed Bold"/>
                  <a:ea typeface="Noto Serif Ethiopic Condensed Bold"/>
                  <a:cs typeface="Noto Serif Ethiopic Condensed Bold"/>
                  <a:sym typeface="Noto Serif Ethiopic Condensed Bold"/>
                </a:rPr>
                <a:t>Purpose of Competitor Analysis</a:t>
              </a:r>
            </a:p>
            <a:p>
              <a:pPr algn="ctr">
                <a:lnSpc>
                  <a:spcPts val="2657"/>
                </a:lnSpc>
              </a:pPr>
              <a:r>
                <a:rPr lang="en-US" sz="1820">
                  <a:solidFill>
                    <a:srgbClr val="FFFFFF"/>
                  </a:solidFill>
                  <a:latin typeface="Noto Serif Ethiopic Condensed"/>
                  <a:ea typeface="Noto Serif Ethiopic Condensed"/>
                  <a:cs typeface="Noto Serif Ethiopic Condensed"/>
                  <a:sym typeface="Noto Serif Ethiopic Condensed"/>
                </a:rPr>
                <a:t>A structured evaluation on how platforms support user needs. This analysis guided</a:t>
              </a:r>
            </a:p>
            <a:p>
              <a:pPr algn="ctr">
                <a:lnSpc>
                  <a:spcPts val="2657"/>
                </a:lnSpc>
              </a:pPr>
              <a:r>
                <a:rPr lang="en-US" sz="1820">
                  <a:solidFill>
                    <a:srgbClr val="FFFFFF"/>
                  </a:solidFill>
                  <a:latin typeface="Noto Serif Ethiopic Condensed"/>
                  <a:ea typeface="Noto Serif Ethiopic Condensed"/>
                  <a:cs typeface="Noto Serif Ethiopic Condensed"/>
                  <a:sym typeface="Noto Serif Ethiopic Condensed"/>
                </a:rPr>
                <a:t>strategic positioning for HelpEra.</a:t>
              </a:r>
            </a:p>
          </p:txBody>
        </p:sp>
      </p:grpSp>
      <p:grpSp>
        <p:nvGrpSpPr>
          <p:cNvPr name="Group 24" id="24"/>
          <p:cNvGrpSpPr/>
          <p:nvPr/>
        </p:nvGrpSpPr>
        <p:grpSpPr>
          <a:xfrm rot="0">
            <a:off x="12014403" y="3305200"/>
            <a:ext cx="5135767" cy="2957384"/>
            <a:chOff x="0" y="0"/>
            <a:chExt cx="6847690" cy="3943178"/>
          </a:xfrm>
        </p:grpSpPr>
        <p:grpSp>
          <p:nvGrpSpPr>
            <p:cNvPr name="Group 25" id="25"/>
            <p:cNvGrpSpPr/>
            <p:nvPr/>
          </p:nvGrpSpPr>
          <p:grpSpPr>
            <a:xfrm rot="0">
              <a:off x="0" y="0"/>
              <a:ext cx="6847690" cy="3943178"/>
              <a:chOff x="0" y="0"/>
              <a:chExt cx="1352630" cy="778899"/>
            </a:xfrm>
          </p:grpSpPr>
          <p:sp>
            <p:nvSpPr>
              <p:cNvPr name="Freeform 26" id="26"/>
              <p:cNvSpPr/>
              <p:nvPr/>
            </p:nvSpPr>
            <p:spPr>
              <a:xfrm flipH="false" flipV="false" rot="0">
                <a:off x="0" y="0"/>
                <a:ext cx="1352630" cy="778899"/>
              </a:xfrm>
              <a:custGeom>
                <a:avLst/>
                <a:gdLst/>
                <a:ahLst/>
                <a:cxnLst/>
                <a:rect r="r" b="b" t="t" l="l"/>
                <a:pathLst>
                  <a:path h="778899" w="1352630">
                    <a:moveTo>
                      <a:pt x="42209" y="0"/>
                    </a:moveTo>
                    <a:lnTo>
                      <a:pt x="1310421" y="0"/>
                    </a:lnTo>
                    <a:cubicBezTo>
                      <a:pt x="1321616" y="0"/>
                      <a:pt x="1332352" y="4447"/>
                      <a:pt x="1340267" y="12363"/>
                    </a:cubicBezTo>
                    <a:cubicBezTo>
                      <a:pt x="1348183" y="20278"/>
                      <a:pt x="1352630" y="31014"/>
                      <a:pt x="1352630" y="42209"/>
                    </a:cubicBezTo>
                    <a:lnTo>
                      <a:pt x="1352630" y="736691"/>
                    </a:lnTo>
                    <a:cubicBezTo>
                      <a:pt x="1352630" y="760002"/>
                      <a:pt x="1333733" y="778899"/>
                      <a:pt x="1310421" y="778899"/>
                    </a:cubicBezTo>
                    <a:lnTo>
                      <a:pt x="42209" y="778899"/>
                    </a:lnTo>
                    <a:cubicBezTo>
                      <a:pt x="31014" y="778899"/>
                      <a:pt x="20278" y="774452"/>
                      <a:pt x="12363" y="766537"/>
                    </a:cubicBezTo>
                    <a:cubicBezTo>
                      <a:pt x="4447" y="758621"/>
                      <a:pt x="0" y="747885"/>
                      <a:pt x="0" y="736691"/>
                    </a:cubicBezTo>
                    <a:lnTo>
                      <a:pt x="0" y="42209"/>
                    </a:lnTo>
                    <a:cubicBezTo>
                      <a:pt x="0" y="31014"/>
                      <a:pt x="4447" y="20278"/>
                      <a:pt x="12363" y="12363"/>
                    </a:cubicBezTo>
                    <a:cubicBezTo>
                      <a:pt x="20278" y="4447"/>
                      <a:pt x="31014" y="0"/>
                      <a:pt x="42209" y="0"/>
                    </a:cubicBezTo>
                    <a:close/>
                  </a:path>
                </a:pathLst>
              </a:custGeom>
              <a:gradFill rotWithShape="true">
                <a:gsLst>
                  <a:gs pos="0">
                    <a:srgbClr val="542D5C">
                      <a:alpha val="100000"/>
                    </a:srgbClr>
                  </a:gs>
                  <a:gs pos="100000">
                    <a:srgbClr val="C87D96">
                      <a:alpha val="100000"/>
                    </a:srgbClr>
                  </a:gs>
                </a:gsLst>
                <a:lin ang="5400000"/>
              </a:gradFill>
              <a:ln w="38100" cap="rnd">
                <a:solidFill>
                  <a:srgbClr val="F1D0C7"/>
                </a:solidFill>
                <a:prstDash val="solid"/>
                <a:round/>
              </a:ln>
            </p:spPr>
          </p:sp>
          <p:sp>
            <p:nvSpPr>
              <p:cNvPr name="TextBox 27" id="27"/>
              <p:cNvSpPr txBox="true"/>
              <p:nvPr/>
            </p:nvSpPr>
            <p:spPr>
              <a:xfrm>
                <a:off x="0" y="-38100"/>
                <a:ext cx="1352630" cy="816999"/>
              </a:xfrm>
              <a:prstGeom prst="rect">
                <a:avLst/>
              </a:prstGeom>
            </p:spPr>
            <p:txBody>
              <a:bodyPr anchor="ctr" rtlCol="false" tIns="50800" lIns="50800" bIns="50800" rIns="50800"/>
              <a:lstStyle/>
              <a:p>
                <a:pPr algn="ctr">
                  <a:lnSpc>
                    <a:spcPts val="2659"/>
                  </a:lnSpc>
                </a:pPr>
              </a:p>
            </p:txBody>
          </p:sp>
        </p:grpSp>
        <p:sp>
          <p:nvSpPr>
            <p:cNvPr name="Freeform 28" id="28"/>
            <p:cNvSpPr/>
            <p:nvPr/>
          </p:nvSpPr>
          <p:spPr>
            <a:xfrm flipH="false" flipV="false" rot="0">
              <a:off x="2829872" y="299877"/>
              <a:ext cx="1187947" cy="1187947"/>
            </a:xfrm>
            <a:custGeom>
              <a:avLst/>
              <a:gdLst/>
              <a:ahLst/>
              <a:cxnLst/>
              <a:rect r="r" b="b" t="t" l="l"/>
              <a:pathLst>
                <a:path h="1187947" w="1187947">
                  <a:moveTo>
                    <a:pt x="0" y="0"/>
                  </a:moveTo>
                  <a:lnTo>
                    <a:pt x="1187946" y="0"/>
                  </a:lnTo>
                  <a:lnTo>
                    <a:pt x="1187946" y="1187947"/>
                  </a:lnTo>
                  <a:lnTo>
                    <a:pt x="0" y="118794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9" id="29"/>
            <p:cNvSpPr txBox="true"/>
            <p:nvPr/>
          </p:nvSpPr>
          <p:spPr>
            <a:xfrm rot="0">
              <a:off x="187378" y="1655273"/>
              <a:ext cx="6472934" cy="2287905"/>
            </a:xfrm>
            <a:prstGeom prst="rect">
              <a:avLst/>
            </a:prstGeom>
          </p:spPr>
          <p:txBody>
            <a:bodyPr anchor="t" rtlCol="false" tIns="0" lIns="0" bIns="0" rIns="0">
              <a:spAutoFit/>
            </a:bodyPr>
            <a:lstStyle/>
            <a:p>
              <a:pPr algn="ctr">
                <a:lnSpc>
                  <a:spcPts val="3219"/>
                </a:lnSpc>
              </a:pPr>
              <a:r>
                <a:rPr lang="en-US" b="true" sz="2299">
                  <a:solidFill>
                    <a:srgbClr val="FFFFFF"/>
                  </a:solidFill>
                  <a:latin typeface="Noto Serif Ethiopic Condensed Bold"/>
                  <a:ea typeface="Noto Serif Ethiopic Condensed Bold"/>
                  <a:cs typeface="Noto Serif Ethiopic Condensed Bold"/>
                  <a:sym typeface="Noto Serif Ethiopic Condensed Bold"/>
                </a:rPr>
                <a:t>Evaluation Criteria</a:t>
              </a:r>
            </a:p>
            <a:p>
              <a:pPr algn="ctr">
                <a:lnSpc>
                  <a:spcPts val="2659"/>
                </a:lnSpc>
                <a:spcBef>
                  <a:spcPct val="0"/>
                </a:spcBef>
              </a:pPr>
              <a:r>
                <a:rPr lang="en-US" sz="1899">
                  <a:solidFill>
                    <a:srgbClr val="FFFFFF"/>
                  </a:solidFill>
                  <a:latin typeface="Noto Serif Ethiopic Condensed"/>
                  <a:ea typeface="Noto Serif Ethiopic Condensed"/>
                  <a:cs typeface="Noto Serif Ethiopic Condensed"/>
                  <a:sym typeface="Noto Serif Ethiopic Condensed"/>
                </a:rPr>
                <a:t>Platforms were assessed based on</a:t>
              </a:r>
            </a:p>
            <a:p>
              <a:pPr algn="ctr">
                <a:lnSpc>
                  <a:spcPts val="2659"/>
                </a:lnSpc>
                <a:spcBef>
                  <a:spcPct val="0"/>
                </a:spcBef>
              </a:pPr>
              <a:r>
                <a:rPr lang="en-US" sz="1899">
                  <a:solidFill>
                    <a:srgbClr val="FFFFFF"/>
                  </a:solidFill>
                  <a:latin typeface="Noto Serif Ethiopic Condensed"/>
                  <a:ea typeface="Noto Serif Ethiopic Condensed"/>
                  <a:cs typeface="Noto Serif Ethiopic Condensed"/>
                  <a:sym typeface="Noto Serif Ethiopic Condensed"/>
                </a:rPr>
                <a:t>usability, support quality, safety</a:t>
              </a:r>
            </a:p>
            <a:p>
              <a:pPr algn="ctr">
                <a:lnSpc>
                  <a:spcPts val="2659"/>
                </a:lnSpc>
                <a:spcBef>
                  <a:spcPct val="0"/>
                </a:spcBef>
              </a:pPr>
              <a:r>
                <a:rPr lang="en-US" sz="1899">
                  <a:solidFill>
                    <a:srgbClr val="FFFFFF"/>
                  </a:solidFill>
                  <a:latin typeface="Noto Serif Ethiopic Condensed"/>
                  <a:ea typeface="Noto Serif Ethiopic Condensed"/>
                  <a:cs typeface="Noto Serif Ethiopic Condensed"/>
                  <a:sym typeface="Noto Serif Ethiopic Condensed"/>
                </a:rPr>
                <a:t>mechanisms, privacy protection.</a:t>
              </a:r>
            </a:p>
            <a:p>
              <a:pPr algn="ctr">
                <a:lnSpc>
                  <a:spcPts val="2659"/>
                </a:lnSpc>
                <a:spcBef>
                  <a:spcPct val="0"/>
                </a:spcBef>
              </a:pPr>
            </a:p>
          </p:txBody>
        </p:sp>
      </p:grpSp>
      <p:sp>
        <p:nvSpPr>
          <p:cNvPr name="TextBox 30" id="30"/>
          <p:cNvSpPr txBox="true"/>
          <p:nvPr/>
        </p:nvSpPr>
        <p:spPr>
          <a:xfrm rot="0">
            <a:off x="14259282" y="9536433"/>
            <a:ext cx="3196764" cy="347267"/>
          </a:xfrm>
          <a:prstGeom prst="rect">
            <a:avLst/>
          </a:prstGeom>
        </p:spPr>
        <p:txBody>
          <a:bodyPr anchor="t" rtlCol="false" tIns="0" lIns="0" bIns="0" rIns="0">
            <a:spAutoFit/>
          </a:bodyPr>
          <a:lstStyle/>
          <a:p>
            <a:pPr algn="l">
              <a:lnSpc>
                <a:spcPts val="2695"/>
              </a:lnSpc>
            </a:pPr>
            <a:r>
              <a:rPr lang="en-US" sz="2837">
                <a:solidFill>
                  <a:srgbClr val="F1D0C7"/>
                </a:solidFill>
                <a:latin typeface="Noto Serif Ethiopic Condensed"/>
                <a:ea typeface="Noto Serif Ethiopic Condensed"/>
                <a:cs typeface="Noto Serif Ethiopic Condensed"/>
                <a:sym typeface="Noto Serif Ethiopic Condensed"/>
              </a:rPr>
              <a:t>Kekweditse Mogoba</a:t>
            </a:r>
          </a:p>
        </p:txBody>
      </p:sp>
      <p:grpSp>
        <p:nvGrpSpPr>
          <p:cNvPr name="Group 31" id="31"/>
          <p:cNvGrpSpPr/>
          <p:nvPr/>
        </p:nvGrpSpPr>
        <p:grpSpPr>
          <a:xfrm rot="0">
            <a:off x="4142165" y="6472134"/>
            <a:ext cx="4652234" cy="3270720"/>
            <a:chOff x="0" y="0"/>
            <a:chExt cx="6202979" cy="4360960"/>
          </a:xfrm>
        </p:grpSpPr>
        <p:grpSp>
          <p:nvGrpSpPr>
            <p:cNvPr name="Group 32" id="32"/>
            <p:cNvGrpSpPr/>
            <p:nvPr/>
          </p:nvGrpSpPr>
          <p:grpSpPr>
            <a:xfrm rot="0">
              <a:off x="0" y="0"/>
              <a:ext cx="6202979" cy="4360960"/>
              <a:chOff x="0" y="0"/>
              <a:chExt cx="1225280" cy="861424"/>
            </a:xfrm>
          </p:grpSpPr>
          <p:sp>
            <p:nvSpPr>
              <p:cNvPr name="Freeform 33" id="33"/>
              <p:cNvSpPr/>
              <p:nvPr/>
            </p:nvSpPr>
            <p:spPr>
              <a:xfrm flipH="false" flipV="false" rot="0">
                <a:off x="0" y="0"/>
                <a:ext cx="1225280" cy="861424"/>
              </a:xfrm>
              <a:custGeom>
                <a:avLst/>
                <a:gdLst/>
                <a:ahLst/>
                <a:cxnLst/>
                <a:rect r="r" b="b" t="t" l="l"/>
                <a:pathLst>
                  <a:path h="861424" w="1225280">
                    <a:moveTo>
                      <a:pt x="46596" y="0"/>
                    </a:moveTo>
                    <a:lnTo>
                      <a:pt x="1178684" y="0"/>
                    </a:lnTo>
                    <a:cubicBezTo>
                      <a:pt x="1191042" y="0"/>
                      <a:pt x="1202894" y="4909"/>
                      <a:pt x="1211632" y="13648"/>
                    </a:cubicBezTo>
                    <a:cubicBezTo>
                      <a:pt x="1220371" y="22386"/>
                      <a:pt x="1225280" y="34238"/>
                      <a:pt x="1225280" y="46596"/>
                    </a:cubicBezTo>
                    <a:lnTo>
                      <a:pt x="1225280" y="814829"/>
                    </a:lnTo>
                    <a:cubicBezTo>
                      <a:pt x="1225280" y="827187"/>
                      <a:pt x="1220371" y="839038"/>
                      <a:pt x="1211632" y="847777"/>
                    </a:cubicBezTo>
                    <a:cubicBezTo>
                      <a:pt x="1202894" y="856515"/>
                      <a:pt x="1191042" y="861424"/>
                      <a:pt x="1178684" y="861424"/>
                    </a:cubicBezTo>
                    <a:lnTo>
                      <a:pt x="46596" y="861424"/>
                    </a:lnTo>
                    <a:cubicBezTo>
                      <a:pt x="34238" y="861424"/>
                      <a:pt x="22386" y="856515"/>
                      <a:pt x="13648" y="847777"/>
                    </a:cubicBezTo>
                    <a:cubicBezTo>
                      <a:pt x="4909" y="839038"/>
                      <a:pt x="0" y="827187"/>
                      <a:pt x="0" y="814829"/>
                    </a:cubicBezTo>
                    <a:lnTo>
                      <a:pt x="0" y="46596"/>
                    </a:lnTo>
                    <a:cubicBezTo>
                      <a:pt x="0" y="34238"/>
                      <a:pt x="4909" y="22386"/>
                      <a:pt x="13648" y="13648"/>
                    </a:cubicBezTo>
                    <a:cubicBezTo>
                      <a:pt x="22386" y="4909"/>
                      <a:pt x="34238" y="0"/>
                      <a:pt x="46596" y="0"/>
                    </a:cubicBezTo>
                    <a:close/>
                  </a:path>
                </a:pathLst>
              </a:custGeom>
              <a:gradFill rotWithShape="true">
                <a:gsLst>
                  <a:gs pos="0">
                    <a:srgbClr val="542D5C">
                      <a:alpha val="100000"/>
                    </a:srgbClr>
                  </a:gs>
                  <a:gs pos="100000">
                    <a:srgbClr val="C87D96">
                      <a:alpha val="100000"/>
                    </a:srgbClr>
                  </a:gs>
                </a:gsLst>
                <a:lin ang="5400000"/>
              </a:gradFill>
              <a:ln w="38100" cap="rnd">
                <a:solidFill>
                  <a:srgbClr val="F1D0C7"/>
                </a:solidFill>
                <a:prstDash val="solid"/>
                <a:round/>
              </a:ln>
            </p:spPr>
          </p:sp>
          <p:sp>
            <p:nvSpPr>
              <p:cNvPr name="TextBox 34" id="34"/>
              <p:cNvSpPr txBox="true"/>
              <p:nvPr/>
            </p:nvSpPr>
            <p:spPr>
              <a:xfrm>
                <a:off x="0" y="-38100"/>
                <a:ext cx="1225280" cy="899524"/>
              </a:xfrm>
              <a:prstGeom prst="rect">
                <a:avLst/>
              </a:prstGeom>
            </p:spPr>
            <p:txBody>
              <a:bodyPr anchor="ctr" rtlCol="false" tIns="50800" lIns="50800" bIns="50800" rIns="50800"/>
              <a:lstStyle/>
              <a:p>
                <a:pPr algn="ctr">
                  <a:lnSpc>
                    <a:spcPts val="2659"/>
                  </a:lnSpc>
                </a:pPr>
              </a:p>
            </p:txBody>
          </p:sp>
        </p:grpSp>
        <p:sp>
          <p:nvSpPr>
            <p:cNvPr name="Freeform 35" id="35"/>
            <p:cNvSpPr/>
            <p:nvPr/>
          </p:nvSpPr>
          <p:spPr>
            <a:xfrm flipH="false" flipV="false" rot="0">
              <a:off x="2753105" y="493717"/>
              <a:ext cx="854181" cy="1256149"/>
            </a:xfrm>
            <a:custGeom>
              <a:avLst/>
              <a:gdLst/>
              <a:ahLst/>
              <a:cxnLst/>
              <a:rect r="r" b="b" t="t" l="l"/>
              <a:pathLst>
                <a:path h="1256149" w="854181">
                  <a:moveTo>
                    <a:pt x="0" y="0"/>
                  </a:moveTo>
                  <a:lnTo>
                    <a:pt x="854181" y="0"/>
                  </a:lnTo>
                  <a:lnTo>
                    <a:pt x="854181" y="1256148"/>
                  </a:lnTo>
                  <a:lnTo>
                    <a:pt x="0" y="125614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36" id="36"/>
            <p:cNvSpPr txBox="true"/>
            <p:nvPr/>
          </p:nvSpPr>
          <p:spPr>
            <a:xfrm rot="0">
              <a:off x="570655" y="2123330"/>
              <a:ext cx="5219082" cy="1046366"/>
            </a:xfrm>
            <a:prstGeom prst="rect">
              <a:avLst/>
            </a:prstGeom>
          </p:spPr>
          <p:txBody>
            <a:bodyPr anchor="t" rtlCol="false" tIns="0" lIns="0" bIns="0" rIns="0">
              <a:spAutoFit/>
            </a:bodyPr>
            <a:lstStyle/>
            <a:p>
              <a:pPr algn="ctr">
                <a:lnSpc>
                  <a:spcPts val="3512"/>
                </a:lnSpc>
                <a:spcBef>
                  <a:spcPct val="0"/>
                </a:spcBef>
              </a:pPr>
              <a:r>
                <a:rPr lang="en-US" b="true" sz="2509">
                  <a:solidFill>
                    <a:srgbClr val="FFFFFF"/>
                  </a:solidFill>
                  <a:latin typeface="Noto Serif Ethiopic Condensed Bold"/>
                  <a:ea typeface="Noto Serif Ethiopic Condensed Bold"/>
                  <a:cs typeface="Noto Serif Ethiopic Condensed Bold"/>
                  <a:sym typeface="Noto Serif Ethiopic Condensed Bold"/>
                </a:rPr>
                <a:t>Key Insight from Analysis</a:t>
              </a:r>
            </a:p>
            <a:p>
              <a:pPr algn="ctr">
                <a:lnSpc>
                  <a:spcPts val="2901"/>
                </a:lnSpc>
                <a:spcBef>
                  <a:spcPct val="0"/>
                </a:spcBef>
              </a:pPr>
            </a:p>
          </p:txBody>
        </p:sp>
        <p:sp>
          <p:nvSpPr>
            <p:cNvPr name="TextBox 37" id="37"/>
            <p:cNvSpPr txBox="true"/>
            <p:nvPr/>
          </p:nvSpPr>
          <p:spPr>
            <a:xfrm rot="0">
              <a:off x="332735" y="2904554"/>
              <a:ext cx="5694921" cy="862753"/>
            </a:xfrm>
            <a:prstGeom prst="rect">
              <a:avLst/>
            </a:prstGeom>
          </p:spPr>
          <p:txBody>
            <a:bodyPr anchor="t" rtlCol="false" tIns="0" lIns="0" bIns="0" rIns="0">
              <a:spAutoFit/>
            </a:bodyPr>
            <a:lstStyle/>
            <a:p>
              <a:pPr algn="ctr">
                <a:lnSpc>
                  <a:spcPts val="2659"/>
                </a:lnSpc>
                <a:spcBef>
                  <a:spcPct val="0"/>
                </a:spcBef>
              </a:pPr>
              <a:r>
                <a:rPr lang="en-US" sz="1899">
                  <a:solidFill>
                    <a:srgbClr val="FFFFFF"/>
                  </a:solidFill>
                  <a:latin typeface="Noto Serif Ethiopic Condensed"/>
                  <a:ea typeface="Noto Serif Ethiopic Condensed"/>
                  <a:cs typeface="Noto Serif Ethiopic Condensed"/>
                  <a:sym typeface="Noto Serif Ethiopic Condensed"/>
                </a:rPr>
                <a:t>C</a:t>
              </a:r>
              <a:r>
                <a:rPr lang="en-US" sz="1899">
                  <a:solidFill>
                    <a:srgbClr val="FFFFFF"/>
                  </a:solidFill>
                  <a:latin typeface="Noto Serif Ethiopic Condensed"/>
                  <a:ea typeface="Noto Serif Ethiopic Condensed"/>
                  <a:cs typeface="Noto Serif Ethiopic Condensed"/>
                  <a:sym typeface="Noto Serif Ethiopic Condensed"/>
                </a:rPr>
                <a:t>ompetitors lack consistency,</a:t>
              </a:r>
            </a:p>
            <a:p>
              <a:pPr algn="ctr">
                <a:lnSpc>
                  <a:spcPts val="2659"/>
                </a:lnSpc>
                <a:spcBef>
                  <a:spcPct val="0"/>
                </a:spcBef>
              </a:pPr>
              <a:r>
                <a:rPr lang="en-US" sz="1899">
                  <a:solidFill>
                    <a:srgbClr val="FFFFFF"/>
                  </a:solidFill>
                  <a:latin typeface="Noto Serif Ethiopic Condensed"/>
                  <a:ea typeface="Noto Serif Ethiopic Condensed"/>
                  <a:cs typeface="Noto Serif Ethiopic Condensed"/>
                  <a:sym typeface="Noto Serif Ethiopic Condensed"/>
                </a:rPr>
                <a:t>structured guidance, </a:t>
              </a:r>
            </a:p>
          </p:txBody>
        </p:sp>
      </p:grpSp>
      <p:grpSp>
        <p:nvGrpSpPr>
          <p:cNvPr name="Group 38" id="38"/>
          <p:cNvGrpSpPr/>
          <p:nvPr/>
        </p:nvGrpSpPr>
        <p:grpSpPr>
          <a:xfrm rot="0">
            <a:off x="9352184" y="6472134"/>
            <a:ext cx="4391298" cy="3251670"/>
            <a:chOff x="0" y="0"/>
            <a:chExt cx="5855063" cy="4335560"/>
          </a:xfrm>
        </p:grpSpPr>
        <p:grpSp>
          <p:nvGrpSpPr>
            <p:cNvPr name="Group 39" id="39"/>
            <p:cNvGrpSpPr/>
            <p:nvPr/>
          </p:nvGrpSpPr>
          <p:grpSpPr>
            <a:xfrm rot="0">
              <a:off x="0" y="0"/>
              <a:ext cx="5855063" cy="4335560"/>
              <a:chOff x="0" y="0"/>
              <a:chExt cx="1281906" cy="949227"/>
            </a:xfrm>
          </p:grpSpPr>
          <p:sp>
            <p:nvSpPr>
              <p:cNvPr name="Freeform 40" id="40"/>
              <p:cNvSpPr/>
              <p:nvPr/>
            </p:nvSpPr>
            <p:spPr>
              <a:xfrm flipH="false" flipV="false" rot="0">
                <a:off x="0" y="0"/>
                <a:ext cx="1281906" cy="949227"/>
              </a:xfrm>
              <a:custGeom>
                <a:avLst/>
                <a:gdLst/>
                <a:ahLst/>
                <a:cxnLst/>
                <a:rect r="r" b="b" t="t" l="l"/>
                <a:pathLst>
                  <a:path h="949227" w="1281906">
                    <a:moveTo>
                      <a:pt x="44537" y="0"/>
                    </a:moveTo>
                    <a:lnTo>
                      <a:pt x="1237369" y="0"/>
                    </a:lnTo>
                    <a:cubicBezTo>
                      <a:pt x="1249181" y="0"/>
                      <a:pt x="1260509" y="4692"/>
                      <a:pt x="1268862" y="13045"/>
                    </a:cubicBezTo>
                    <a:cubicBezTo>
                      <a:pt x="1277214" y="21397"/>
                      <a:pt x="1281906" y="32725"/>
                      <a:pt x="1281906" y="44537"/>
                    </a:cubicBezTo>
                    <a:lnTo>
                      <a:pt x="1281906" y="904689"/>
                    </a:lnTo>
                    <a:cubicBezTo>
                      <a:pt x="1281906" y="929287"/>
                      <a:pt x="1261966" y="949227"/>
                      <a:pt x="1237369" y="949227"/>
                    </a:cubicBezTo>
                    <a:lnTo>
                      <a:pt x="44537" y="949227"/>
                    </a:lnTo>
                    <a:cubicBezTo>
                      <a:pt x="32725" y="949227"/>
                      <a:pt x="21397" y="944534"/>
                      <a:pt x="13045" y="936182"/>
                    </a:cubicBezTo>
                    <a:cubicBezTo>
                      <a:pt x="4692" y="927830"/>
                      <a:pt x="0" y="916501"/>
                      <a:pt x="0" y="904689"/>
                    </a:cubicBezTo>
                    <a:lnTo>
                      <a:pt x="0" y="44537"/>
                    </a:lnTo>
                    <a:cubicBezTo>
                      <a:pt x="0" y="32725"/>
                      <a:pt x="4692" y="21397"/>
                      <a:pt x="13045" y="13045"/>
                    </a:cubicBezTo>
                    <a:cubicBezTo>
                      <a:pt x="21397" y="4692"/>
                      <a:pt x="32725" y="0"/>
                      <a:pt x="44537" y="0"/>
                    </a:cubicBezTo>
                    <a:close/>
                  </a:path>
                </a:pathLst>
              </a:custGeom>
              <a:gradFill rotWithShape="true">
                <a:gsLst>
                  <a:gs pos="0">
                    <a:srgbClr val="542D5C">
                      <a:alpha val="100000"/>
                    </a:srgbClr>
                  </a:gs>
                  <a:gs pos="100000">
                    <a:srgbClr val="C87D96">
                      <a:alpha val="100000"/>
                    </a:srgbClr>
                  </a:gs>
                </a:gsLst>
                <a:lin ang="5400000"/>
              </a:gradFill>
              <a:ln w="38100" cap="rnd">
                <a:solidFill>
                  <a:srgbClr val="F1D0C7"/>
                </a:solidFill>
                <a:prstDash val="solid"/>
                <a:round/>
              </a:ln>
            </p:spPr>
          </p:sp>
          <p:sp>
            <p:nvSpPr>
              <p:cNvPr name="TextBox 41" id="41"/>
              <p:cNvSpPr txBox="true"/>
              <p:nvPr/>
            </p:nvSpPr>
            <p:spPr>
              <a:xfrm>
                <a:off x="0" y="-38100"/>
                <a:ext cx="1281906" cy="987327"/>
              </a:xfrm>
              <a:prstGeom prst="rect">
                <a:avLst/>
              </a:prstGeom>
            </p:spPr>
            <p:txBody>
              <a:bodyPr anchor="ctr" rtlCol="false" tIns="50800" lIns="50800" bIns="50800" rIns="50800"/>
              <a:lstStyle/>
              <a:p>
                <a:pPr algn="ctr">
                  <a:lnSpc>
                    <a:spcPts val="2660"/>
                  </a:lnSpc>
                </a:pPr>
              </a:p>
            </p:txBody>
          </p:sp>
        </p:grpSp>
        <p:sp>
          <p:nvSpPr>
            <p:cNvPr name="Freeform 42" id="42"/>
            <p:cNvSpPr/>
            <p:nvPr/>
          </p:nvSpPr>
          <p:spPr>
            <a:xfrm flipH="false" flipV="false" rot="0">
              <a:off x="1869956" y="404515"/>
              <a:ext cx="1780781" cy="1201218"/>
            </a:xfrm>
            <a:custGeom>
              <a:avLst/>
              <a:gdLst/>
              <a:ahLst/>
              <a:cxnLst/>
              <a:rect r="r" b="b" t="t" l="l"/>
              <a:pathLst>
                <a:path h="1201218" w="1780781">
                  <a:moveTo>
                    <a:pt x="0" y="0"/>
                  </a:moveTo>
                  <a:lnTo>
                    <a:pt x="1780781" y="0"/>
                  </a:lnTo>
                  <a:lnTo>
                    <a:pt x="1780781" y="1201218"/>
                  </a:lnTo>
                  <a:lnTo>
                    <a:pt x="0" y="1201218"/>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43" id="43"/>
            <p:cNvSpPr txBox="true"/>
            <p:nvPr/>
          </p:nvSpPr>
          <p:spPr>
            <a:xfrm rot="0">
              <a:off x="693823" y="1850731"/>
              <a:ext cx="4543618" cy="856211"/>
            </a:xfrm>
            <a:prstGeom prst="rect">
              <a:avLst/>
            </a:prstGeom>
          </p:spPr>
          <p:txBody>
            <a:bodyPr anchor="t" rtlCol="false" tIns="0" lIns="0" bIns="0" rIns="0">
              <a:spAutoFit/>
            </a:bodyPr>
            <a:lstStyle/>
            <a:p>
              <a:pPr algn="ctr">
                <a:lnSpc>
                  <a:spcPts val="2905"/>
                </a:lnSpc>
                <a:spcBef>
                  <a:spcPct val="0"/>
                </a:spcBef>
              </a:pPr>
              <a:r>
                <a:rPr lang="en-US" b="true" sz="2075">
                  <a:solidFill>
                    <a:srgbClr val="FFFFFF"/>
                  </a:solidFill>
                  <a:latin typeface="Noto Serif Ethiopic Condensed Bold"/>
                  <a:ea typeface="Noto Serif Ethiopic Condensed Bold"/>
                  <a:cs typeface="Noto Serif Ethiopic Condensed Bold"/>
                  <a:sym typeface="Noto Serif Ethiopic Condensed Bold"/>
                </a:rPr>
                <a:t>Impact on HelpEra Design</a:t>
              </a:r>
            </a:p>
            <a:p>
              <a:pPr algn="ctr">
                <a:lnSpc>
                  <a:spcPts val="2399"/>
                </a:lnSpc>
                <a:spcBef>
                  <a:spcPct val="0"/>
                </a:spcBef>
              </a:pPr>
            </a:p>
          </p:txBody>
        </p:sp>
        <p:sp>
          <p:nvSpPr>
            <p:cNvPr name="TextBox 44" id="44"/>
            <p:cNvSpPr txBox="true"/>
            <p:nvPr/>
          </p:nvSpPr>
          <p:spPr>
            <a:xfrm rot="0">
              <a:off x="378414" y="2637092"/>
              <a:ext cx="5098235" cy="1164100"/>
            </a:xfrm>
            <a:prstGeom prst="rect">
              <a:avLst/>
            </a:prstGeom>
          </p:spPr>
          <p:txBody>
            <a:bodyPr anchor="t" rtlCol="false" tIns="0" lIns="0" bIns="0" rIns="0">
              <a:spAutoFit/>
            </a:bodyPr>
            <a:lstStyle/>
            <a:p>
              <a:pPr algn="ctr">
                <a:lnSpc>
                  <a:spcPts val="2399"/>
                </a:lnSpc>
                <a:spcBef>
                  <a:spcPct val="0"/>
                </a:spcBef>
              </a:pPr>
              <a:r>
                <a:rPr lang="en-US" sz="1714">
                  <a:solidFill>
                    <a:srgbClr val="FFFFFF"/>
                  </a:solidFill>
                  <a:latin typeface="Noto Serif Ethiopic Condensed"/>
                  <a:ea typeface="Noto Serif Ethiopic Condensed"/>
                  <a:cs typeface="Noto Serif Ethiopic Condensed"/>
                  <a:sym typeface="Noto Serif Ethiopic Condensed"/>
                </a:rPr>
                <a:t>Findings directly informed HelpEra's UX</a:t>
              </a:r>
            </a:p>
            <a:p>
              <a:pPr algn="ctr">
                <a:lnSpc>
                  <a:spcPts val="2399"/>
                </a:lnSpc>
                <a:spcBef>
                  <a:spcPct val="0"/>
                </a:spcBef>
              </a:pPr>
              <a:r>
                <a:rPr lang="en-US" sz="1714">
                  <a:solidFill>
                    <a:srgbClr val="FFFFFF"/>
                  </a:solidFill>
                  <a:latin typeface="Noto Serif Ethiopic Condensed"/>
                  <a:ea typeface="Noto Serif Ethiopic Condensed"/>
                  <a:cs typeface="Noto Serif Ethiopic Condensed"/>
                  <a:sym typeface="Noto Serif Ethiopic Condensed"/>
                </a:rPr>
                <a:t>strategy, focusing on trust, structured</a:t>
              </a:r>
            </a:p>
            <a:p>
              <a:pPr algn="ctr">
                <a:lnSpc>
                  <a:spcPts val="2399"/>
                </a:lnSpc>
                <a:spcBef>
                  <a:spcPct val="0"/>
                </a:spcBef>
              </a:pPr>
              <a:r>
                <a:rPr lang="en-US" sz="1714">
                  <a:solidFill>
                    <a:srgbClr val="FFFFFF"/>
                  </a:solidFill>
                  <a:latin typeface="Noto Serif Ethiopic Condensed"/>
                  <a:ea typeface="Noto Serif Ethiopic Condensed"/>
                  <a:cs typeface="Noto Serif Ethiopic Condensed"/>
                  <a:sym typeface="Noto Serif Ethiopic Condensed"/>
                </a:rPr>
                <a:t>support, and reduced overlaod .</a:t>
              </a:r>
            </a:p>
          </p:txBody>
        </p:sp>
      </p:grpSp>
      <p:sp>
        <p:nvSpPr>
          <p:cNvPr name="TextBox 45" id="45"/>
          <p:cNvSpPr txBox="true"/>
          <p:nvPr/>
        </p:nvSpPr>
        <p:spPr>
          <a:xfrm rot="0">
            <a:off x="869004" y="539121"/>
            <a:ext cx="5619330" cy="317502"/>
          </a:xfrm>
          <a:prstGeom prst="rect">
            <a:avLst/>
          </a:prstGeom>
        </p:spPr>
        <p:txBody>
          <a:bodyPr anchor="t" rtlCol="false" tIns="0" lIns="0" bIns="0" rIns="0">
            <a:spAutoFit/>
          </a:bodyPr>
          <a:lstStyle/>
          <a:p>
            <a:pPr algn="l">
              <a:lnSpc>
                <a:spcPts val="2375"/>
              </a:lnSpc>
            </a:pPr>
            <a:r>
              <a:rPr lang="en-US" sz="2500">
                <a:solidFill>
                  <a:srgbClr val="F1D0C7"/>
                </a:solidFill>
                <a:latin typeface="Noto Serif Ethiopic Condensed"/>
                <a:ea typeface="Noto Serif Ethiopic Condensed"/>
                <a:cs typeface="Noto Serif Ethiopic Condensed"/>
                <a:sym typeface="Noto Serif Ethiopic Condensed"/>
              </a:rPr>
              <a:t>Human Computer Interface ICTE 3002</a:t>
            </a:r>
          </a:p>
        </p:txBody>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TextBox 2" id="2"/>
          <p:cNvSpPr txBox="true"/>
          <p:nvPr/>
        </p:nvSpPr>
        <p:spPr>
          <a:xfrm rot="0">
            <a:off x="2526714" y="1345355"/>
            <a:ext cx="13234572" cy="923622"/>
          </a:xfrm>
          <a:prstGeom prst="rect">
            <a:avLst/>
          </a:prstGeom>
        </p:spPr>
        <p:txBody>
          <a:bodyPr anchor="t" rtlCol="false" tIns="0" lIns="0" bIns="0" rIns="0">
            <a:spAutoFit/>
          </a:bodyPr>
          <a:lstStyle/>
          <a:p>
            <a:pPr algn="ctr">
              <a:lnSpc>
                <a:spcPts val="6830"/>
              </a:lnSpc>
            </a:pPr>
            <a:r>
              <a:rPr lang="en-US" b="true" sz="7190">
                <a:solidFill>
                  <a:srgbClr val="F0CFC7"/>
                </a:solidFill>
                <a:latin typeface="Noto Serif Ethiopic Condensed Bold"/>
                <a:ea typeface="Noto Serif Ethiopic Condensed Bold"/>
                <a:cs typeface="Noto Serif Ethiopic Condensed Bold"/>
                <a:sym typeface="Noto Serif Ethiopic Condensed Bold"/>
              </a:rPr>
              <a:t>COMPETITOR ANALYSIS: 7 CUPS </a:t>
            </a:r>
          </a:p>
        </p:txBody>
      </p:sp>
      <p:sp>
        <p:nvSpPr>
          <p:cNvPr name="TextBox 3" id="3"/>
          <p:cNvSpPr txBox="true"/>
          <p:nvPr/>
        </p:nvSpPr>
        <p:spPr>
          <a:xfrm rot="0">
            <a:off x="12597954" y="3222577"/>
            <a:ext cx="5061193" cy="1091526"/>
          </a:xfrm>
          <a:prstGeom prst="rect">
            <a:avLst/>
          </a:prstGeom>
        </p:spPr>
        <p:txBody>
          <a:bodyPr anchor="t" rtlCol="false" tIns="0" lIns="0" bIns="0" rIns="0">
            <a:spAutoFit/>
          </a:bodyPr>
          <a:lstStyle/>
          <a:p>
            <a:pPr algn="ctr">
              <a:lnSpc>
                <a:spcPts val="4412"/>
              </a:lnSpc>
            </a:pPr>
            <a:r>
              <a:rPr lang="en-US" sz="3151">
                <a:solidFill>
                  <a:srgbClr val="FFFFFF"/>
                </a:solidFill>
                <a:latin typeface="Noto Serif Ethiopic Condensed"/>
                <a:ea typeface="Noto Serif Ethiopic Condensed"/>
                <a:cs typeface="Noto Serif Ethiopic Condensed"/>
                <a:sym typeface="Noto Serif Ethiopic Condensed"/>
              </a:rPr>
              <a:t>Strengths, limitations, and UX implications.</a:t>
            </a:r>
          </a:p>
        </p:txBody>
      </p:sp>
      <p:grpSp>
        <p:nvGrpSpPr>
          <p:cNvPr name="Group 4" id="4"/>
          <p:cNvGrpSpPr/>
          <p:nvPr/>
        </p:nvGrpSpPr>
        <p:grpSpPr>
          <a:xfrm rot="0">
            <a:off x="1366545" y="2554727"/>
            <a:ext cx="10365387" cy="6645875"/>
            <a:chOff x="0" y="0"/>
            <a:chExt cx="2820511" cy="1808400"/>
          </a:xfrm>
        </p:grpSpPr>
        <p:sp>
          <p:nvSpPr>
            <p:cNvPr name="Freeform 5" id="5"/>
            <p:cNvSpPr/>
            <p:nvPr/>
          </p:nvSpPr>
          <p:spPr>
            <a:xfrm flipH="false" flipV="false" rot="0">
              <a:off x="0" y="0"/>
              <a:ext cx="2820511" cy="1808400"/>
            </a:xfrm>
            <a:custGeom>
              <a:avLst/>
              <a:gdLst/>
              <a:ahLst/>
              <a:cxnLst/>
              <a:rect r="r" b="b" t="t" l="l"/>
              <a:pathLst>
                <a:path h="1808400" w="2820511">
                  <a:moveTo>
                    <a:pt x="18673" y="0"/>
                  </a:moveTo>
                  <a:lnTo>
                    <a:pt x="2801838" y="0"/>
                  </a:lnTo>
                  <a:cubicBezTo>
                    <a:pt x="2806790" y="0"/>
                    <a:pt x="2811540" y="1967"/>
                    <a:pt x="2815042" y="5469"/>
                  </a:cubicBezTo>
                  <a:cubicBezTo>
                    <a:pt x="2818543" y="8971"/>
                    <a:pt x="2820511" y="13720"/>
                    <a:pt x="2820511" y="18673"/>
                  </a:cubicBezTo>
                  <a:lnTo>
                    <a:pt x="2820511" y="1789727"/>
                  </a:lnTo>
                  <a:cubicBezTo>
                    <a:pt x="2820511" y="1794679"/>
                    <a:pt x="2818543" y="1799429"/>
                    <a:pt x="2815042" y="1802931"/>
                  </a:cubicBezTo>
                  <a:cubicBezTo>
                    <a:pt x="2811540" y="1806432"/>
                    <a:pt x="2806790" y="1808400"/>
                    <a:pt x="2801838" y="1808400"/>
                  </a:cubicBezTo>
                  <a:lnTo>
                    <a:pt x="18673" y="1808400"/>
                  </a:lnTo>
                  <a:cubicBezTo>
                    <a:pt x="8360" y="1808400"/>
                    <a:pt x="0" y="1800040"/>
                    <a:pt x="0" y="1789727"/>
                  </a:cubicBezTo>
                  <a:lnTo>
                    <a:pt x="0" y="18673"/>
                  </a:lnTo>
                  <a:cubicBezTo>
                    <a:pt x="0" y="8360"/>
                    <a:pt x="8360" y="0"/>
                    <a:pt x="18673" y="0"/>
                  </a:cubicBezTo>
                  <a:close/>
                </a:path>
              </a:pathLst>
            </a:custGeom>
            <a:solidFill>
              <a:srgbClr val="FFFFFF">
                <a:alpha val="12941"/>
              </a:srgbClr>
            </a:solidFill>
            <a:ln w="38100" cap="rnd">
              <a:solidFill>
                <a:srgbClr val="FFFFFF">
                  <a:alpha val="12941"/>
                </a:srgbClr>
              </a:solidFill>
              <a:prstDash val="solid"/>
              <a:round/>
            </a:ln>
          </p:spPr>
        </p:sp>
        <p:sp>
          <p:nvSpPr>
            <p:cNvPr name="TextBox 6" id="6"/>
            <p:cNvSpPr txBox="true"/>
            <p:nvPr/>
          </p:nvSpPr>
          <p:spPr>
            <a:xfrm>
              <a:off x="0" y="-38100"/>
              <a:ext cx="2820511" cy="1846500"/>
            </a:xfrm>
            <a:prstGeom prst="rect">
              <a:avLst/>
            </a:prstGeom>
          </p:spPr>
          <p:txBody>
            <a:bodyPr anchor="ctr" rtlCol="false" tIns="49169" lIns="49169" bIns="49169" rIns="49169"/>
            <a:lstStyle/>
            <a:p>
              <a:pPr algn="ctr">
                <a:lnSpc>
                  <a:spcPts val="2659"/>
                </a:lnSpc>
              </a:pPr>
            </a:p>
          </p:txBody>
        </p:sp>
      </p:grpSp>
      <p:sp>
        <p:nvSpPr>
          <p:cNvPr name="Freeform 7" id="7"/>
          <p:cNvSpPr/>
          <p:nvPr/>
        </p:nvSpPr>
        <p:spPr>
          <a:xfrm flipH="true" flipV="false" rot="5755523">
            <a:off x="14856930" y="7956580"/>
            <a:ext cx="658945" cy="946265"/>
          </a:xfrm>
          <a:custGeom>
            <a:avLst/>
            <a:gdLst/>
            <a:ahLst/>
            <a:cxnLst/>
            <a:rect r="r" b="b" t="t" l="l"/>
            <a:pathLst>
              <a:path h="946265" w="658945">
                <a:moveTo>
                  <a:pt x="658944" y="0"/>
                </a:moveTo>
                <a:lnTo>
                  <a:pt x="0" y="0"/>
                </a:lnTo>
                <a:lnTo>
                  <a:pt x="0" y="946265"/>
                </a:lnTo>
                <a:lnTo>
                  <a:pt x="658944" y="946265"/>
                </a:lnTo>
                <a:lnTo>
                  <a:pt x="65894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true" flipV="false" rot="1609541">
            <a:off x="-374064" y="912491"/>
            <a:ext cx="1671074" cy="2993780"/>
          </a:xfrm>
          <a:custGeom>
            <a:avLst/>
            <a:gdLst/>
            <a:ahLst/>
            <a:cxnLst/>
            <a:rect r="r" b="b" t="t" l="l"/>
            <a:pathLst>
              <a:path h="2993780" w="1671074">
                <a:moveTo>
                  <a:pt x="1671074" y="0"/>
                </a:moveTo>
                <a:lnTo>
                  <a:pt x="0" y="0"/>
                </a:lnTo>
                <a:lnTo>
                  <a:pt x="0" y="2993780"/>
                </a:lnTo>
                <a:lnTo>
                  <a:pt x="1671074" y="2993780"/>
                </a:lnTo>
                <a:lnTo>
                  <a:pt x="167107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1864513">
            <a:off x="1459433" y="1300043"/>
            <a:ext cx="614995" cy="631058"/>
          </a:xfrm>
          <a:custGeom>
            <a:avLst/>
            <a:gdLst/>
            <a:ahLst/>
            <a:cxnLst/>
            <a:rect r="r" b="b" t="t" l="l"/>
            <a:pathLst>
              <a:path h="631058" w="614995">
                <a:moveTo>
                  <a:pt x="0" y="0"/>
                </a:moveTo>
                <a:lnTo>
                  <a:pt x="614994" y="0"/>
                </a:lnTo>
                <a:lnTo>
                  <a:pt x="614994" y="631058"/>
                </a:lnTo>
                <a:lnTo>
                  <a:pt x="0" y="6310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1698178">
            <a:off x="17232253" y="838614"/>
            <a:ext cx="1926440" cy="3451277"/>
          </a:xfrm>
          <a:custGeom>
            <a:avLst/>
            <a:gdLst/>
            <a:ahLst/>
            <a:cxnLst/>
            <a:rect r="r" b="b" t="t" l="l"/>
            <a:pathLst>
              <a:path h="3451277" w="1926440">
                <a:moveTo>
                  <a:pt x="0" y="0"/>
                </a:moveTo>
                <a:lnTo>
                  <a:pt x="1926440" y="0"/>
                </a:lnTo>
                <a:lnTo>
                  <a:pt x="1926440" y="3451277"/>
                </a:lnTo>
                <a:lnTo>
                  <a:pt x="0" y="34512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864513">
            <a:off x="16314676" y="1357193"/>
            <a:ext cx="614995" cy="631058"/>
          </a:xfrm>
          <a:custGeom>
            <a:avLst/>
            <a:gdLst/>
            <a:ahLst/>
            <a:cxnLst/>
            <a:rect r="r" b="b" t="t" l="l"/>
            <a:pathLst>
              <a:path h="631058" w="614995">
                <a:moveTo>
                  <a:pt x="0" y="0"/>
                </a:moveTo>
                <a:lnTo>
                  <a:pt x="614995" y="0"/>
                </a:lnTo>
                <a:lnTo>
                  <a:pt x="614995" y="631058"/>
                </a:lnTo>
                <a:lnTo>
                  <a:pt x="0" y="6310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4319171" y="9401175"/>
            <a:ext cx="3196764" cy="328217"/>
          </a:xfrm>
          <a:prstGeom prst="rect">
            <a:avLst/>
          </a:prstGeom>
        </p:spPr>
        <p:txBody>
          <a:bodyPr anchor="t" rtlCol="false" tIns="0" lIns="0" bIns="0" rIns="0">
            <a:spAutoFit/>
          </a:bodyPr>
          <a:lstStyle/>
          <a:p>
            <a:pPr algn="l">
              <a:lnSpc>
                <a:spcPts val="2410"/>
              </a:lnSpc>
            </a:pPr>
            <a:r>
              <a:rPr lang="en-US" sz="2537">
                <a:solidFill>
                  <a:srgbClr val="F0CFC7"/>
                </a:solidFill>
                <a:latin typeface="Noto Serif Ethiopic Condensed"/>
                <a:ea typeface="Noto Serif Ethiopic Condensed"/>
                <a:cs typeface="Noto Serif Ethiopic Condensed"/>
                <a:sym typeface="Noto Serif Ethiopic Condensed"/>
              </a:rPr>
              <a:t>Kekweditse Mogoba</a:t>
            </a:r>
          </a:p>
        </p:txBody>
      </p:sp>
      <p:sp>
        <p:nvSpPr>
          <p:cNvPr name="TextBox 13" id="13"/>
          <p:cNvSpPr txBox="true"/>
          <p:nvPr/>
        </p:nvSpPr>
        <p:spPr>
          <a:xfrm rot="0">
            <a:off x="1376290" y="2855508"/>
            <a:ext cx="9855624" cy="1153795"/>
          </a:xfrm>
          <a:prstGeom prst="rect">
            <a:avLst/>
          </a:prstGeom>
        </p:spPr>
        <p:txBody>
          <a:bodyPr anchor="t" rtlCol="false" tIns="0" lIns="0" bIns="0" rIns="0">
            <a:spAutoFit/>
          </a:bodyPr>
          <a:lstStyle/>
          <a:p>
            <a:pPr algn="l" marL="474978" indent="-237489" lvl="1">
              <a:lnSpc>
                <a:spcPts val="3079"/>
              </a:lnSpc>
              <a:buFont typeface="Arial"/>
              <a:buChar char="•"/>
            </a:pPr>
            <a:r>
              <a:rPr lang="en-US" b="true" sz="2199">
                <a:solidFill>
                  <a:srgbClr val="F0CFC7"/>
                </a:solidFill>
                <a:latin typeface="Noto Serif Ethiopic Condensed Bold"/>
                <a:ea typeface="Noto Serif Ethiopic Condensed Bold"/>
                <a:cs typeface="Noto Serif Ethiopic Condensed Bold"/>
                <a:sym typeface="Noto Serif Ethiopic Condensed Bold"/>
              </a:rPr>
              <a:t>Platform overview: </a:t>
            </a:r>
            <a:r>
              <a:rPr lang="en-US" sz="2199">
                <a:solidFill>
                  <a:srgbClr val="FFFFFF"/>
                </a:solidFill>
                <a:latin typeface="Noto Serif Ethiopic Condensed"/>
                <a:ea typeface="Noto Serif Ethiopic Condensed"/>
                <a:cs typeface="Noto Serif Ethiopic Condensed"/>
                <a:sym typeface="Noto Serif Ethiopic Condensed"/>
              </a:rPr>
              <a:t>7 Cups is a digital mental health service that allows people to get emotional support (through text or voice) anonymously from trained volunteers.</a:t>
            </a:r>
          </a:p>
        </p:txBody>
      </p:sp>
      <p:sp>
        <p:nvSpPr>
          <p:cNvPr name="TextBox 14" id="14"/>
          <p:cNvSpPr txBox="true"/>
          <p:nvPr/>
        </p:nvSpPr>
        <p:spPr>
          <a:xfrm rot="0">
            <a:off x="1363256" y="4247429"/>
            <a:ext cx="9868658" cy="763270"/>
          </a:xfrm>
          <a:prstGeom prst="rect">
            <a:avLst/>
          </a:prstGeom>
        </p:spPr>
        <p:txBody>
          <a:bodyPr anchor="t" rtlCol="false" tIns="0" lIns="0" bIns="0" rIns="0">
            <a:spAutoFit/>
          </a:bodyPr>
          <a:lstStyle/>
          <a:p>
            <a:pPr algn="l" marL="474978" indent="-237489" lvl="1">
              <a:lnSpc>
                <a:spcPts val="3079"/>
              </a:lnSpc>
              <a:buFont typeface="Arial"/>
              <a:buChar char="•"/>
            </a:pPr>
            <a:r>
              <a:rPr lang="en-US" b="true" sz="2199">
                <a:solidFill>
                  <a:srgbClr val="F0CFC7"/>
                </a:solidFill>
                <a:latin typeface="Noto Serif Ethiopic Condensed Bold"/>
                <a:ea typeface="Noto Serif Ethiopic Condensed Bold"/>
                <a:cs typeface="Noto Serif Ethiopic Condensed Bold"/>
                <a:sym typeface="Noto Serif Ethiopic Condensed Bold"/>
              </a:rPr>
              <a:t>Strengths:</a:t>
            </a:r>
            <a:r>
              <a:rPr lang="en-US" b="true" sz="2199">
                <a:solidFill>
                  <a:srgbClr val="FFFFFF"/>
                </a:solidFill>
                <a:latin typeface="Noto Serif Ethiopic Condensed Bold"/>
                <a:ea typeface="Noto Serif Ethiopic Condensed Bold"/>
                <a:cs typeface="Noto Serif Ethiopic Condensed Bold"/>
                <a:sym typeface="Noto Serif Ethiopic Condensed Bold"/>
              </a:rPr>
              <a:t> </a:t>
            </a:r>
            <a:r>
              <a:rPr lang="en-US" sz="2199">
                <a:solidFill>
                  <a:srgbClr val="FFFFFF"/>
                </a:solidFill>
                <a:latin typeface="Noto Serif Ethiopic Condensed"/>
                <a:ea typeface="Noto Serif Ethiopic Condensed"/>
                <a:cs typeface="Noto Serif Ethiopic Condensed"/>
                <a:sym typeface="Noto Serif Ethiopic Condensed"/>
              </a:rPr>
              <a:t>Their biggest strengths are that they provide immediate, 24/7 access to emotional support. </a:t>
            </a:r>
          </a:p>
        </p:txBody>
      </p:sp>
      <p:sp>
        <p:nvSpPr>
          <p:cNvPr name="TextBox 15" id="15"/>
          <p:cNvSpPr txBox="true"/>
          <p:nvPr/>
        </p:nvSpPr>
        <p:spPr>
          <a:xfrm rot="0">
            <a:off x="1366545" y="5263515"/>
            <a:ext cx="9673833" cy="763270"/>
          </a:xfrm>
          <a:prstGeom prst="rect">
            <a:avLst/>
          </a:prstGeom>
        </p:spPr>
        <p:txBody>
          <a:bodyPr anchor="t" rtlCol="false" tIns="0" lIns="0" bIns="0" rIns="0">
            <a:spAutoFit/>
          </a:bodyPr>
          <a:lstStyle/>
          <a:p>
            <a:pPr algn="l" marL="474978" indent="-237489" lvl="1">
              <a:lnSpc>
                <a:spcPts val="3079"/>
              </a:lnSpc>
              <a:buFont typeface="Arial"/>
              <a:buChar char="•"/>
            </a:pPr>
            <a:r>
              <a:rPr lang="en-US" b="true" sz="2199">
                <a:solidFill>
                  <a:srgbClr val="F0CFC7"/>
                </a:solidFill>
                <a:latin typeface="Noto Serif Ethiopic Condensed Bold"/>
                <a:ea typeface="Noto Serif Ethiopic Condensed Bold"/>
                <a:cs typeface="Noto Serif Ethiopic Condensed Bold"/>
                <a:sym typeface="Noto Serif Ethiopic Condensed Bold"/>
              </a:rPr>
              <a:t>UX Limitations</a:t>
            </a:r>
            <a:r>
              <a:rPr lang="en-US" b="true" sz="2199">
                <a:solidFill>
                  <a:srgbClr val="FFFFFF"/>
                </a:solidFill>
                <a:latin typeface="Noto Serif Ethiopic Condensed Bold"/>
                <a:ea typeface="Noto Serif Ethiopic Condensed Bold"/>
                <a:cs typeface="Noto Serif Ethiopic Condensed Bold"/>
                <a:sym typeface="Noto Serif Ethiopic Condensed Bold"/>
              </a:rPr>
              <a:t>: </a:t>
            </a:r>
            <a:r>
              <a:rPr lang="en-US" sz="2199">
                <a:solidFill>
                  <a:srgbClr val="FFFFFF"/>
                </a:solidFill>
                <a:latin typeface="Noto Serif Ethiopic Condensed"/>
                <a:ea typeface="Noto Serif Ethiopic Condensed"/>
                <a:cs typeface="Noto Serif Ethiopic Condensed"/>
                <a:sym typeface="Noto Serif Ethiopic Condensed"/>
              </a:rPr>
              <a:t>Their greatest limitations are inconsistent quality of support due to non-professional listeners and there is very little continuity of care.</a:t>
            </a:r>
          </a:p>
        </p:txBody>
      </p:sp>
      <p:sp>
        <p:nvSpPr>
          <p:cNvPr name="TextBox 16" id="16"/>
          <p:cNvSpPr txBox="true"/>
          <p:nvPr/>
        </p:nvSpPr>
        <p:spPr>
          <a:xfrm rot="0">
            <a:off x="1366545" y="6272256"/>
            <a:ext cx="9660799" cy="763270"/>
          </a:xfrm>
          <a:prstGeom prst="rect">
            <a:avLst/>
          </a:prstGeom>
        </p:spPr>
        <p:txBody>
          <a:bodyPr anchor="t" rtlCol="false" tIns="0" lIns="0" bIns="0" rIns="0">
            <a:spAutoFit/>
          </a:bodyPr>
          <a:lstStyle/>
          <a:p>
            <a:pPr algn="l" marL="474978" indent="-237489" lvl="1">
              <a:lnSpc>
                <a:spcPts val="3079"/>
              </a:lnSpc>
              <a:buFont typeface="Arial"/>
              <a:buChar char="•"/>
            </a:pPr>
            <a:r>
              <a:rPr lang="en-US" b="true" sz="2199">
                <a:solidFill>
                  <a:srgbClr val="F0CFC7"/>
                </a:solidFill>
                <a:latin typeface="Noto Serif Ethiopic Condensed Bold"/>
                <a:ea typeface="Noto Serif Ethiopic Condensed Bold"/>
                <a:cs typeface="Noto Serif Ethiopic Condensed Bold"/>
                <a:sym typeface="Noto Serif Ethiopic Condensed Bold"/>
              </a:rPr>
              <a:t>Safety and Trust Issues:</a:t>
            </a:r>
            <a:r>
              <a:rPr lang="en-US" b="true" sz="2199">
                <a:solidFill>
                  <a:srgbClr val="FFFFFF"/>
                </a:solidFill>
                <a:latin typeface="Noto Serif Ethiopic Condensed Bold"/>
                <a:ea typeface="Noto Serif Ethiopic Condensed Bold"/>
                <a:cs typeface="Noto Serif Ethiopic Condensed Bold"/>
                <a:sym typeface="Noto Serif Ethiopic Condensed Bold"/>
              </a:rPr>
              <a:t> </a:t>
            </a:r>
            <a:r>
              <a:rPr lang="en-US" sz="2199">
                <a:solidFill>
                  <a:srgbClr val="FFFFFF"/>
                </a:solidFill>
                <a:latin typeface="Noto Serif Ethiopic Condensed"/>
                <a:ea typeface="Noto Serif Ethiopic Condensed"/>
                <a:cs typeface="Noto Serif Ethiopic Condensed"/>
                <a:sym typeface="Noto Serif Ethiopic Condensed"/>
              </a:rPr>
              <a:t>They have very low safety mechanisms (including background checking of the listeners) and thus represent a potential risk.</a:t>
            </a:r>
          </a:p>
        </p:txBody>
      </p:sp>
      <p:sp>
        <p:nvSpPr>
          <p:cNvPr name="TextBox 17" id="17"/>
          <p:cNvSpPr txBox="true"/>
          <p:nvPr/>
        </p:nvSpPr>
        <p:spPr>
          <a:xfrm rot="0">
            <a:off x="1340697" y="7321277"/>
            <a:ext cx="9673833" cy="1544320"/>
          </a:xfrm>
          <a:prstGeom prst="rect">
            <a:avLst/>
          </a:prstGeom>
        </p:spPr>
        <p:txBody>
          <a:bodyPr anchor="t" rtlCol="false" tIns="0" lIns="0" bIns="0" rIns="0">
            <a:spAutoFit/>
          </a:bodyPr>
          <a:lstStyle/>
          <a:p>
            <a:pPr algn="l" marL="474978" indent="-237489" lvl="1">
              <a:lnSpc>
                <a:spcPts val="3079"/>
              </a:lnSpc>
              <a:buFont typeface="Arial"/>
              <a:buChar char="•"/>
            </a:pPr>
            <a:r>
              <a:rPr lang="en-US" b="true" sz="2199">
                <a:solidFill>
                  <a:srgbClr val="F0CFC7"/>
                </a:solidFill>
                <a:latin typeface="Noto Serif Ethiopic Condensed Bold"/>
                <a:ea typeface="Noto Serif Ethiopic Condensed Bold"/>
                <a:cs typeface="Noto Serif Ethiopic Condensed Bold"/>
                <a:sym typeface="Noto Serif Ethiopic Condensed Bold"/>
              </a:rPr>
              <a:t>Design implications for HelpEra:</a:t>
            </a:r>
            <a:r>
              <a:rPr lang="en-US" sz="2199">
                <a:solidFill>
                  <a:srgbClr val="FFFFFF"/>
                </a:solidFill>
                <a:latin typeface="Noto Serif Ethiopic Condensed"/>
                <a:ea typeface="Noto Serif Ethiopic Condensed"/>
                <a:cs typeface="Noto Serif Ethiopic Condensed"/>
                <a:sym typeface="Noto Serif Ethiopic Condensed"/>
              </a:rPr>
              <a:t> </a:t>
            </a:r>
            <a:r>
              <a:rPr lang="en-US" sz="2199">
                <a:solidFill>
                  <a:srgbClr val="FFFFFF"/>
                </a:solidFill>
                <a:latin typeface="Noto Serif Ethiopic Condensed"/>
                <a:ea typeface="Noto Serif Ethiopic Condensed"/>
                <a:cs typeface="Noto Serif Ethiopic Condensed"/>
                <a:sym typeface="Noto Serif Ethiopic Condensed"/>
              </a:rPr>
              <a:t>HelpEra addresses these limitations by using verified professionals, providing well-defined support templates, allowing users to receive alerts if they feel unsafe, and allowing users to create continuity of care through an encrypted tracking of the users' journey.</a:t>
            </a:r>
          </a:p>
        </p:txBody>
      </p:sp>
      <p:sp>
        <p:nvSpPr>
          <p:cNvPr name="TextBox 18" id="18"/>
          <p:cNvSpPr txBox="true"/>
          <p:nvPr/>
        </p:nvSpPr>
        <p:spPr>
          <a:xfrm rot="0">
            <a:off x="1376290" y="645364"/>
            <a:ext cx="5398536" cy="317502"/>
          </a:xfrm>
          <a:prstGeom prst="rect">
            <a:avLst/>
          </a:prstGeom>
        </p:spPr>
        <p:txBody>
          <a:bodyPr anchor="t" rtlCol="false" tIns="0" lIns="0" bIns="0" rIns="0">
            <a:spAutoFit/>
          </a:bodyPr>
          <a:lstStyle/>
          <a:p>
            <a:pPr algn="l">
              <a:lnSpc>
                <a:spcPts val="2375"/>
              </a:lnSpc>
            </a:pPr>
            <a:r>
              <a:rPr lang="en-US" sz="2500">
                <a:solidFill>
                  <a:srgbClr val="F0CFC7"/>
                </a:solidFill>
                <a:latin typeface="Noto Serif Ethiopic Condensed"/>
                <a:ea typeface="Noto Serif Ethiopic Condensed"/>
                <a:cs typeface="Noto Serif Ethiopic Condensed"/>
                <a:sym typeface="Noto Serif Ethiopic Condensed"/>
              </a:rPr>
              <a:t>Human Computer Interface ICTE 3002</a:t>
            </a:r>
          </a:p>
        </p:txBody>
      </p:sp>
      <p:sp>
        <p:nvSpPr>
          <p:cNvPr name="Freeform 19" id="19"/>
          <p:cNvSpPr/>
          <p:nvPr/>
        </p:nvSpPr>
        <p:spPr>
          <a:xfrm flipH="false" flipV="false" rot="0">
            <a:off x="12093337" y="4530766"/>
            <a:ext cx="5784003" cy="3202063"/>
          </a:xfrm>
          <a:custGeom>
            <a:avLst/>
            <a:gdLst/>
            <a:ahLst/>
            <a:cxnLst/>
            <a:rect r="r" b="b" t="t" l="l"/>
            <a:pathLst>
              <a:path h="3202063" w="5784003">
                <a:moveTo>
                  <a:pt x="0" y="0"/>
                </a:moveTo>
                <a:lnTo>
                  <a:pt x="5784003" y="0"/>
                </a:lnTo>
                <a:lnTo>
                  <a:pt x="5784003" y="3202063"/>
                </a:lnTo>
                <a:lnTo>
                  <a:pt x="0" y="3202063"/>
                </a:lnTo>
                <a:lnTo>
                  <a:pt x="0" y="0"/>
                </a:lnTo>
                <a:close/>
              </a:path>
            </a:pathLst>
          </a:custGeom>
          <a:blipFill>
            <a:blip r:embed="rId8"/>
            <a:stretch>
              <a:fillRect l="-7538" t="-397" r="-9782" b="0"/>
            </a:stretch>
          </a:blipFill>
        </p:spPr>
      </p:sp>
      <p:sp>
        <p:nvSpPr>
          <p:cNvPr name="Freeform 20" id="20"/>
          <p:cNvSpPr/>
          <p:nvPr/>
        </p:nvSpPr>
        <p:spPr>
          <a:xfrm flipH="false" flipV="false" rot="0">
            <a:off x="3295683" y="9438728"/>
            <a:ext cx="515578" cy="515578"/>
          </a:xfrm>
          <a:custGeom>
            <a:avLst/>
            <a:gdLst/>
            <a:ahLst/>
            <a:cxnLst/>
            <a:rect r="r" b="b" t="t" l="l"/>
            <a:pathLst>
              <a:path h="515578" w="515578">
                <a:moveTo>
                  <a:pt x="0" y="0"/>
                </a:moveTo>
                <a:lnTo>
                  <a:pt x="515577" y="0"/>
                </a:lnTo>
                <a:lnTo>
                  <a:pt x="515577" y="515577"/>
                </a:lnTo>
                <a:lnTo>
                  <a:pt x="0" y="5155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1" id="21"/>
          <p:cNvSpPr/>
          <p:nvPr/>
        </p:nvSpPr>
        <p:spPr>
          <a:xfrm flipH="false" flipV="false" rot="0">
            <a:off x="13184436" y="320900"/>
            <a:ext cx="515578" cy="515578"/>
          </a:xfrm>
          <a:custGeom>
            <a:avLst/>
            <a:gdLst/>
            <a:ahLst/>
            <a:cxnLst/>
            <a:rect r="r" b="b" t="t" l="l"/>
            <a:pathLst>
              <a:path h="515578" w="515578">
                <a:moveTo>
                  <a:pt x="0" y="0"/>
                </a:moveTo>
                <a:lnTo>
                  <a:pt x="515578" y="0"/>
                </a:lnTo>
                <a:lnTo>
                  <a:pt x="515578" y="515577"/>
                </a:lnTo>
                <a:lnTo>
                  <a:pt x="0" y="5155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grpSp>
        <p:nvGrpSpPr>
          <p:cNvPr name="Group 2" id="2"/>
          <p:cNvGrpSpPr/>
          <p:nvPr/>
        </p:nvGrpSpPr>
        <p:grpSpPr>
          <a:xfrm rot="0">
            <a:off x="1647220" y="2666159"/>
            <a:ext cx="10626652" cy="6609208"/>
            <a:chOff x="0" y="0"/>
            <a:chExt cx="2891603" cy="1798422"/>
          </a:xfrm>
        </p:grpSpPr>
        <p:sp>
          <p:nvSpPr>
            <p:cNvPr name="Freeform 3" id="3"/>
            <p:cNvSpPr/>
            <p:nvPr/>
          </p:nvSpPr>
          <p:spPr>
            <a:xfrm flipH="false" flipV="false" rot="0">
              <a:off x="0" y="0"/>
              <a:ext cx="2891603" cy="1798422"/>
            </a:xfrm>
            <a:custGeom>
              <a:avLst/>
              <a:gdLst/>
              <a:ahLst/>
              <a:cxnLst/>
              <a:rect r="r" b="b" t="t" l="l"/>
              <a:pathLst>
                <a:path h="1798422" w="2891603">
                  <a:moveTo>
                    <a:pt x="18213" y="0"/>
                  </a:moveTo>
                  <a:lnTo>
                    <a:pt x="2873390" y="0"/>
                  </a:lnTo>
                  <a:cubicBezTo>
                    <a:pt x="2878220" y="0"/>
                    <a:pt x="2882853" y="1919"/>
                    <a:pt x="2886269" y="5335"/>
                  </a:cubicBezTo>
                  <a:cubicBezTo>
                    <a:pt x="2889684" y="8750"/>
                    <a:pt x="2891603" y="13383"/>
                    <a:pt x="2891603" y="18213"/>
                  </a:cubicBezTo>
                  <a:lnTo>
                    <a:pt x="2891603" y="1780209"/>
                  </a:lnTo>
                  <a:cubicBezTo>
                    <a:pt x="2891603" y="1785039"/>
                    <a:pt x="2889684" y="1789672"/>
                    <a:pt x="2886269" y="1793087"/>
                  </a:cubicBezTo>
                  <a:cubicBezTo>
                    <a:pt x="2882853" y="1796503"/>
                    <a:pt x="2878220" y="1798422"/>
                    <a:pt x="2873390" y="1798422"/>
                  </a:cubicBezTo>
                  <a:lnTo>
                    <a:pt x="18213" y="1798422"/>
                  </a:lnTo>
                  <a:cubicBezTo>
                    <a:pt x="13383" y="1798422"/>
                    <a:pt x="8750" y="1796503"/>
                    <a:pt x="5335" y="1793087"/>
                  </a:cubicBezTo>
                  <a:cubicBezTo>
                    <a:pt x="1919" y="1789672"/>
                    <a:pt x="0" y="1785039"/>
                    <a:pt x="0" y="1780209"/>
                  </a:cubicBezTo>
                  <a:lnTo>
                    <a:pt x="0" y="18213"/>
                  </a:lnTo>
                  <a:cubicBezTo>
                    <a:pt x="0" y="13383"/>
                    <a:pt x="1919" y="8750"/>
                    <a:pt x="5335" y="5335"/>
                  </a:cubicBezTo>
                  <a:cubicBezTo>
                    <a:pt x="8750" y="1919"/>
                    <a:pt x="13383" y="0"/>
                    <a:pt x="18213" y="0"/>
                  </a:cubicBezTo>
                  <a:close/>
                </a:path>
              </a:pathLst>
            </a:custGeom>
            <a:solidFill>
              <a:srgbClr val="FFFFFF">
                <a:alpha val="12941"/>
              </a:srgbClr>
            </a:solidFill>
            <a:ln w="38100" cap="rnd">
              <a:solidFill>
                <a:srgbClr val="FFFFFF">
                  <a:alpha val="12941"/>
                </a:srgbClr>
              </a:solidFill>
              <a:prstDash val="solid"/>
              <a:round/>
            </a:ln>
          </p:spPr>
        </p:sp>
        <p:sp>
          <p:nvSpPr>
            <p:cNvPr name="TextBox 4" id="4"/>
            <p:cNvSpPr txBox="true"/>
            <p:nvPr/>
          </p:nvSpPr>
          <p:spPr>
            <a:xfrm>
              <a:off x="0" y="-38100"/>
              <a:ext cx="2891603" cy="1836522"/>
            </a:xfrm>
            <a:prstGeom prst="rect">
              <a:avLst/>
            </a:prstGeom>
          </p:spPr>
          <p:txBody>
            <a:bodyPr anchor="ctr" rtlCol="false" tIns="49169" lIns="49169" bIns="49169" rIns="49169"/>
            <a:lstStyle/>
            <a:p>
              <a:pPr algn="ctr">
                <a:lnSpc>
                  <a:spcPts val="2659"/>
                </a:lnSpc>
              </a:pPr>
            </a:p>
          </p:txBody>
        </p:sp>
      </p:grpSp>
      <p:sp>
        <p:nvSpPr>
          <p:cNvPr name="TextBox 5" id="5"/>
          <p:cNvSpPr txBox="true"/>
          <p:nvPr/>
        </p:nvSpPr>
        <p:spPr>
          <a:xfrm rot="0">
            <a:off x="1443394" y="1395927"/>
            <a:ext cx="15815906" cy="999820"/>
          </a:xfrm>
          <a:prstGeom prst="rect">
            <a:avLst/>
          </a:prstGeom>
        </p:spPr>
        <p:txBody>
          <a:bodyPr anchor="t" rtlCol="false" tIns="0" lIns="0" bIns="0" rIns="0">
            <a:spAutoFit/>
          </a:bodyPr>
          <a:lstStyle/>
          <a:p>
            <a:pPr algn="ctr">
              <a:lnSpc>
                <a:spcPts val="7400"/>
              </a:lnSpc>
            </a:pPr>
            <a:r>
              <a:rPr lang="en-US" b="true" sz="7790">
                <a:solidFill>
                  <a:srgbClr val="F0CFC7"/>
                </a:solidFill>
                <a:latin typeface="Noto Serif Ethiopic Condensed Bold"/>
                <a:ea typeface="Noto Serif Ethiopic Condensed Bold"/>
                <a:cs typeface="Noto Serif Ethiopic Condensed Bold"/>
                <a:sym typeface="Noto Serif Ethiopic Condensed Bold"/>
              </a:rPr>
              <a:t>COMPETITOR ANALYSIS: TALKLIFE</a:t>
            </a:r>
          </a:p>
        </p:txBody>
      </p:sp>
      <p:sp>
        <p:nvSpPr>
          <p:cNvPr name="TextBox 6" id="6"/>
          <p:cNvSpPr txBox="true"/>
          <p:nvPr/>
        </p:nvSpPr>
        <p:spPr>
          <a:xfrm rot="0">
            <a:off x="12653303" y="3836773"/>
            <a:ext cx="4843802" cy="1091526"/>
          </a:xfrm>
          <a:prstGeom prst="rect">
            <a:avLst/>
          </a:prstGeom>
        </p:spPr>
        <p:txBody>
          <a:bodyPr anchor="t" rtlCol="false" tIns="0" lIns="0" bIns="0" rIns="0">
            <a:spAutoFit/>
          </a:bodyPr>
          <a:lstStyle/>
          <a:p>
            <a:pPr algn="ctr">
              <a:lnSpc>
                <a:spcPts val="4412"/>
              </a:lnSpc>
            </a:pPr>
            <a:r>
              <a:rPr lang="en-US" sz="3151">
                <a:solidFill>
                  <a:srgbClr val="FFFFFF"/>
                </a:solidFill>
                <a:latin typeface="Noto Serif Ethiopic Condensed"/>
                <a:ea typeface="Noto Serif Ethiopic Condensed"/>
                <a:cs typeface="Noto Serif Ethiopic Condensed"/>
                <a:sym typeface="Noto Serif Ethiopic Condensed"/>
              </a:rPr>
              <a:t>Strengths, Limitations, and UX Implications</a:t>
            </a:r>
          </a:p>
        </p:txBody>
      </p:sp>
      <p:sp>
        <p:nvSpPr>
          <p:cNvPr name="Freeform 7" id="7"/>
          <p:cNvSpPr/>
          <p:nvPr/>
        </p:nvSpPr>
        <p:spPr>
          <a:xfrm flipH="false" flipV="false" rot="0">
            <a:off x="12692488" y="5114925"/>
            <a:ext cx="4882987" cy="3160674"/>
          </a:xfrm>
          <a:custGeom>
            <a:avLst/>
            <a:gdLst/>
            <a:ahLst/>
            <a:cxnLst/>
            <a:rect r="r" b="b" t="t" l="l"/>
            <a:pathLst>
              <a:path h="3160674" w="4882987">
                <a:moveTo>
                  <a:pt x="0" y="0"/>
                </a:moveTo>
                <a:lnTo>
                  <a:pt x="4882987" y="0"/>
                </a:lnTo>
                <a:lnTo>
                  <a:pt x="4882987" y="3160674"/>
                </a:lnTo>
                <a:lnTo>
                  <a:pt x="0" y="3160674"/>
                </a:lnTo>
                <a:lnTo>
                  <a:pt x="0" y="0"/>
                </a:lnTo>
                <a:close/>
              </a:path>
            </a:pathLst>
          </a:custGeom>
          <a:blipFill>
            <a:blip r:embed="rId2"/>
            <a:stretch>
              <a:fillRect l="-1734" t="0" r="0" b="0"/>
            </a:stretch>
          </a:blipFill>
        </p:spPr>
      </p:sp>
      <p:sp>
        <p:nvSpPr>
          <p:cNvPr name="TextBox 8" id="8"/>
          <p:cNvSpPr txBox="true"/>
          <p:nvPr/>
        </p:nvSpPr>
        <p:spPr>
          <a:xfrm rot="0">
            <a:off x="14528895" y="9455977"/>
            <a:ext cx="2968210" cy="344092"/>
          </a:xfrm>
          <a:prstGeom prst="rect">
            <a:avLst/>
          </a:prstGeom>
        </p:spPr>
        <p:txBody>
          <a:bodyPr anchor="t" rtlCol="false" tIns="0" lIns="0" bIns="0" rIns="0">
            <a:spAutoFit/>
          </a:bodyPr>
          <a:lstStyle/>
          <a:p>
            <a:pPr algn="l">
              <a:lnSpc>
                <a:spcPts val="2600"/>
              </a:lnSpc>
            </a:pPr>
            <a:r>
              <a:rPr lang="en-US" sz="2737">
                <a:solidFill>
                  <a:srgbClr val="F1D0C7"/>
                </a:solidFill>
                <a:latin typeface="Noto Serif Ethiopic Condensed"/>
                <a:ea typeface="Noto Serif Ethiopic Condensed"/>
                <a:cs typeface="Noto Serif Ethiopic Condensed"/>
                <a:sym typeface="Noto Serif Ethiopic Condensed"/>
              </a:rPr>
              <a:t>Kekweditse Mogoba</a:t>
            </a:r>
          </a:p>
        </p:txBody>
      </p:sp>
      <p:sp>
        <p:nvSpPr>
          <p:cNvPr name="TextBox 9" id="9"/>
          <p:cNvSpPr txBox="true"/>
          <p:nvPr/>
        </p:nvSpPr>
        <p:spPr>
          <a:xfrm rot="0">
            <a:off x="1928287" y="2875439"/>
            <a:ext cx="9982793" cy="1153795"/>
          </a:xfrm>
          <a:prstGeom prst="rect">
            <a:avLst/>
          </a:prstGeom>
        </p:spPr>
        <p:txBody>
          <a:bodyPr anchor="t" rtlCol="false" tIns="0" lIns="0" bIns="0" rIns="0">
            <a:spAutoFit/>
          </a:bodyPr>
          <a:lstStyle/>
          <a:p>
            <a:pPr algn="l" marL="474978" indent="-237489" lvl="1">
              <a:lnSpc>
                <a:spcPts val="3079"/>
              </a:lnSpc>
              <a:buFont typeface="Arial"/>
              <a:buChar char="•"/>
            </a:pPr>
            <a:r>
              <a:rPr lang="en-US" b="true" sz="2199">
                <a:solidFill>
                  <a:srgbClr val="F0CFC7"/>
                </a:solidFill>
                <a:latin typeface="Noto Serif Ethiopic Condensed Bold"/>
                <a:ea typeface="Noto Serif Ethiopic Condensed Bold"/>
                <a:cs typeface="Noto Serif Ethiopic Condensed Bold"/>
                <a:sym typeface="Noto Serif Ethiopic Condensed Bold"/>
              </a:rPr>
              <a:t>Platform overview:</a:t>
            </a:r>
            <a:r>
              <a:rPr lang="en-US" sz="2199">
                <a:solidFill>
                  <a:srgbClr val="FFFFFF"/>
                </a:solidFill>
                <a:latin typeface="Noto Serif Ethiopic Condensed"/>
                <a:ea typeface="Noto Serif Ethiopic Condensed"/>
                <a:cs typeface="Noto Serif Ethiopic Condensed"/>
                <a:sym typeface="Noto Serif Ethiopic Condensed"/>
              </a:rPr>
              <a:t> TalkLife is a global peer-support platform that allows users to connect through community posts and discuss their experiences, feelings, and challenges.</a:t>
            </a:r>
          </a:p>
        </p:txBody>
      </p:sp>
      <p:sp>
        <p:nvSpPr>
          <p:cNvPr name="TextBox 10" id="10"/>
          <p:cNvSpPr txBox="true"/>
          <p:nvPr/>
        </p:nvSpPr>
        <p:spPr>
          <a:xfrm rot="0">
            <a:off x="1928287" y="4204605"/>
            <a:ext cx="10012900" cy="1153795"/>
          </a:xfrm>
          <a:prstGeom prst="rect">
            <a:avLst/>
          </a:prstGeom>
        </p:spPr>
        <p:txBody>
          <a:bodyPr anchor="t" rtlCol="false" tIns="0" lIns="0" bIns="0" rIns="0">
            <a:spAutoFit/>
          </a:bodyPr>
          <a:lstStyle/>
          <a:p>
            <a:pPr algn="l" marL="474978" indent="-237489" lvl="1">
              <a:lnSpc>
                <a:spcPts val="3079"/>
              </a:lnSpc>
              <a:buFont typeface="Arial"/>
              <a:buChar char="•"/>
            </a:pPr>
            <a:r>
              <a:rPr lang="en-US" b="true" sz="2199">
                <a:solidFill>
                  <a:srgbClr val="F0CFC7"/>
                </a:solidFill>
                <a:latin typeface="Noto Serif Ethiopic Condensed Bold"/>
                <a:ea typeface="Noto Serif Ethiopic Condensed Bold"/>
                <a:cs typeface="Noto Serif Ethiopic Condensed Bold"/>
                <a:sym typeface="Noto Serif Ethiopic Condensed Bold"/>
              </a:rPr>
              <a:t>Strengths</a:t>
            </a:r>
            <a:r>
              <a:rPr lang="en-US" b="true" sz="2199">
                <a:solidFill>
                  <a:srgbClr val="FFFFFF"/>
                </a:solidFill>
                <a:latin typeface="Noto Serif Ethiopic Condensed Bold"/>
                <a:ea typeface="Noto Serif Ethiopic Condensed Bold"/>
                <a:cs typeface="Noto Serif Ethiopic Condensed Bold"/>
                <a:sym typeface="Noto Serif Ethiopic Condensed Bold"/>
              </a:rPr>
              <a:t>: </a:t>
            </a:r>
            <a:r>
              <a:rPr lang="en-US" sz="2199">
                <a:solidFill>
                  <a:srgbClr val="FFFFFF"/>
                </a:solidFill>
                <a:latin typeface="Noto Serif Ethiopic Condensed"/>
                <a:ea typeface="Noto Serif Ethiopic Condensed"/>
                <a:cs typeface="Noto Serif Ethiopic Condensed"/>
                <a:sym typeface="Noto Serif Ethiopic Condensed"/>
              </a:rPr>
              <a:t>This is an engaging platform, with real-time interaction between community members, solid AI moderation, helpful and transparent reporting systems.</a:t>
            </a:r>
          </a:p>
        </p:txBody>
      </p:sp>
      <p:sp>
        <p:nvSpPr>
          <p:cNvPr name="TextBox 11" id="11"/>
          <p:cNvSpPr txBox="true"/>
          <p:nvPr/>
        </p:nvSpPr>
        <p:spPr>
          <a:xfrm rot="0">
            <a:off x="1913234" y="5529851"/>
            <a:ext cx="10012900" cy="763270"/>
          </a:xfrm>
          <a:prstGeom prst="rect">
            <a:avLst/>
          </a:prstGeom>
        </p:spPr>
        <p:txBody>
          <a:bodyPr anchor="t" rtlCol="false" tIns="0" lIns="0" bIns="0" rIns="0">
            <a:spAutoFit/>
          </a:bodyPr>
          <a:lstStyle/>
          <a:p>
            <a:pPr algn="l" marL="474978" indent="-237489" lvl="1">
              <a:lnSpc>
                <a:spcPts val="3079"/>
              </a:lnSpc>
              <a:buFont typeface="Arial"/>
              <a:buChar char="•"/>
            </a:pPr>
            <a:r>
              <a:rPr lang="en-US" b="true" sz="2199">
                <a:solidFill>
                  <a:srgbClr val="F0CFC7"/>
                </a:solidFill>
                <a:latin typeface="Noto Serif Ethiopic Condensed Bold"/>
                <a:ea typeface="Noto Serif Ethiopic Condensed Bold"/>
                <a:cs typeface="Noto Serif Ethiopic Condensed Bold"/>
                <a:sym typeface="Noto Serif Ethiopic Condensed Bold"/>
              </a:rPr>
              <a:t>UX limitations:</a:t>
            </a:r>
            <a:r>
              <a:rPr lang="en-US" sz="2199">
                <a:solidFill>
                  <a:srgbClr val="FFFFFF"/>
                </a:solidFill>
                <a:latin typeface="Noto Serif Ethiopic Condensed"/>
                <a:ea typeface="Noto Serif Ethiopic Condensed"/>
                <a:cs typeface="Noto Serif Ethiopic Condensed"/>
                <a:sym typeface="Noto Serif Ethiopic Condensed"/>
              </a:rPr>
              <a:t> Content-dense feeds often overwhelm users and very few guiding actions (next steps) that can be taken as a result of posting their emotions.</a:t>
            </a:r>
          </a:p>
        </p:txBody>
      </p:sp>
      <p:sp>
        <p:nvSpPr>
          <p:cNvPr name="TextBox 12" id="12"/>
          <p:cNvSpPr txBox="true"/>
          <p:nvPr/>
        </p:nvSpPr>
        <p:spPr>
          <a:xfrm rot="0">
            <a:off x="1906153" y="6493146"/>
            <a:ext cx="10027062" cy="763270"/>
          </a:xfrm>
          <a:prstGeom prst="rect">
            <a:avLst/>
          </a:prstGeom>
        </p:spPr>
        <p:txBody>
          <a:bodyPr anchor="t" rtlCol="false" tIns="0" lIns="0" bIns="0" rIns="0">
            <a:spAutoFit/>
          </a:bodyPr>
          <a:lstStyle/>
          <a:p>
            <a:pPr algn="l" marL="474978" indent="-237489" lvl="1">
              <a:lnSpc>
                <a:spcPts val="3079"/>
              </a:lnSpc>
              <a:buFont typeface="Arial"/>
              <a:buChar char="•"/>
            </a:pPr>
            <a:r>
              <a:rPr lang="en-US" b="true" sz="2199">
                <a:solidFill>
                  <a:srgbClr val="F0CFC7"/>
                </a:solidFill>
                <a:latin typeface="Noto Serif Ethiopic Condensed Bold"/>
                <a:ea typeface="Noto Serif Ethiopic Condensed Bold"/>
                <a:cs typeface="Noto Serif Ethiopic Condensed Bold"/>
                <a:sym typeface="Noto Serif Ethiopic Condensed Bold"/>
              </a:rPr>
              <a:t>Unstructured Support: </a:t>
            </a:r>
            <a:r>
              <a:rPr lang="en-US" sz="2199">
                <a:solidFill>
                  <a:srgbClr val="FFFFFF"/>
                </a:solidFill>
                <a:latin typeface="Noto Serif Ethiopic Condensed"/>
                <a:ea typeface="Noto Serif Ethiopic Condensed"/>
                <a:cs typeface="Noto Serif Ethiopic Condensed"/>
                <a:sym typeface="Noto Serif Ethiopic Condensed"/>
              </a:rPr>
              <a:t> Little or no structure to how users can navigate support pathways and achieve the help they need.</a:t>
            </a:r>
          </a:p>
        </p:txBody>
      </p:sp>
      <p:sp>
        <p:nvSpPr>
          <p:cNvPr name="TextBox 13" id="13"/>
          <p:cNvSpPr txBox="true"/>
          <p:nvPr/>
        </p:nvSpPr>
        <p:spPr>
          <a:xfrm rot="0">
            <a:off x="1928287" y="7474142"/>
            <a:ext cx="10094130" cy="1544320"/>
          </a:xfrm>
          <a:prstGeom prst="rect">
            <a:avLst/>
          </a:prstGeom>
        </p:spPr>
        <p:txBody>
          <a:bodyPr anchor="t" rtlCol="false" tIns="0" lIns="0" bIns="0" rIns="0">
            <a:spAutoFit/>
          </a:bodyPr>
          <a:lstStyle/>
          <a:p>
            <a:pPr algn="l" marL="474978" indent="-237489" lvl="1">
              <a:lnSpc>
                <a:spcPts val="3079"/>
              </a:lnSpc>
              <a:buFont typeface="Arial"/>
              <a:buChar char="•"/>
            </a:pPr>
            <a:r>
              <a:rPr lang="en-US" b="true" sz="2199">
                <a:solidFill>
                  <a:srgbClr val="F0CFC7"/>
                </a:solidFill>
                <a:latin typeface="Noto Serif Ethiopic Condensed Bold"/>
                <a:ea typeface="Noto Serif Ethiopic Condensed Bold"/>
                <a:cs typeface="Noto Serif Ethiopic Condensed Bold"/>
                <a:sym typeface="Noto Serif Ethiopic Condensed Bold"/>
              </a:rPr>
              <a:t>Design implications for HelpEra</a:t>
            </a:r>
            <a:r>
              <a:rPr lang="en-US" b="true" sz="2199">
                <a:solidFill>
                  <a:srgbClr val="FFFFFF"/>
                </a:solidFill>
                <a:latin typeface="Noto Serif Ethiopic Condensed Bold"/>
                <a:ea typeface="Noto Serif Ethiopic Condensed Bold"/>
                <a:cs typeface="Noto Serif Ethiopic Condensed Bold"/>
                <a:sym typeface="Noto Serif Ethiopic Condensed Bold"/>
              </a:rPr>
              <a:t>: </a:t>
            </a:r>
            <a:r>
              <a:rPr lang="en-US" sz="2199">
                <a:solidFill>
                  <a:srgbClr val="FFFFFF"/>
                </a:solidFill>
                <a:latin typeface="Noto Serif Ethiopic Condensed"/>
                <a:ea typeface="Noto Serif Ethiopic Condensed"/>
                <a:cs typeface="Noto Serif Ethiopic Condensed"/>
                <a:sym typeface="Noto Serif Ethiopic Condensed"/>
              </a:rPr>
              <a:t>HelpEra will implement a structured pathway for users to receive help and support. This will be accomplished through the introduction of guided supports. This will help reduce the feeling of being overwhelmed and improve clarity.</a:t>
            </a:r>
          </a:p>
        </p:txBody>
      </p:sp>
      <p:sp>
        <p:nvSpPr>
          <p:cNvPr name="TextBox 14" id="14"/>
          <p:cNvSpPr txBox="true"/>
          <p:nvPr/>
        </p:nvSpPr>
        <p:spPr>
          <a:xfrm rot="0">
            <a:off x="1028700" y="627037"/>
            <a:ext cx="5535330" cy="317502"/>
          </a:xfrm>
          <a:prstGeom prst="rect">
            <a:avLst/>
          </a:prstGeom>
        </p:spPr>
        <p:txBody>
          <a:bodyPr anchor="t" rtlCol="false" tIns="0" lIns="0" bIns="0" rIns="0">
            <a:spAutoFit/>
          </a:bodyPr>
          <a:lstStyle/>
          <a:p>
            <a:pPr algn="l">
              <a:lnSpc>
                <a:spcPts val="2375"/>
              </a:lnSpc>
            </a:pPr>
            <a:r>
              <a:rPr lang="en-US" sz="2500">
                <a:solidFill>
                  <a:srgbClr val="F1D0C7"/>
                </a:solidFill>
                <a:latin typeface="Noto Serif Ethiopic Condensed"/>
                <a:ea typeface="Noto Serif Ethiopic Condensed"/>
                <a:cs typeface="Noto Serif Ethiopic Condensed"/>
                <a:sym typeface="Noto Serif Ethiopic Condensed"/>
              </a:rPr>
              <a:t>Human Computer Interface ICTE 3002</a:t>
            </a:r>
          </a:p>
        </p:txBody>
      </p:sp>
      <p:sp>
        <p:nvSpPr>
          <p:cNvPr name="Freeform 15" id="15"/>
          <p:cNvSpPr/>
          <p:nvPr/>
        </p:nvSpPr>
        <p:spPr>
          <a:xfrm flipH="false" flipV="false" rot="3583091">
            <a:off x="-1023579" y="6422054"/>
            <a:ext cx="2047158" cy="3667547"/>
          </a:xfrm>
          <a:custGeom>
            <a:avLst/>
            <a:gdLst/>
            <a:ahLst/>
            <a:cxnLst/>
            <a:rect r="r" b="b" t="t" l="l"/>
            <a:pathLst>
              <a:path h="3667547" w="2047158">
                <a:moveTo>
                  <a:pt x="0" y="0"/>
                </a:moveTo>
                <a:lnTo>
                  <a:pt x="2047158" y="0"/>
                </a:lnTo>
                <a:lnTo>
                  <a:pt x="2047158" y="3667546"/>
                </a:lnTo>
                <a:lnTo>
                  <a:pt x="0" y="366754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1864513">
            <a:off x="16872657" y="313163"/>
            <a:ext cx="773285" cy="793483"/>
          </a:xfrm>
          <a:custGeom>
            <a:avLst/>
            <a:gdLst/>
            <a:ahLst/>
            <a:cxnLst/>
            <a:rect r="r" b="b" t="t" l="l"/>
            <a:pathLst>
              <a:path h="793483" w="773285">
                <a:moveTo>
                  <a:pt x="0" y="0"/>
                </a:moveTo>
                <a:lnTo>
                  <a:pt x="773286" y="0"/>
                </a:lnTo>
                <a:lnTo>
                  <a:pt x="773286" y="793483"/>
                </a:lnTo>
                <a:lnTo>
                  <a:pt x="0" y="7934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418351">
            <a:off x="17230298" y="2429735"/>
            <a:ext cx="2494032" cy="4468135"/>
          </a:xfrm>
          <a:custGeom>
            <a:avLst/>
            <a:gdLst/>
            <a:ahLst/>
            <a:cxnLst/>
            <a:rect r="r" b="b" t="t" l="l"/>
            <a:pathLst>
              <a:path h="4468135" w="2494032">
                <a:moveTo>
                  <a:pt x="0" y="0"/>
                </a:moveTo>
                <a:lnTo>
                  <a:pt x="2494032" y="0"/>
                </a:lnTo>
                <a:lnTo>
                  <a:pt x="2494032" y="4468135"/>
                </a:lnTo>
                <a:lnTo>
                  <a:pt x="0" y="446813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false" flipV="false" rot="0">
            <a:off x="513122" y="3485082"/>
            <a:ext cx="515578" cy="515578"/>
          </a:xfrm>
          <a:custGeom>
            <a:avLst/>
            <a:gdLst/>
            <a:ahLst/>
            <a:cxnLst/>
            <a:rect r="r" b="b" t="t" l="l"/>
            <a:pathLst>
              <a:path h="515578" w="515578">
                <a:moveTo>
                  <a:pt x="0" y="0"/>
                </a:moveTo>
                <a:lnTo>
                  <a:pt x="515578" y="0"/>
                </a:lnTo>
                <a:lnTo>
                  <a:pt x="515578" y="515577"/>
                </a:lnTo>
                <a:lnTo>
                  <a:pt x="0" y="51557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Freeform 2" id="2"/>
          <p:cNvSpPr/>
          <p:nvPr/>
        </p:nvSpPr>
        <p:spPr>
          <a:xfrm flipH="false" flipV="false" rot="0">
            <a:off x="540541" y="9966985"/>
            <a:ext cx="4247691" cy="2324645"/>
          </a:xfrm>
          <a:custGeom>
            <a:avLst/>
            <a:gdLst/>
            <a:ahLst/>
            <a:cxnLst/>
            <a:rect r="r" b="b" t="t" l="l"/>
            <a:pathLst>
              <a:path h="2324645" w="4247691">
                <a:moveTo>
                  <a:pt x="0" y="0"/>
                </a:moveTo>
                <a:lnTo>
                  <a:pt x="4247691" y="0"/>
                </a:lnTo>
                <a:lnTo>
                  <a:pt x="4247691" y="2324645"/>
                </a:lnTo>
                <a:lnTo>
                  <a:pt x="0" y="232464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412291" y="-1665893"/>
            <a:ext cx="4247691" cy="2324645"/>
          </a:xfrm>
          <a:custGeom>
            <a:avLst/>
            <a:gdLst/>
            <a:ahLst/>
            <a:cxnLst/>
            <a:rect r="r" b="b" t="t" l="l"/>
            <a:pathLst>
              <a:path h="2324645" w="4247691">
                <a:moveTo>
                  <a:pt x="0" y="0"/>
                </a:moveTo>
                <a:lnTo>
                  <a:pt x="4247690" y="0"/>
                </a:lnTo>
                <a:lnTo>
                  <a:pt x="4247690" y="2324646"/>
                </a:lnTo>
                <a:lnTo>
                  <a:pt x="0" y="23246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903619" y="1085736"/>
            <a:ext cx="15355681" cy="755348"/>
          </a:xfrm>
          <a:prstGeom prst="rect">
            <a:avLst/>
          </a:prstGeom>
        </p:spPr>
        <p:txBody>
          <a:bodyPr anchor="t" rtlCol="false" tIns="0" lIns="0" bIns="0" rIns="0">
            <a:spAutoFit/>
          </a:bodyPr>
          <a:lstStyle/>
          <a:p>
            <a:pPr algn="l">
              <a:lnSpc>
                <a:spcPts val="5500"/>
              </a:lnSpc>
            </a:pPr>
            <a:r>
              <a:rPr lang="en-US" b="true" sz="5790">
                <a:solidFill>
                  <a:srgbClr val="F0CFC7"/>
                </a:solidFill>
                <a:latin typeface="Noto Serif Ethiopic Condensed Bold"/>
                <a:ea typeface="Noto Serif Ethiopic Condensed Bold"/>
                <a:cs typeface="Noto Serif Ethiopic Condensed Bold"/>
                <a:sym typeface="Noto Serif Ethiopic Condensed Bold"/>
              </a:rPr>
              <a:t>IDENTIFIED GAPS IN EXISTING SOLUTIONS</a:t>
            </a:r>
          </a:p>
        </p:txBody>
      </p:sp>
      <p:sp>
        <p:nvSpPr>
          <p:cNvPr name="TextBox 5" id="5"/>
          <p:cNvSpPr txBox="true"/>
          <p:nvPr/>
        </p:nvSpPr>
        <p:spPr>
          <a:xfrm rot="0">
            <a:off x="5451808" y="1815670"/>
            <a:ext cx="7384383" cy="505421"/>
          </a:xfrm>
          <a:prstGeom prst="rect">
            <a:avLst/>
          </a:prstGeom>
        </p:spPr>
        <p:txBody>
          <a:bodyPr anchor="t" rtlCol="false" tIns="0" lIns="0" bIns="0" rIns="0">
            <a:spAutoFit/>
          </a:bodyPr>
          <a:lstStyle/>
          <a:p>
            <a:pPr algn="l">
              <a:lnSpc>
                <a:spcPts val="4167"/>
              </a:lnSpc>
            </a:pPr>
            <a:r>
              <a:rPr lang="en-US" sz="2976">
                <a:solidFill>
                  <a:srgbClr val="FFFFFF"/>
                </a:solidFill>
                <a:latin typeface="Noto Serif Ethiopic Condensed"/>
                <a:ea typeface="Noto Serif Ethiopic Condensed"/>
                <a:cs typeface="Noto Serif Ethiopic Condensed"/>
                <a:sym typeface="Noto Serif Ethiopic Condensed"/>
              </a:rPr>
              <a:t>Key Limitations in Current Mental Health Apps</a:t>
            </a:r>
          </a:p>
        </p:txBody>
      </p:sp>
      <p:grpSp>
        <p:nvGrpSpPr>
          <p:cNvPr name="Group 6" id="6"/>
          <p:cNvGrpSpPr/>
          <p:nvPr/>
        </p:nvGrpSpPr>
        <p:grpSpPr>
          <a:xfrm rot="0">
            <a:off x="902220" y="2530641"/>
            <a:ext cx="16483560" cy="6984876"/>
            <a:chOff x="0" y="0"/>
            <a:chExt cx="4648695" cy="1969875"/>
          </a:xfrm>
        </p:grpSpPr>
        <p:sp>
          <p:nvSpPr>
            <p:cNvPr name="Freeform 7" id="7"/>
            <p:cNvSpPr/>
            <p:nvPr/>
          </p:nvSpPr>
          <p:spPr>
            <a:xfrm flipH="false" flipV="false" rot="0">
              <a:off x="0" y="0"/>
              <a:ext cx="4648695" cy="1969875"/>
            </a:xfrm>
            <a:custGeom>
              <a:avLst/>
              <a:gdLst/>
              <a:ahLst/>
              <a:cxnLst/>
              <a:rect r="r" b="b" t="t" l="l"/>
              <a:pathLst>
                <a:path h="1969875" w="4648695">
                  <a:moveTo>
                    <a:pt x="11742" y="0"/>
                  </a:moveTo>
                  <a:lnTo>
                    <a:pt x="4636953" y="0"/>
                  </a:lnTo>
                  <a:cubicBezTo>
                    <a:pt x="4640067" y="0"/>
                    <a:pt x="4643054" y="1237"/>
                    <a:pt x="4645256" y="3439"/>
                  </a:cubicBezTo>
                  <a:cubicBezTo>
                    <a:pt x="4647458" y="5641"/>
                    <a:pt x="4648695" y="8628"/>
                    <a:pt x="4648695" y="11742"/>
                  </a:cubicBezTo>
                  <a:lnTo>
                    <a:pt x="4648695" y="1958133"/>
                  </a:lnTo>
                  <a:cubicBezTo>
                    <a:pt x="4648695" y="1964618"/>
                    <a:pt x="4643438" y="1969875"/>
                    <a:pt x="4636953" y="1969875"/>
                  </a:cubicBezTo>
                  <a:lnTo>
                    <a:pt x="11742" y="1969875"/>
                  </a:lnTo>
                  <a:cubicBezTo>
                    <a:pt x="5257" y="1969875"/>
                    <a:pt x="0" y="1964618"/>
                    <a:pt x="0" y="1958133"/>
                  </a:cubicBezTo>
                  <a:lnTo>
                    <a:pt x="0" y="11742"/>
                  </a:lnTo>
                  <a:cubicBezTo>
                    <a:pt x="0" y="5257"/>
                    <a:pt x="5257" y="0"/>
                    <a:pt x="11742" y="0"/>
                  </a:cubicBezTo>
                  <a:close/>
                </a:path>
              </a:pathLst>
            </a:custGeom>
            <a:solidFill>
              <a:srgbClr val="FFFFFF">
                <a:alpha val="12941"/>
              </a:srgbClr>
            </a:solidFill>
            <a:ln w="38100" cap="rnd">
              <a:solidFill>
                <a:srgbClr val="FFFFFF">
                  <a:alpha val="12941"/>
                </a:srgbClr>
              </a:solidFill>
              <a:prstDash val="solid"/>
              <a:round/>
            </a:ln>
          </p:spPr>
        </p:sp>
        <p:sp>
          <p:nvSpPr>
            <p:cNvPr name="TextBox 8" id="8"/>
            <p:cNvSpPr txBox="true"/>
            <p:nvPr/>
          </p:nvSpPr>
          <p:spPr>
            <a:xfrm>
              <a:off x="0" y="-38100"/>
              <a:ext cx="4648695" cy="2007975"/>
            </a:xfrm>
            <a:prstGeom prst="rect">
              <a:avLst/>
            </a:prstGeom>
          </p:spPr>
          <p:txBody>
            <a:bodyPr anchor="ctr" rtlCol="false" tIns="47441" lIns="47441" bIns="47441" rIns="47441"/>
            <a:lstStyle/>
            <a:p>
              <a:pPr algn="ctr">
                <a:lnSpc>
                  <a:spcPts val="2659"/>
                </a:lnSpc>
              </a:pPr>
            </a:p>
          </p:txBody>
        </p:sp>
      </p:grpSp>
      <p:sp>
        <p:nvSpPr>
          <p:cNvPr name="Freeform 9" id="9"/>
          <p:cNvSpPr/>
          <p:nvPr/>
        </p:nvSpPr>
        <p:spPr>
          <a:xfrm flipH="false" flipV="false" rot="0">
            <a:off x="7752381" y="7907007"/>
            <a:ext cx="454053" cy="517038"/>
          </a:xfrm>
          <a:custGeom>
            <a:avLst/>
            <a:gdLst/>
            <a:ahLst/>
            <a:cxnLst/>
            <a:rect r="r" b="b" t="t" l="l"/>
            <a:pathLst>
              <a:path h="517038" w="454053">
                <a:moveTo>
                  <a:pt x="0" y="0"/>
                </a:moveTo>
                <a:lnTo>
                  <a:pt x="454053" y="0"/>
                </a:lnTo>
                <a:lnTo>
                  <a:pt x="454053" y="517038"/>
                </a:lnTo>
                <a:lnTo>
                  <a:pt x="0" y="5170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8569481" y="7849857"/>
            <a:ext cx="6582801" cy="456898"/>
          </a:xfrm>
          <a:prstGeom prst="rect">
            <a:avLst/>
          </a:prstGeom>
        </p:spPr>
        <p:txBody>
          <a:bodyPr anchor="t" rtlCol="false" tIns="0" lIns="0" bIns="0" rIns="0">
            <a:spAutoFit/>
          </a:bodyPr>
          <a:lstStyle/>
          <a:p>
            <a:pPr algn="ctr">
              <a:lnSpc>
                <a:spcPts val="3782"/>
              </a:lnSpc>
              <a:spcBef>
                <a:spcPct val="0"/>
              </a:spcBef>
            </a:pPr>
            <a:r>
              <a:rPr lang="en-US" b="true" sz="2701">
                <a:solidFill>
                  <a:srgbClr val="9FE66B"/>
                </a:solidFill>
                <a:latin typeface="Inter Bold"/>
                <a:ea typeface="Inter Bold"/>
                <a:cs typeface="Inter Bold"/>
                <a:sym typeface="Inter Bold"/>
              </a:rPr>
              <a:t>Limited Access to Professional Support</a:t>
            </a:r>
          </a:p>
        </p:txBody>
      </p:sp>
      <p:sp>
        <p:nvSpPr>
          <p:cNvPr name="Freeform 11" id="11"/>
          <p:cNvSpPr/>
          <p:nvPr/>
        </p:nvSpPr>
        <p:spPr>
          <a:xfrm flipH="false" flipV="false" rot="0">
            <a:off x="1057045" y="3282783"/>
            <a:ext cx="6403274" cy="5291471"/>
          </a:xfrm>
          <a:custGeom>
            <a:avLst/>
            <a:gdLst/>
            <a:ahLst/>
            <a:cxnLst/>
            <a:rect r="r" b="b" t="t" l="l"/>
            <a:pathLst>
              <a:path h="5291471" w="6403274">
                <a:moveTo>
                  <a:pt x="0" y="0"/>
                </a:moveTo>
                <a:lnTo>
                  <a:pt x="6403274" y="0"/>
                </a:lnTo>
                <a:lnTo>
                  <a:pt x="6403274" y="5291470"/>
                </a:lnTo>
                <a:lnTo>
                  <a:pt x="0" y="529147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1260795" y="3537206"/>
            <a:ext cx="6028074" cy="4979336"/>
          </a:xfrm>
          <a:custGeom>
            <a:avLst/>
            <a:gdLst/>
            <a:ahLst/>
            <a:cxnLst/>
            <a:rect r="r" b="b" t="t" l="l"/>
            <a:pathLst>
              <a:path h="4979336" w="6028074">
                <a:moveTo>
                  <a:pt x="0" y="0"/>
                </a:moveTo>
                <a:lnTo>
                  <a:pt x="6028074" y="0"/>
                </a:lnTo>
                <a:lnTo>
                  <a:pt x="6028074" y="4979336"/>
                </a:lnTo>
                <a:lnTo>
                  <a:pt x="0" y="49793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7780956" y="5364697"/>
            <a:ext cx="366773" cy="480298"/>
          </a:xfrm>
          <a:custGeom>
            <a:avLst/>
            <a:gdLst/>
            <a:ahLst/>
            <a:cxnLst/>
            <a:rect r="r" b="b" t="t" l="l"/>
            <a:pathLst>
              <a:path h="480298" w="366773">
                <a:moveTo>
                  <a:pt x="0" y="0"/>
                </a:moveTo>
                <a:lnTo>
                  <a:pt x="366773" y="0"/>
                </a:lnTo>
                <a:lnTo>
                  <a:pt x="366773" y="480298"/>
                </a:lnTo>
                <a:lnTo>
                  <a:pt x="0" y="48029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7729267" y="6625049"/>
            <a:ext cx="470152" cy="467042"/>
          </a:xfrm>
          <a:custGeom>
            <a:avLst/>
            <a:gdLst/>
            <a:ahLst/>
            <a:cxnLst/>
            <a:rect r="r" b="b" t="t" l="l"/>
            <a:pathLst>
              <a:path h="467042" w="470152">
                <a:moveTo>
                  <a:pt x="0" y="0"/>
                </a:moveTo>
                <a:lnTo>
                  <a:pt x="470152" y="0"/>
                </a:lnTo>
                <a:lnTo>
                  <a:pt x="470152" y="467042"/>
                </a:lnTo>
                <a:lnTo>
                  <a:pt x="0" y="46704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0">
            <a:off x="7643673" y="4187354"/>
            <a:ext cx="622290" cy="434393"/>
          </a:xfrm>
          <a:custGeom>
            <a:avLst/>
            <a:gdLst/>
            <a:ahLst/>
            <a:cxnLst/>
            <a:rect r="r" b="b" t="t" l="l"/>
            <a:pathLst>
              <a:path h="434393" w="622290">
                <a:moveTo>
                  <a:pt x="0" y="0"/>
                </a:moveTo>
                <a:lnTo>
                  <a:pt x="622290" y="0"/>
                </a:lnTo>
                <a:lnTo>
                  <a:pt x="622290" y="434393"/>
                </a:lnTo>
                <a:lnTo>
                  <a:pt x="0" y="43439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7706159" y="2757925"/>
            <a:ext cx="559804" cy="432049"/>
          </a:xfrm>
          <a:custGeom>
            <a:avLst/>
            <a:gdLst/>
            <a:ahLst/>
            <a:cxnLst/>
            <a:rect r="r" b="b" t="t" l="l"/>
            <a:pathLst>
              <a:path h="432049" w="559804">
                <a:moveTo>
                  <a:pt x="0" y="0"/>
                </a:moveTo>
                <a:lnTo>
                  <a:pt x="559804" y="0"/>
                </a:lnTo>
                <a:lnTo>
                  <a:pt x="559804" y="432049"/>
                </a:lnTo>
                <a:lnTo>
                  <a:pt x="0" y="43204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7" id="17"/>
          <p:cNvSpPr txBox="true"/>
          <p:nvPr/>
        </p:nvSpPr>
        <p:spPr>
          <a:xfrm rot="0">
            <a:off x="8329372" y="2587081"/>
            <a:ext cx="4990690" cy="440968"/>
          </a:xfrm>
          <a:prstGeom prst="rect">
            <a:avLst/>
          </a:prstGeom>
        </p:spPr>
        <p:txBody>
          <a:bodyPr anchor="t" rtlCol="false" tIns="0" lIns="0" bIns="0" rIns="0">
            <a:spAutoFit/>
          </a:bodyPr>
          <a:lstStyle/>
          <a:p>
            <a:pPr algn="ctr">
              <a:lnSpc>
                <a:spcPts val="3647"/>
              </a:lnSpc>
              <a:spcBef>
                <a:spcPct val="0"/>
              </a:spcBef>
            </a:pPr>
            <a:r>
              <a:rPr lang="en-US" b="true" sz="2605">
                <a:solidFill>
                  <a:srgbClr val="E8BAFB"/>
                </a:solidFill>
                <a:latin typeface="Inter Bold"/>
                <a:ea typeface="Inter Bold"/>
                <a:cs typeface="Inter Bold"/>
                <a:sym typeface="Inter Bold"/>
              </a:rPr>
              <a:t>Inconsistent Support Quality</a:t>
            </a:r>
          </a:p>
        </p:txBody>
      </p:sp>
      <p:sp>
        <p:nvSpPr>
          <p:cNvPr name="TextBox 18" id="18"/>
          <p:cNvSpPr txBox="true"/>
          <p:nvPr/>
        </p:nvSpPr>
        <p:spPr>
          <a:xfrm rot="0">
            <a:off x="8526241" y="5218776"/>
            <a:ext cx="5384767" cy="440968"/>
          </a:xfrm>
          <a:prstGeom prst="rect">
            <a:avLst/>
          </a:prstGeom>
        </p:spPr>
        <p:txBody>
          <a:bodyPr anchor="t" rtlCol="false" tIns="0" lIns="0" bIns="0" rIns="0">
            <a:spAutoFit/>
          </a:bodyPr>
          <a:lstStyle/>
          <a:p>
            <a:pPr algn="ctr">
              <a:lnSpc>
                <a:spcPts val="3647"/>
              </a:lnSpc>
              <a:spcBef>
                <a:spcPct val="0"/>
              </a:spcBef>
            </a:pPr>
            <a:r>
              <a:rPr lang="en-US" b="true" sz="2605">
                <a:solidFill>
                  <a:srgbClr val="F49A5D"/>
                </a:solidFill>
                <a:latin typeface="Inter Bold"/>
                <a:ea typeface="Inter Bold"/>
                <a:cs typeface="Inter Bold"/>
                <a:sym typeface="Inter Bold"/>
              </a:rPr>
              <a:t>Lack of Structured User Guidance</a:t>
            </a:r>
          </a:p>
        </p:txBody>
      </p:sp>
      <p:sp>
        <p:nvSpPr>
          <p:cNvPr name="TextBox 19" id="19"/>
          <p:cNvSpPr txBox="true"/>
          <p:nvPr/>
        </p:nvSpPr>
        <p:spPr>
          <a:xfrm rot="0">
            <a:off x="8569481" y="3891982"/>
            <a:ext cx="4510473" cy="440968"/>
          </a:xfrm>
          <a:prstGeom prst="rect">
            <a:avLst/>
          </a:prstGeom>
        </p:spPr>
        <p:txBody>
          <a:bodyPr anchor="t" rtlCol="false" tIns="0" lIns="0" bIns="0" rIns="0">
            <a:spAutoFit/>
          </a:bodyPr>
          <a:lstStyle/>
          <a:p>
            <a:pPr algn="ctr">
              <a:lnSpc>
                <a:spcPts val="3647"/>
              </a:lnSpc>
              <a:spcBef>
                <a:spcPct val="0"/>
              </a:spcBef>
            </a:pPr>
            <a:r>
              <a:rPr lang="en-US" b="true" sz="2605">
                <a:solidFill>
                  <a:srgbClr val="F68E8F"/>
                </a:solidFill>
                <a:latin typeface="Inter Bold"/>
                <a:ea typeface="Inter Bold"/>
                <a:cs typeface="Inter Bold"/>
                <a:sym typeface="Inter Bold"/>
              </a:rPr>
              <a:t>Privacy and Trust Concerns</a:t>
            </a:r>
            <a:r>
              <a:rPr lang="en-US" sz="2605">
                <a:solidFill>
                  <a:srgbClr val="F68E8F"/>
                </a:solidFill>
                <a:latin typeface="Inter"/>
                <a:ea typeface="Inter"/>
                <a:cs typeface="Inter"/>
                <a:sym typeface="Inter"/>
              </a:rPr>
              <a:t> </a:t>
            </a:r>
          </a:p>
        </p:txBody>
      </p:sp>
      <p:sp>
        <p:nvSpPr>
          <p:cNvPr name="TextBox 20" id="20"/>
          <p:cNvSpPr txBox="true"/>
          <p:nvPr/>
        </p:nvSpPr>
        <p:spPr>
          <a:xfrm rot="0">
            <a:off x="8507763" y="6529110"/>
            <a:ext cx="6074322" cy="440968"/>
          </a:xfrm>
          <a:prstGeom prst="rect">
            <a:avLst/>
          </a:prstGeom>
        </p:spPr>
        <p:txBody>
          <a:bodyPr anchor="t" rtlCol="false" tIns="0" lIns="0" bIns="0" rIns="0">
            <a:spAutoFit/>
          </a:bodyPr>
          <a:lstStyle/>
          <a:p>
            <a:pPr algn="ctr">
              <a:lnSpc>
                <a:spcPts val="3647"/>
              </a:lnSpc>
              <a:spcBef>
                <a:spcPct val="0"/>
              </a:spcBef>
            </a:pPr>
            <a:r>
              <a:rPr lang="en-US" b="true" sz="2605">
                <a:solidFill>
                  <a:srgbClr val="F7C063"/>
                </a:solidFill>
                <a:latin typeface="Inter Bold"/>
                <a:ea typeface="Inter Bold"/>
                <a:cs typeface="Inter Bold"/>
                <a:sym typeface="Inter Bold"/>
              </a:rPr>
              <a:t>Content overload and Cognitive Strain</a:t>
            </a:r>
          </a:p>
        </p:txBody>
      </p:sp>
      <p:sp>
        <p:nvSpPr>
          <p:cNvPr name="TextBox 21" id="21"/>
          <p:cNvSpPr txBox="true"/>
          <p:nvPr/>
        </p:nvSpPr>
        <p:spPr>
          <a:xfrm rot="0">
            <a:off x="8206434" y="3066149"/>
            <a:ext cx="7855165" cy="946985"/>
          </a:xfrm>
          <a:prstGeom prst="rect">
            <a:avLst/>
          </a:prstGeom>
        </p:spPr>
        <p:txBody>
          <a:bodyPr anchor="t" rtlCol="false" tIns="0" lIns="0" bIns="0" rIns="0">
            <a:spAutoFit/>
          </a:bodyPr>
          <a:lstStyle/>
          <a:p>
            <a:pPr algn="l" marL="395808" indent="-197904" lvl="1">
              <a:lnSpc>
                <a:spcPts val="2566"/>
              </a:lnSpc>
              <a:buFont typeface="Arial"/>
              <a:buChar char="•"/>
            </a:pPr>
            <a:r>
              <a:rPr lang="en-US" sz="1833">
                <a:solidFill>
                  <a:srgbClr val="FFFFFF"/>
                </a:solidFill>
                <a:latin typeface="Noto Serif Ethiopic Condensed"/>
                <a:ea typeface="Noto Serif Ethiopic Condensed"/>
                <a:cs typeface="Noto Serif Ethiopic Condensed"/>
                <a:sym typeface="Noto Serif Ethiopic Condensed"/>
              </a:rPr>
              <a:t>There are no criteria for determining what constitutes a satisfactory standard of emotional support from peers on the platform.</a:t>
            </a:r>
          </a:p>
          <a:p>
            <a:pPr algn="l">
              <a:lnSpc>
                <a:spcPts val="2566"/>
              </a:lnSpc>
            </a:pPr>
          </a:p>
        </p:txBody>
      </p:sp>
      <p:sp>
        <p:nvSpPr>
          <p:cNvPr name="TextBox 22" id="22"/>
          <p:cNvSpPr txBox="true"/>
          <p:nvPr/>
        </p:nvSpPr>
        <p:spPr>
          <a:xfrm rot="0">
            <a:off x="8158101" y="5659923"/>
            <a:ext cx="8266593" cy="678687"/>
          </a:xfrm>
          <a:prstGeom prst="rect">
            <a:avLst/>
          </a:prstGeom>
        </p:spPr>
        <p:txBody>
          <a:bodyPr anchor="t" rtlCol="false" tIns="0" lIns="0" bIns="0" rIns="0">
            <a:spAutoFit/>
          </a:bodyPr>
          <a:lstStyle/>
          <a:p>
            <a:pPr algn="l" marL="416639" indent="-208320" lvl="1">
              <a:lnSpc>
                <a:spcPts val="2701"/>
              </a:lnSpc>
              <a:buFont typeface="Arial"/>
              <a:buChar char="•"/>
            </a:pPr>
            <a:r>
              <a:rPr lang="en-US" sz="1929">
                <a:solidFill>
                  <a:srgbClr val="FFFFFF"/>
                </a:solidFill>
                <a:latin typeface="Noto Serif Ethiopic Condensed"/>
                <a:ea typeface="Noto Serif Ethiopic Condensed"/>
                <a:cs typeface="Noto Serif Ethiopic Condensed"/>
                <a:sym typeface="Noto Serif Ethiopic Condensed"/>
              </a:rPr>
              <a:t>Once users have expressed their feelings, they often do not know how to follow up or proceed, resulting in further confusion .</a:t>
            </a:r>
          </a:p>
        </p:txBody>
      </p:sp>
      <p:sp>
        <p:nvSpPr>
          <p:cNvPr name="TextBox 23" id="23"/>
          <p:cNvSpPr txBox="true"/>
          <p:nvPr/>
        </p:nvSpPr>
        <p:spPr>
          <a:xfrm rot="0">
            <a:off x="8192752" y="4348397"/>
            <a:ext cx="8484341" cy="946985"/>
          </a:xfrm>
          <a:prstGeom prst="rect">
            <a:avLst/>
          </a:prstGeom>
        </p:spPr>
        <p:txBody>
          <a:bodyPr anchor="t" rtlCol="false" tIns="0" lIns="0" bIns="0" rIns="0">
            <a:spAutoFit/>
          </a:bodyPr>
          <a:lstStyle/>
          <a:p>
            <a:pPr algn="l" marL="395808" indent="-197904" lvl="1">
              <a:lnSpc>
                <a:spcPts val="2566"/>
              </a:lnSpc>
              <a:buFont typeface="Arial"/>
              <a:buChar char="•"/>
            </a:pPr>
            <a:r>
              <a:rPr lang="en-US" sz="1833">
                <a:solidFill>
                  <a:srgbClr val="FFFFFF"/>
                </a:solidFill>
                <a:latin typeface="Noto Serif Ethiopic Condensed"/>
                <a:ea typeface="Noto Serif Ethiopic Condensed"/>
                <a:cs typeface="Noto Serif Ethiopic Condensed"/>
                <a:sym typeface="Noto Serif Ethiopic Condensed"/>
              </a:rPr>
              <a:t>Many platforms do not clearly state how they protect users' privacy; therefore, users may be reluctant to disclose sensitive or personal information.</a:t>
            </a:r>
          </a:p>
          <a:p>
            <a:pPr algn="l">
              <a:lnSpc>
                <a:spcPts val="2566"/>
              </a:lnSpc>
            </a:pPr>
          </a:p>
        </p:txBody>
      </p:sp>
      <p:sp>
        <p:nvSpPr>
          <p:cNvPr name="TextBox 24" id="24"/>
          <p:cNvSpPr txBox="true"/>
          <p:nvPr/>
        </p:nvSpPr>
        <p:spPr>
          <a:xfrm rot="0">
            <a:off x="8175728" y="6979603"/>
            <a:ext cx="8473124" cy="678687"/>
          </a:xfrm>
          <a:prstGeom prst="rect">
            <a:avLst/>
          </a:prstGeom>
        </p:spPr>
        <p:txBody>
          <a:bodyPr anchor="t" rtlCol="false" tIns="0" lIns="0" bIns="0" rIns="0">
            <a:spAutoFit/>
          </a:bodyPr>
          <a:lstStyle/>
          <a:p>
            <a:pPr algn="l" marL="416639" indent="-208320" lvl="1">
              <a:lnSpc>
                <a:spcPts val="2701"/>
              </a:lnSpc>
              <a:buFont typeface="Arial"/>
              <a:buChar char="•"/>
            </a:pPr>
            <a:r>
              <a:rPr lang="en-US" sz="1929">
                <a:solidFill>
                  <a:srgbClr val="FFFFFF"/>
                </a:solidFill>
                <a:latin typeface="Noto Serif Ethiopic Condensed"/>
                <a:ea typeface="Noto Serif Ethiopic Condensed"/>
                <a:cs typeface="Noto Serif Ethiopic Condensed"/>
                <a:sym typeface="Noto Serif Ethiopic Condensed"/>
              </a:rPr>
              <a:t>With so much content/information heavy interfaces, users' ability to be productive or obtain any needed assistance is diminished significantly.</a:t>
            </a:r>
          </a:p>
        </p:txBody>
      </p:sp>
      <p:sp>
        <p:nvSpPr>
          <p:cNvPr name="TextBox 25" id="25"/>
          <p:cNvSpPr txBox="true"/>
          <p:nvPr/>
        </p:nvSpPr>
        <p:spPr>
          <a:xfrm rot="0">
            <a:off x="8235009" y="8373430"/>
            <a:ext cx="8432893" cy="894294"/>
          </a:xfrm>
          <a:prstGeom prst="rect">
            <a:avLst/>
          </a:prstGeom>
        </p:spPr>
        <p:txBody>
          <a:bodyPr anchor="t" rtlCol="false" tIns="0" lIns="0" bIns="0" rIns="0">
            <a:spAutoFit/>
          </a:bodyPr>
          <a:lstStyle/>
          <a:p>
            <a:pPr algn="l" marL="374978" indent="-187489" lvl="1">
              <a:lnSpc>
                <a:spcPts val="2431"/>
              </a:lnSpc>
              <a:buFont typeface="Arial"/>
              <a:buChar char="•"/>
            </a:pPr>
            <a:r>
              <a:rPr lang="en-US" sz="1736">
                <a:solidFill>
                  <a:srgbClr val="FFFFFF"/>
                </a:solidFill>
                <a:latin typeface="Noto Serif Ethiopic Condensed"/>
                <a:ea typeface="Noto Serif Ethiopic Condensed"/>
                <a:cs typeface="Noto Serif Ethiopic Condensed"/>
                <a:sym typeface="Noto Serif Ethiopic Condensed"/>
              </a:rPr>
              <a:t>Limited access to evidence-based professionals limits access to evidence-based services and creates gaps between peer supports and clinical supports resulting in disrupted continuity of care.</a:t>
            </a:r>
          </a:p>
        </p:txBody>
      </p:sp>
      <p:sp>
        <p:nvSpPr>
          <p:cNvPr name="TextBox 26" id="26"/>
          <p:cNvSpPr txBox="true"/>
          <p:nvPr/>
        </p:nvSpPr>
        <p:spPr>
          <a:xfrm rot="0">
            <a:off x="14463217" y="9638767"/>
            <a:ext cx="3196764" cy="328217"/>
          </a:xfrm>
          <a:prstGeom prst="rect">
            <a:avLst/>
          </a:prstGeom>
        </p:spPr>
        <p:txBody>
          <a:bodyPr anchor="t" rtlCol="false" tIns="0" lIns="0" bIns="0" rIns="0">
            <a:spAutoFit/>
          </a:bodyPr>
          <a:lstStyle/>
          <a:p>
            <a:pPr algn="l">
              <a:lnSpc>
                <a:spcPts val="2410"/>
              </a:lnSpc>
            </a:pPr>
            <a:r>
              <a:rPr lang="en-US" sz="2537">
                <a:solidFill>
                  <a:srgbClr val="F0CFC7"/>
                </a:solidFill>
                <a:latin typeface="Noto Serif Ethiopic Condensed"/>
                <a:ea typeface="Noto Serif Ethiopic Condensed"/>
                <a:cs typeface="Noto Serif Ethiopic Condensed"/>
                <a:sym typeface="Noto Serif Ethiopic Condensed"/>
              </a:rPr>
              <a:t>Kekweditse Mogoba</a:t>
            </a:r>
          </a:p>
        </p:txBody>
      </p:sp>
      <p:sp>
        <p:nvSpPr>
          <p:cNvPr name="TextBox 27" id="27"/>
          <p:cNvSpPr txBox="true"/>
          <p:nvPr/>
        </p:nvSpPr>
        <p:spPr>
          <a:xfrm rot="0">
            <a:off x="540541" y="528577"/>
            <a:ext cx="5741020" cy="317502"/>
          </a:xfrm>
          <a:prstGeom prst="rect">
            <a:avLst/>
          </a:prstGeom>
        </p:spPr>
        <p:txBody>
          <a:bodyPr anchor="t" rtlCol="false" tIns="0" lIns="0" bIns="0" rIns="0">
            <a:spAutoFit/>
          </a:bodyPr>
          <a:lstStyle/>
          <a:p>
            <a:pPr algn="l">
              <a:lnSpc>
                <a:spcPts val="2375"/>
              </a:lnSpc>
            </a:pPr>
            <a:r>
              <a:rPr lang="en-US" sz="2500">
                <a:solidFill>
                  <a:srgbClr val="F0CFC7"/>
                </a:solidFill>
                <a:latin typeface="Noto Serif Ethiopic Condensed"/>
                <a:ea typeface="Noto Serif Ethiopic Condensed"/>
                <a:cs typeface="Noto Serif Ethiopic Condensed"/>
                <a:sym typeface="Noto Serif Ethiopic Condensed"/>
              </a:rPr>
              <a:t>Human Computer Interface ICTE 3002</a:t>
            </a:r>
          </a:p>
        </p:txBody>
      </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TextBox 2" id="2"/>
          <p:cNvSpPr txBox="true"/>
          <p:nvPr/>
        </p:nvSpPr>
        <p:spPr>
          <a:xfrm rot="0">
            <a:off x="1525787" y="684212"/>
            <a:ext cx="15407374" cy="850900"/>
          </a:xfrm>
          <a:prstGeom prst="rect">
            <a:avLst/>
          </a:prstGeom>
        </p:spPr>
        <p:txBody>
          <a:bodyPr anchor="t" rtlCol="false" tIns="0" lIns="0" bIns="0" rIns="0">
            <a:spAutoFit/>
          </a:bodyPr>
          <a:lstStyle/>
          <a:p>
            <a:pPr algn="l">
              <a:lnSpc>
                <a:spcPts val="6365"/>
              </a:lnSpc>
            </a:pPr>
            <a:r>
              <a:rPr lang="en-US" b="true" sz="6700">
                <a:solidFill>
                  <a:srgbClr val="F0CFC7"/>
                </a:solidFill>
                <a:latin typeface="Noto Serif Ethiopic Condensed Bold"/>
                <a:ea typeface="Noto Serif Ethiopic Condensed Bold"/>
                <a:cs typeface="Noto Serif Ethiopic Condensed Bold"/>
                <a:sym typeface="Noto Serif Ethiopic Condensed Bold"/>
              </a:rPr>
              <a:t>UX DESIGN DECISIONS AND PRINCIPLES </a:t>
            </a:r>
          </a:p>
        </p:txBody>
      </p:sp>
      <p:grpSp>
        <p:nvGrpSpPr>
          <p:cNvPr name="Group 3" id="3"/>
          <p:cNvGrpSpPr/>
          <p:nvPr/>
        </p:nvGrpSpPr>
        <p:grpSpPr>
          <a:xfrm rot="0">
            <a:off x="2025031" y="2273424"/>
            <a:ext cx="13970631" cy="7335888"/>
            <a:chOff x="0" y="0"/>
            <a:chExt cx="3939998" cy="2068868"/>
          </a:xfrm>
        </p:grpSpPr>
        <p:sp>
          <p:nvSpPr>
            <p:cNvPr name="Freeform 4" id="4"/>
            <p:cNvSpPr/>
            <p:nvPr/>
          </p:nvSpPr>
          <p:spPr>
            <a:xfrm flipH="false" flipV="false" rot="0">
              <a:off x="0" y="0"/>
              <a:ext cx="3939998" cy="2068868"/>
            </a:xfrm>
            <a:custGeom>
              <a:avLst/>
              <a:gdLst/>
              <a:ahLst/>
              <a:cxnLst/>
              <a:rect r="r" b="b" t="t" l="l"/>
              <a:pathLst>
                <a:path h="2068868" w="3939998">
                  <a:moveTo>
                    <a:pt x="13854" y="0"/>
                  </a:moveTo>
                  <a:lnTo>
                    <a:pt x="3926144" y="0"/>
                  </a:lnTo>
                  <a:cubicBezTo>
                    <a:pt x="3933796" y="0"/>
                    <a:pt x="3939998" y="6203"/>
                    <a:pt x="3939998" y="13854"/>
                  </a:cubicBezTo>
                  <a:lnTo>
                    <a:pt x="3939998" y="2055014"/>
                  </a:lnTo>
                  <a:cubicBezTo>
                    <a:pt x="3939998" y="2062665"/>
                    <a:pt x="3933796" y="2068868"/>
                    <a:pt x="3926144" y="2068868"/>
                  </a:cubicBezTo>
                  <a:lnTo>
                    <a:pt x="13854" y="2068868"/>
                  </a:lnTo>
                  <a:cubicBezTo>
                    <a:pt x="6203" y="2068868"/>
                    <a:pt x="0" y="2062665"/>
                    <a:pt x="0" y="2055014"/>
                  </a:cubicBezTo>
                  <a:lnTo>
                    <a:pt x="0" y="13854"/>
                  </a:lnTo>
                  <a:cubicBezTo>
                    <a:pt x="0" y="6203"/>
                    <a:pt x="6203" y="0"/>
                    <a:pt x="13854" y="0"/>
                  </a:cubicBezTo>
                  <a:close/>
                </a:path>
              </a:pathLst>
            </a:custGeom>
            <a:solidFill>
              <a:srgbClr val="FFFFFF">
                <a:alpha val="12941"/>
              </a:srgbClr>
            </a:solidFill>
            <a:ln w="38100" cap="rnd">
              <a:solidFill>
                <a:srgbClr val="FFFFFF">
                  <a:alpha val="12941"/>
                </a:srgbClr>
              </a:solidFill>
              <a:prstDash val="solid"/>
              <a:round/>
            </a:ln>
          </p:spPr>
        </p:sp>
        <p:sp>
          <p:nvSpPr>
            <p:cNvPr name="TextBox 5" id="5"/>
            <p:cNvSpPr txBox="true"/>
            <p:nvPr/>
          </p:nvSpPr>
          <p:spPr>
            <a:xfrm>
              <a:off x="0" y="-38100"/>
              <a:ext cx="3939998" cy="2106968"/>
            </a:xfrm>
            <a:prstGeom prst="rect">
              <a:avLst/>
            </a:prstGeom>
          </p:spPr>
          <p:txBody>
            <a:bodyPr anchor="ctr" rtlCol="false" tIns="47441" lIns="47441" bIns="47441" rIns="47441"/>
            <a:lstStyle/>
            <a:p>
              <a:pPr algn="ctr">
                <a:lnSpc>
                  <a:spcPts val="2659"/>
                </a:lnSpc>
              </a:pPr>
            </a:p>
          </p:txBody>
        </p:sp>
      </p:grpSp>
      <p:sp>
        <p:nvSpPr>
          <p:cNvPr name="TextBox 6" id="6"/>
          <p:cNvSpPr txBox="true"/>
          <p:nvPr/>
        </p:nvSpPr>
        <p:spPr>
          <a:xfrm rot="0">
            <a:off x="4230562" y="1495928"/>
            <a:ext cx="9302559" cy="513041"/>
          </a:xfrm>
          <a:prstGeom prst="rect">
            <a:avLst/>
          </a:prstGeom>
        </p:spPr>
        <p:txBody>
          <a:bodyPr anchor="t" rtlCol="false" tIns="0" lIns="0" bIns="0" rIns="0">
            <a:spAutoFit/>
          </a:bodyPr>
          <a:lstStyle/>
          <a:p>
            <a:pPr algn="ctr">
              <a:lnSpc>
                <a:spcPts val="4272"/>
              </a:lnSpc>
            </a:pPr>
            <a:r>
              <a:rPr lang="en-US" sz="3051">
                <a:solidFill>
                  <a:srgbClr val="FFFFFF"/>
                </a:solidFill>
                <a:latin typeface="Noto Serif Ethiopic Condensed"/>
                <a:ea typeface="Noto Serif Ethiopic Condensed"/>
                <a:cs typeface="Noto Serif Ethiopic Condensed"/>
                <a:sym typeface="Noto Serif Ethiopic Condensed"/>
              </a:rPr>
              <a:t>How HelpEra Adresses Identified Gaps </a:t>
            </a:r>
          </a:p>
        </p:txBody>
      </p:sp>
      <p:grpSp>
        <p:nvGrpSpPr>
          <p:cNvPr name="Group 7" id="7"/>
          <p:cNvGrpSpPr/>
          <p:nvPr/>
        </p:nvGrpSpPr>
        <p:grpSpPr>
          <a:xfrm rot="0">
            <a:off x="2473031" y="2380939"/>
            <a:ext cx="12817621" cy="6940440"/>
            <a:chOff x="0" y="0"/>
            <a:chExt cx="17090162" cy="9253920"/>
          </a:xfrm>
        </p:grpSpPr>
        <p:sp>
          <p:nvSpPr>
            <p:cNvPr name="AutoShape 8" id="8"/>
            <p:cNvSpPr/>
            <p:nvPr/>
          </p:nvSpPr>
          <p:spPr>
            <a:xfrm>
              <a:off x="2207569" y="996121"/>
              <a:ext cx="0" cy="683562"/>
            </a:xfrm>
            <a:prstGeom prst="line">
              <a:avLst/>
            </a:prstGeom>
            <a:ln cap="flat" w="44246">
              <a:solidFill>
                <a:srgbClr val="000000"/>
              </a:solidFill>
              <a:prstDash val="solid"/>
              <a:headEnd type="none" len="sm" w="sm"/>
              <a:tailEnd type="none" len="sm" w="sm"/>
            </a:ln>
          </p:spPr>
        </p:sp>
        <p:grpSp>
          <p:nvGrpSpPr>
            <p:cNvPr name="Group 9" id="9"/>
            <p:cNvGrpSpPr/>
            <p:nvPr/>
          </p:nvGrpSpPr>
          <p:grpSpPr>
            <a:xfrm rot="0">
              <a:off x="0" y="1351197"/>
              <a:ext cx="4415137" cy="3594370"/>
              <a:chOff x="0" y="0"/>
              <a:chExt cx="1001303" cy="815163"/>
            </a:xfrm>
          </p:grpSpPr>
          <p:sp>
            <p:nvSpPr>
              <p:cNvPr name="Freeform 10" id="10"/>
              <p:cNvSpPr/>
              <p:nvPr/>
            </p:nvSpPr>
            <p:spPr>
              <a:xfrm flipH="false" flipV="false" rot="0">
                <a:off x="0" y="0"/>
                <a:ext cx="1001303" cy="815163"/>
              </a:xfrm>
              <a:custGeom>
                <a:avLst/>
                <a:gdLst/>
                <a:ahLst/>
                <a:cxnLst/>
                <a:rect r="r" b="b" t="t" l="l"/>
                <a:pathLst>
                  <a:path h="815163" w="1001303">
                    <a:moveTo>
                      <a:pt x="57018" y="0"/>
                    </a:moveTo>
                    <a:lnTo>
                      <a:pt x="944285" y="0"/>
                    </a:lnTo>
                    <a:cubicBezTo>
                      <a:pt x="959407" y="0"/>
                      <a:pt x="973910" y="6007"/>
                      <a:pt x="984603" y="16700"/>
                    </a:cubicBezTo>
                    <a:cubicBezTo>
                      <a:pt x="995296" y="27393"/>
                      <a:pt x="1001303" y="41896"/>
                      <a:pt x="1001303" y="57018"/>
                    </a:cubicBezTo>
                    <a:lnTo>
                      <a:pt x="1001303" y="758144"/>
                    </a:lnTo>
                    <a:cubicBezTo>
                      <a:pt x="1001303" y="773266"/>
                      <a:pt x="995296" y="787769"/>
                      <a:pt x="984603" y="798462"/>
                    </a:cubicBezTo>
                    <a:cubicBezTo>
                      <a:pt x="973910" y="809155"/>
                      <a:pt x="959407" y="815163"/>
                      <a:pt x="944285" y="815163"/>
                    </a:cubicBezTo>
                    <a:lnTo>
                      <a:pt x="57018" y="815163"/>
                    </a:lnTo>
                    <a:cubicBezTo>
                      <a:pt x="25528" y="815163"/>
                      <a:pt x="0" y="789635"/>
                      <a:pt x="0" y="758144"/>
                    </a:cubicBezTo>
                    <a:lnTo>
                      <a:pt x="0" y="57018"/>
                    </a:lnTo>
                    <a:cubicBezTo>
                      <a:pt x="0" y="41896"/>
                      <a:pt x="6007" y="27393"/>
                      <a:pt x="16700" y="16700"/>
                    </a:cubicBezTo>
                    <a:cubicBezTo>
                      <a:pt x="27393" y="6007"/>
                      <a:pt x="41896" y="0"/>
                      <a:pt x="57018" y="0"/>
                    </a:cubicBezTo>
                    <a:close/>
                  </a:path>
                </a:pathLst>
              </a:custGeom>
              <a:gradFill rotWithShape="true">
                <a:gsLst>
                  <a:gs pos="0">
                    <a:srgbClr val="EFB4BB">
                      <a:alpha val="100000"/>
                    </a:srgbClr>
                  </a:gs>
                  <a:gs pos="100000">
                    <a:srgbClr val="815978">
                      <a:alpha val="100000"/>
                    </a:srgbClr>
                  </a:gs>
                </a:gsLst>
                <a:path path="circle">
                  <a:fillToRect l="50000" r="50000" t="50000" b="50000"/>
                </a:path>
              </a:gradFill>
            </p:spPr>
          </p:sp>
          <p:sp>
            <p:nvSpPr>
              <p:cNvPr name="TextBox 11" id="11"/>
              <p:cNvSpPr txBox="true"/>
              <p:nvPr/>
            </p:nvSpPr>
            <p:spPr>
              <a:xfrm>
                <a:off x="0" y="-38100"/>
                <a:ext cx="1001303" cy="853263"/>
              </a:xfrm>
              <a:prstGeom prst="rect">
                <a:avLst/>
              </a:prstGeom>
            </p:spPr>
            <p:txBody>
              <a:bodyPr anchor="ctr" rtlCol="false" tIns="50800" lIns="50800" bIns="50800" rIns="50800"/>
              <a:lstStyle/>
              <a:p>
                <a:pPr algn="ctr">
                  <a:lnSpc>
                    <a:spcPts val="2660"/>
                  </a:lnSpc>
                </a:pPr>
              </a:p>
            </p:txBody>
          </p:sp>
        </p:grpSp>
        <p:sp>
          <p:nvSpPr>
            <p:cNvPr name="TextBox 12" id="12"/>
            <p:cNvSpPr txBox="true"/>
            <p:nvPr/>
          </p:nvSpPr>
          <p:spPr>
            <a:xfrm rot="0">
              <a:off x="84266" y="1544347"/>
              <a:ext cx="4330871" cy="3107975"/>
            </a:xfrm>
            <a:prstGeom prst="rect">
              <a:avLst/>
            </a:prstGeom>
          </p:spPr>
          <p:txBody>
            <a:bodyPr anchor="t" rtlCol="false" tIns="0" lIns="0" bIns="0" rIns="0">
              <a:spAutoFit/>
            </a:bodyPr>
            <a:lstStyle/>
            <a:p>
              <a:pPr algn="ctr">
                <a:lnSpc>
                  <a:spcPts val="4378"/>
                </a:lnSpc>
              </a:pPr>
              <a:r>
                <a:rPr lang="en-US" sz="1954" b="true">
                  <a:solidFill>
                    <a:srgbClr val="3B1B4E"/>
                  </a:solidFill>
                  <a:latin typeface="Inter Bold"/>
                  <a:ea typeface="Inter Bold"/>
                  <a:cs typeface="Inter Bold"/>
                  <a:sym typeface="Inter Bold"/>
                </a:rPr>
                <a:t>Mood Based Navigation</a:t>
              </a:r>
            </a:p>
            <a:p>
              <a:pPr algn="ctr">
                <a:lnSpc>
                  <a:spcPts val="3706"/>
                </a:lnSpc>
              </a:pPr>
              <a:r>
                <a:rPr lang="en-US" sz="1654">
                  <a:solidFill>
                    <a:srgbClr val="FFFFFF"/>
                  </a:solidFill>
                  <a:latin typeface="Noto Serif Ethiopic Condensed"/>
                  <a:ea typeface="Noto Serif Ethiopic Condensed"/>
                  <a:cs typeface="Noto Serif Ethiopic Condensed"/>
                  <a:sym typeface="Noto Serif Ethiopic Condensed"/>
                </a:rPr>
                <a:t>Users start with a simple check-in of their current emotional state, allowing for a personalized experience .</a:t>
              </a:r>
            </a:p>
          </p:txBody>
        </p:sp>
        <p:sp>
          <p:nvSpPr>
            <p:cNvPr name="AutoShape 13" id="13"/>
            <p:cNvSpPr/>
            <p:nvPr/>
          </p:nvSpPr>
          <p:spPr>
            <a:xfrm>
              <a:off x="2175274" y="645503"/>
              <a:ext cx="12562740" cy="538"/>
            </a:xfrm>
            <a:prstGeom prst="line">
              <a:avLst/>
            </a:prstGeom>
            <a:ln cap="flat" w="44246">
              <a:solidFill>
                <a:srgbClr val="000000"/>
              </a:solidFill>
              <a:prstDash val="solid"/>
              <a:headEnd type="none" len="sm" w="sm"/>
              <a:tailEnd type="none" len="sm" w="sm"/>
            </a:ln>
          </p:spPr>
        </p:sp>
        <p:sp>
          <p:nvSpPr>
            <p:cNvPr name="AutoShape 14" id="14"/>
            <p:cNvSpPr/>
            <p:nvPr/>
          </p:nvSpPr>
          <p:spPr>
            <a:xfrm>
              <a:off x="8564864" y="764366"/>
              <a:ext cx="0" cy="683562"/>
            </a:xfrm>
            <a:prstGeom prst="line">
              <a:avLst/>
            </a:prstGeom>
            <a:ln cap="flat" w="44246">
              <a:solidFill>
                <a:srgbClr val="000000"/>
              </a:solidFill>
              <a:prstDash val="solid"/>
              <a:headEnd type="none" len="sm" w="sm"/>
              <a:tailEnd type="none" len="sm" w="sm"/>
            </a:ln>
          </p:spPr>
        </p:sp>
        <p:sp>
          <p:nvSpPr>
            <p:cNvPr name="Freeform 15" id="15"/>
            <p:cNvSpPr/>
            <p:nvPr/>
          </p:nvSpPr>
          <p:spPr>
            <a:xfrm flipH="false" flipV="false" rot="0">
              <a:off x="8077933" y="0"/>
              <a:ext cx="973861" cy="973861"/>
            </a:xfrm>
            <a:custGeom>
              <a:avLst/>
              <a:gdLst/>
              <a:ahLst/>
              <a:cxnLst/>
              <a:rect r="r" b="b" t="t" l="l"/>
              <a:pathLst>
                <a:path h="973861" w="973861">
                  <a:moveTo>
                    <a:pt x="0" y="0"/>
                  </a:moveTo>
                  <a:lnTo>
                    <a:pt x="973861" y="0"/>
                  </a:lnTo>
                  <a:lnTo>
                    <a:pt x="973861" y="973861"/>
                  </a:lnTo>
                  <a:lnTo>
                    <a:pt x="0" y="973861"/>
                  </a:lnTo>
                  <a:lnTo>
                    <a:pt x="0" y="0"/>
                  </a:lnTo>
                  <a:close/>
                </a:path>
              </a:pathLst>
            </a:custGeom>
            <a:blipFill>
              <a:blip r:embed="rId2"/>
              <a:stretch>
                <a:fillRect l="0" t="0" r="0" b="0"/>
              </a:stretch>
            </a:blipFill>
          </p:spPr>
        </p:sp>
        <p:sp>
          <p:nvSpPr>
            <p:cNvPr name="AutoShape 16" id="16"/>
            <p:cNvSpPr/>
            <p:nvPr/>
          </p:nvSpPr>
          <p:spPr>
            <a:xfrm>
              <a:off x="12362961" y="5548859"/>
              <a:ext cx="0" cy="683562"/>
            </a:xfrm>
            <a:prstGeom prst="line">
              <a:avLst/>
            </a:prstGeom>
            <a:ln cap="flat" w="44246">
              <a:solidFill>
                <a:srgbClr val="000000"/>
              </a:solidFill>
              <a:prstDash val="solid"/>
              <a:headEnd type="none" len="sm" w="sm"/>
              <a:tailEnd type="none" len="sm" w="sm"/>
            </a:ln>
          </p:spPr>
        </p:sp>
        <p:sp>
          <p:nvSpPr>
            <p:cNvPr name="AutoShape 17" id="17"/>
            <p:cNvSpPr/>
            <p:nvPr/>
          </p:nvSpPr>
          <p:spPr>
            <a:xfrm>
              <a:off x="5275820" y="5342679"/>
              <a:ext cx="7551948" cy="0"/>
            </a:xfrm>
            <a:prstGeom prst="line">
              <a:avLst/>
            </a:prstGeom>
            <a:ln cap="flat" w="44246">
              <a:solidFill>
                <a:srgbClr val="000000"/>
              </a:solidFill>
              <a:prstDash val="solid"/>
              <a:headEnd type="none" len="sm" w="sm"/>
              <a:tailEnd type="none" len="sm" w="sm"/>
            </a:ln>
          </p:spPr>
        </p:sp>
        <p:sp>
          <p:nvSpPr>
            <p:cNvPr name="Freeform 18" id="18"/>
            <p:cNvSpPr/>
            <p:nvPr/>
          </p:nvSpPr>
          <p:spPr>
            <a:xfrm flipH="false" flipV="false" rot="0">
              <a:off x="11853907" y="4855748"/>
              <a:ext cx="973861" cy="973861"/>
            </a:xfrm>
            <a:custGeom>
              <a:avLst/>
              <a:gdLst/>
              <a:ahLst/>
              <a:cxnLst/>
              <a:rect r="r" b="b" t="t" l="l"/>
              <a:pathLst>
                <a:path h="973861" w="973861">
                  <a:moveTo>
                    <a:pt x="0" y="0"/>
                  </a:moveTo>
                  <a:lnTo>
                    <a:pt x="973861" y="0"/>
                  </a:lnTo>
                  <a:lnTo>
                    <a:pt x="973861" y="973861"/>
                  </a:lnTo>
                  <a:lnTo>
                    <a:pt x="0" y="973861"/>
                  </a:lnTo>
                  <a:lnTo>
                    <a:pt x="0" y="0"/>
                  </a:lnTo>
                  <a:close/>
                </a:path>
              </a:pathLst>
            </a:custGeom>
            <a:blipFill>
              <a:blip r:embed="rId2"/>
              <a:stretch>
                <a:fillRect l="0" t="0" r="0" b="0"/>
              </a:stretch>
            </a:blipFill>
          </p:spPr>
        </p:sp>
        <p:sp>
          <p:nvSpPr>
            <p:cNvPr name="AutoShape 19" id="19"/>
            <p:cNvSpPr/>
            <p:nvPr/>
          </p:nvSpPr>
          <p:spPr>
            <a:xfrm>
              <a:off x="5108000" y="5376623"/>
              <a:ext cx="0" cy="683562"/>
            </a:xfrm>
            <a:prstGeom prst="line">
              <a:avLst/>
            </a:prstGeom>
            <a:ln cap="flat" w="44246">
              <a:solidFill>
                <a:srgbClr val="000000"/>
              </a:solidFill>
              <a:prstDash val="solid"/>
              <a:headEnd type="none" len="sm" w="sm"/>
              <a:tailEnd type="none" len="sm" w="sm"/>
            </a:ln>
          </p:spPr>
        </p:sp>
        <p:sp>
          <p:nvSpPr>
            <p:cNvPr name="Freeform 20" id="20"/>
            <p:cNvSpPr/>
            <p:nvPr/>
          </p:nvSpPr>
          <p:spPr>
            <a:xfrm flipH="false" flipV="false" rot="0">
              <a:off x="4621069" y="4855748"/>
              <a:ext cx="973861" cy="973861"/>
            </a:xfrm>
            <a:custGeom>
              <a:avLst/>
              <a:gdLst/>
              <a:ahLst/>
              <a:cxnLst/>
              <a:rect r="r" b="b" t="t" l="l"/>
              <a:pathLst>
                <a:path h="973861" w="973861">
                  <a:moveTo>
                    <a:pt x="0" y="0"/>
                  </a:moveTo>
                  <a:lnTo>
                    <a:pt x="973861" y="0"/>
                  </a:lnTo>
                  <a:lnTo>
                    <a:pt x="973861" y="973861"/>
                  </a:lnTo>
                  <a:lnTo>
                    <a:pt x="0" y="973861"/>
                  </a:lnTo>
                  <a:lnTo>
                    <a:pt x="0" y="0"/>
                  </a:lnTo>
                  <a:close/>
                </a:path>
              </a:pathLst>
            </a:custGeom>
            <a:blipFill>
              <a:blip r:embed="rId3"/>
              <a:stretch>
                <a:fillRect l="0" t="0" r="0" b="0"/>
              </a:stretch>
            </a:blipFill>
          </p:spPr>
        </p:sp>
        <p:sp>
          <p:nvSpPr>
            <p:cNvPr name="AutoShape 21" id="21"/>
            <p:cNvSpPr/>
            <p:nvPr/>
          </p:nvSpPr>
          <p:spPr>
            <a:xfrm>
              <a:off x="14760137" y="825840"/>
              <a:ext cx="0" cy="683562"/>
            </a:xfrm>
            <a:prstGeom prst="line">
              <a:avLst/>
            </a:prstGeom>
            <a:ln cap="flat" w="44246">
              <a:solidFill>
                <a:srgbClr val="000000"/>
              </a:solidFill>
              <a:prstDash val="solid"/>
              <a:headEnd type="none" len="sm" w="sm"/>
              <a:tailEnd type="none" len="sm" w="sm"/>
            </a:ln>
          </p:spPr>
        </p:sp>
        <p:sp>
          <p:nvSpPr>
            <p:cNvPr name="Freeform 22" id="22"/>
            <p:cNvSpPr/>
            <p:nvPr/>
          </p:nvSpPr>
          <p:spPr>
            <a:xfrm flipH="false" flipV="false" rot="0">
              <a:off x="14251084" y="22260"/>
              <a:ext cx="973861" cy="973861"/>
            </a:xfrm>
            <a:custGeom>
              <a:avLst/>
              <a:gdLst/>
              <a:ahLst/>
              <a:cxnLst/>
              <a:rect r="r" b="b" t="t" l="l"/>
              <a:pathLst>
                <a:path h="973861" w="973861">
                  <a:moveTo>
                    <a:pt x="0" y="0"/>
                  </a:moveTo>
                  <a:lnTo>
                    <a:pt x="973861" y="0"/>
                  </a:lnTo>
                  <a:lnTo>
                    <a:pt x="973861" y="973861"/>
                  </a:lnTo>
                  <a:lnTo>
                    <a:pt x="0" y="973861"/>
                  </a:lnTo>
                  <a:lnTo>
                    <a:pt x="0" y="0"/>
                  </a:lnTo>
                  <a:close/>
                </a:path>
              </a:pathLst>
            </a:custGeom>
            <a:blipFill>
              <a:blip r:embed="rId3"/>
              <a:stretch>
                <a:fillRect l="0" t="0" r="0" b="0"/>
              </a:stretch>
            </a:blipFill>
          </p:spPr>
        </p:sp>
        <p:sp>
          <p:nvSpPr>
            <p:cNvPr name="Freeform 23" id="23"/>
            <p:cNvSpPr/>
            <p:nvPr/>
          </p:nvSpPr>
          <p:spPr>
            <a:xfrm flipH="false" flipV="false" rot="0">
              <a:off x="1720638" y="75690"/>
              <a:ext cx="973861" cy="973861"/>
            </a:xfrm>
            <a:custGeom>
              <a:avLst/>
              <a:gdLst/>
              <a:ahLst/>
              <a:cxnLst/>
              <a:rect r="r" b="b" t="t" l="l"/>
              <a:pathLst>
                <a:path h="973861" w="973861">
                  <a:moveTo>
                    <a:pt x="0" y="0"/>
                  </a:moveTo>
                  <a:lnTo>
                    <a:pt x="973861" y="0"/>
                  </a:lnTo>
                  <a:lnTo>
                    <a:pt x="973861" y="973861"/>
                  </a:lnTo>
                  <a:lnTo>
                    <a:pt x="0" y="973861"/>
                  </a:lnTo>
                  <a:lnTo>
                    <a:pt x="0" y="0"/>
                  </a:lnTo>
                  <a:close/>
                </a:path>
              </a:pathLst>
            </a:custGeom>
            <a:blipFill>
              <a:blip r:embed="rId4"/>
              <a:stretch>
                <a:fillRect l="0" t="0" r="0" b="0"/>
              </a:stretch>
            </a:blipFill>
          </p:spPr>
        </p:sp>
        <p:sp>
          <p:nvSpPr>
            <p:cNvPr name="AutoShape 24" id="24"/>
            <p:cNvSpPr/>
            <p:nvPr/>
          </p:nvSpPr>
          <p:spPr>
            <a:xfrm flipH="true">
              <a:off x="3408911" y="6094254"/>
              <a:ext cx="13079" cy="653208"/>
            </a:xfrm>
            <a:prstGeom prst="line">
              <a:avLst/>
            </a:prstGeom>
            <a:ln cap="flat" w="44246">
              <a:solidFill>
                <a:srgbClr val="000000"/>
              </a:solidFill>
              <a:prstDash val="solid"/>
              <a:headEnd type="none" len="sm" w="sm"/>
              <a:tailEnd type="none" len="sm" w="sm"/>
            </a:ln>
          </p:spPr>
        </p:sp>
        <p:grpSp>
          <p:nvGrpSpPr>
            <p:cNvPr name="Group 25" id="25"/>
            <p:cNvGrpSpPr/>
            <p:nvPr/>
          </p:nvGrpSpPr>
          <p:grpSpPr>
            <a:xfrm rot="0">
              <a:off x="2900431" y="6060185"/>
              <a:ext cx="4415137" cy="3193735"/>
              <a:chOff x="0" y="0"/>
              <a:chExt cx="1001303" cy="724303"/>
            </a:xfrm>
          </p:grpSpPr>
          <p:sp>
            <p:nvSpPr>
              <p:cNvPr name="Freeform 26" id="26"/>
              <p:cNvSpPr/>
              <p:nvPr/>
            </p:nvSpPr>
            <p:spPr>
              <a:xfrm flipH="false" flipV="false" rot="0">
                <a:off x="0" y="0"/>
                <a:ext cx="1001303" cy="724303"/>
              </a:xfrm>
              <a:custGeom>
                <a:avLst/>
                <a:gdLst/>
                <a:ahLst/>
                <a:cxnLst/>
                <a:rect r="r" b="b" t="t" l="l"/>
                <a:pathLst>
                  <a:path h="724303" w="1001303">
                    <a:moveTo>
                      <a:pt x="57018" y="0"/>
                    </a:moveTo>
                    <a:lnTo>
                      <a:pt x="944285" y="0"/>
                    </a:lnTo>
                    <a:cubicBezTo>
                      <a:pt x="959407" y="0"/>
                      <a:pt x="973910" y="6007"/>
                      <a:pt x="984603" y="16700"/>
                    </a:cubicBezTo>
                    <a:cubicBezTo>
                      <a:pt x="995296" y="27393"/>
                      <a:pt x="1001303" y="41896"/>
                      <a:pt x="1001303" y="57018"/>
                    </a:cubicBezTo>
                    <a:lnTo>
                      <a:pt x="1001303" y="667285"/>
                    </a:lnTo>
                    <a:cubicBezTo>
                      <a:pt x="1001303" y="698775"/>
                      <a:pt x="975775" y="724303"/>
                      <a:pt x="944285" y="724303"/>
                    </a:cubicBezTo>
                    <a:lnTo>
                      <a:pt x="57018" y="724303"/>
                    </a:lnTo>
                    <a:cubicBezTo>
                      <a:pt x="41896" y="724303"/>
                      <a:pt x="27393" y="718296"/>
                      <a:pt x="16700" y="707603"/>
                    </a:cubicBezTo>
                    <a:cubicBezTo>
                      <a:pt x="6007" y="696910"/>
                      <a:pt x="0" y="682407"/>
                      <a:pt x="0" y="667285"/>
                    </a:cubicBezTo>
                    <a:lnTo>
                      <a:pt x="0" y="57018"/>
                    </a:lnTo>
                    <a:cubicBezTo>
                      <a:pt x="0" y="41896"/>
                      <a:pt x="6007" y="27393"/>
                      <a:pt x="16700" y="16700"/>
                    </a:cubicBezTo>
                    <a:cubicBezTo>
                      <a:pt x="27393" y="6007"/>
                      <a:pt x="41896" y="0"/>
                      <a:pt x="57018" y="0"/>
                    </a:cubicBezTo>
                    <a:close/>
                  </a:path>
                </a:pathLst>
              </a:custGeom>
              <a:gradFill rotWithShape="true">
                <a:gsLst>
                  <a:gs pos="0">
                    <a:srgbClr val="EFB4BB">
                      <a:alpha val="100000"/>
                    </a:srgbClr>
                  </a:gs>
                  <a:gs pos="100000">
                    <a:srgbClr val="815978">
                      <a:alpha val="100000"/>
                    </a:srgbClr>
                  </a:gs>
                </a:gsLst>
                <a:path path="circle">
                  <a:fillToRect l="50000" r="50000" t="50000" b="50000"/>
                </a:path>
              </a:gradFill>
            </p:spPr>
          </p:sp>
          <p:sp>
            <p:nvSpPr>
              <p:cNvPr name="TextBox 27" id="27"/>
              <p:cNvSpPr txBox="true"/>
              <p:nvPr/>
            </p:nvSpPr>
            <p:spPr>
              <a:xfrm>
                <a:off x="0" y="-38100"/>
                <a:ext cx="1001303" cy="762403"/>
              </a:xfrm>
              <a:prstGeom prst="rect">
                <a:avLst/>
              </a:prstGeom>
            </p:spPr>
            <p:txBody>
              <a:bodyPr anchor="ctr" rtlCol="false" tIns="50800" lIns="50800" bIns="50800" rIns="50800"/>
              <a:lstStyle/>
              <a:p>
                <a:pPr algn="ctr">
                  <a:lnSpc>
                    <a:spcPts val="2660"/>
                  </a:lnSpc>
                </a:pPr>
              </a:p>
            </p:txBody>
          </p:sp>
        </p:grpSp>
        <p:sp>
          <p:nvSpPr>
            <p:cNvPr name="TextBox 28" id="28"/>
            <p:cNvSpPr txBox="true"/>
            <p:nvPr/>
          </p:nvSpPr>
          <p:spPr>
            <a:xfrm rot="0">
              <a:off x="3266512" y="6462982"/>
              <a:ext cx="3682975" cy="2522349"/>
            </a:xfrm>
            <a:prstGeom prst="rect">
              <a:avLst/>
            </a:prstGeom>
          </p:spPr>
          <p:txBody>
            <a:bodyPr anchor="t" rtlCol="false" tIns="0" lIns="0" bIns="0" rIns="0">
              <a:spAutoFit/>
            </a:bodyPr>
            <a:lstStyle/>
            <a:p>
              <a:pPr algn="ctr">
                <a:lnSpc>
                  <a:spcPts val="3822"/>
                </a:lnSpc>
              </a:pPr>
              <a:r>
                <a:rPr lang="en-US" sz="1706" b="true">
                  <a:solidFill>
                    <a:srgbClr val="3B1B4E"/>
                  </a:solidFill>
                  <a:latin typeface="Inter Bold"/>
                  <a:ea typeface="Inter Bold"/>
                  <a:cs typeface="Inter Bold"/>
                  <a:sym typeface="Inter Bold"/>
                </a:rPr>
                <a:t>Accessible and Inclusive</a:t>
              </a:r>
            </a:p>
            <a:p>
              <a:pPr algn="ctr">
                <a:lnSpc>
                  <a:spcPts val="2926"/>
                </a:lnSpc>
              </a:pPr>
              <a:r>
                <a:rPr lang="en-US" sz="1306">
                  <a:solidFill>
                    <a:srgbClr val="FFFFFF"/>
                  </a:solidFill>
                  <a:latin typeface="Noto Serif Ethiopic Condensed"/>
                  <a:ea typeface="Noto Serif Ethiopic Condensed"/>
                  <a:cs typeface="Noto Serif Ethiopic Condensed"/>
                  <a:sym typeface="Noto Serif Ethiopic Condensed"/>
                </a:rPr>
                <a:t>The design follows WCAG standards with readable typography, calming visuals, and intuitive interactions for incusivity.</a:t>
              </a:r>
            </a:p>
          </p:txBody>
        </p:sp>
        <p:grpSp>
          <p:nvGrpSpPr>
            <p:cNvPr name="Group 29" id="29"/>
            <p:cNvGrpSpPr/>
            <p:nvPr/>
          </p:nvGrpSpPr>
          <p:grpSpPr>
            <a:xfrm rot="0">
              <a:off x="12675025" y="1350091"/>
              <a:ext cx="4415137" cy="3594370"/>
              <a:chOff x="0" y="0"/>
              <a:chExt cx="1001303" cy="815163"/>
            </a:xfrm>
          </p:grpSpPr>
          <p:sp>
            <p:nvSpPr>
              <p:cNvPr name="Freeform 30" id="30"/>
              <p:cNvSpPr/>
              <p:nvPr/>
            </p:nvSpPr>
            <p:spPr>
              <a:xfrm flipH="false" flipV="false" rot="0">
                <a:off x="0" y="0"/>
                <a:ext cx="1001303" cy="815163"/>
              </a:xfrm>
              <a:custGeom>
                <a:avLst/>
                <a:gdLst/>
                <a:ahLst/>
                <a:cxnLst/>
                <a:rect r="r" b="b" t="t" l="l"/>
                <a:pathLst>
                  <a:path h="815163" w="1001303">
                    <a:moveTo>
                      <a:pt x="57018" y="0"/>
                    </a:moveTo>
                    <a:lnTo>
                      <a:pt x="944285" y="0"/>
                    </a:lnTo>
                    <a:cubicBezTo>
                      <a:pt x="959407" y="0"/>
                      <a:pt x="973910" y="6007"/>
                      <a:pt x="984603" y="16700"/>
                    </a:cubicBezTo>
                    <a:cubicBezTo>
                      <a:pt x="995296" y="27393"/>
                      <a:pt x="1001303" y="41896"/>
                      <a:pt x="1001303" y="57018"/>
                    </a:cubicBezTo>
                    <a:lnTo>
                      <a:pt x="1001303" y="758144"/>
                    </a:lnTo>
                    <a:cubicBezTo>
                      <a:pt x="1001303" y="773266"/>
                      <a:pt x="995296" y="787769"/>
                      <a:pt x="984603" y="798462"/>
                    </a:cubicBezTo>
                    <a:cubicBezTo>
                      <a:pt x="973910" y="809155"/>
                      <a:pt x="959407" y="815163"/>
                      <a:pt x="944285" y="815163"/>
                    </a:cubicBezTo>
                    <a:lnTo>
                      <a:pt x="57018" y="815163"/>
                    </a:lnTo>
                    <a:cubicBezTo>
                      <a:pt x="25528" y="815163"/>
                      <a:pt x="0" y="789635"/>
                      <a:pt x="0" y="758144"/>
                    </a:cubicBezTo>
                    <a:lnTo>
                      <a:pt x="0" y="57018"/>
                    </a:lnTo>
                    <a:cubicBezTo>
                      <a:pt x="0" y="41896"/>
                      <a:pt x="6007" y="27393"/>
                      <a:pt x="16700" y="16700"/>
                    </a:cubicBezTo>
                    <a:cubicBezTo>
                      <a:pt x="27393" y="6007"/>
                      <a:pt x="41896" y="0"/>
                      <a:pt x="57018" y="0"/>
                    </a:cubicBezTo>
                    <a:close/>
                  </a:path>
                </a:pathLst>
              </a:custGeom>
              <a:gradFill rotWithShape="true">
                <a:gsLst>
                  <a:gs pos="0">
                    <a:srgbClr val="EFB4BB">
                      <a:alpha val="100000"/>
                    </a:srgbClr>
                  </a:gs>
                  <a:gs pos="100000">
                    <a:srgbClr val="815978">
                      <a:alpha val="100000"/>
                    </a:srgbClr>
                  </a:gs>
                </a:gsLst>
                <a:path path="circle">
                  <a:fillToRect l="50000" r="50000" t="50000" b="50000"/>
                </a:path>
              </a:gradFill>
            </p:spPr>
          </p:sp>
          <p:sp>
            <p:nvSpPr>
              <p:cNvPr name="TextBox 31" id="31"/>
              <p:cNvSpPr txBox="true"/>
              <p:nvPr/>
            </p:nvSpPr>
            <p:spPr>
              <a:xfrm>
                <a:off x="0" y="-38100"/>
                <a:ext cx="1001303" cy="853263"/>
              </a:xfrm>
              <a:prstGeom prst="rect">
                <a:avLst/>
              </a:prstGeom>
            </p:spPr>
            <p:txBody>
              <a:bodyPr anchor="ctr" rtlCol="false" tIns="50800" lIns="50800" bIns="50800" rIns="50800"/>
              <a:lstStyle/>
              <a:p>
                <a:pPr algn="ctr">
                  <a:lnSpc>
                    <a:spcPts val="2660"/>
                  </a:lnSpc>
                </a:pPr>
              </a:p>
            </p:txBody>
          </p:sp>
        </p:grpSp>
        <p:sp>
          <p:nvSpPr>
            <p:cNvPr name="TextBox 32" id="32"/>
            <p:cNvSpPr txBox="true"/>
            <p:nvPr/>
          </p:nvSpPr>
          <p:spPr>
            <a:xfrm rot="0">
              <a:off x="12819122" y="1948831"/>
              <a:ext cx="4126942" cy="2578596"/>
            </a:xfrm>
            <a:prstGeom prst="rect">
              <a:avLst/>
            </a:prstGeom>
          </p:spPr>
          <p:txBody>
            <a:bodyPr anchor="t" rtlCol="false" tIns="0" lIns="0" bIns="0" rIns="0">
              <a:spAutoFit/>
            </a:bodyPr>
            <a:lstStyle/>
            <a:p>
              <a:pPr algn="ctr">
                <a:lnSpc>
                  <a:spcPts val="3569"/>
                </a:lnSpc>
              </a:pPr>
              <a:r>
                <a:rPr lang="en-US" sz="1593" b="true">
                  <a:solidFill>
                    <a:srgbClr val="3B1B4E"/>
                  </a:solidFill>
                  <a:latin typeface="Inter Bold"/>
                  <a:ea typeface="Inter Bold"/>
                  <a:cs typeface="Inter Bold"/>
                  <a:sym typeface="Inter Bold"/>
                </a:rPr>
                <a:t>Trust and Privacy Emphasized</a:t>
              </a:r>
            </a:p>
            <a:p>
              <a:pPr algn="ctr">
                <a:lnSpc>
                  <a:spcPts val="3121"/>
                </a:lnSpc>
              </a:pPr>
              <a:r>
                <a:rPr lang="en-US" sz="1393">
                  <a:solidFill>
                    <a:srgbClr val="FFFFFF"/>
                  </a:solidFill>
                  <a:latin typeface="Noto Serif Ethiopic Condensed"/>
                  <a:ea typeface="Noto Serif Ethiopic Condensed"/>
                  <a:cs typeface="Noto Serif Ethiopic Condensed"/>
                  <a:sym typeface="Noto Serif Ethiopic Condensed"/>
                </a:rPr>
                <a:t>Communication around privacy is clear, there are options for anonymity and clear communication on how thier data is handeled </a:t>
              </a:r>
            </a:p>
          </p:txBody>
        </p:sp>
        <p:sp>
          <p:nvSpPr>
            <p:cNvPr name="AutoShape 33" id="33"/>
            <p:cNvSpPr/>
            <p:nvPr/>
          </p:nvSpPr>
          <p:spPr>
            <a:xfrm flipH="true">
              <a:off x="13559005" y="6100018"/>
              <a:ext cx="13079" cy="653208"/>
            </a:xfrm>
            <a:prstGeom prst="line">
              <a:avLst/>
            </a:prstGeom>
            <a:ln cap="flat" w="44246">
              <a:solidFill>
                <a:srgbClr val="000000"/>
              </a:solidFill>
              <a:prstDash val="solid"/>
              <a:headEnd type="none" len="sm" w="sm"/>
              <a:tailEnd type="none" len="sm" w="sm"/>
            </a:ln>
          </p:spPr>
        </p:sp>
        <p:grpSp>
          <p:nvGrpSpPr>
            <p:cNvPr name="Group 34" id="34"/>
            <p:cNvGrpSpPr/>
            <p:nvPr/>
          </p:nvGrpSpPr>
          <p:grpSpPr>
            <a:xfrm rot="0">
              <a:off x="10038285" y="6060185"/>
              <a:ext cx="4415137" cy="3052335"/>
              <a:chOff x="0" y="0"/>
              <a:chExt cx="1001303" cy="692235"/>
            </a:xfrm>
          </p:grpSpPr>
          <p:sp>
            <p:nvSpPr>
              <p:cNvPr name="Freeform 35" id="35"/>
              <p:cNvSpPr/>
              <p:nvPr/>
            </p:nvSpPr>
            <p:spPr>
              <a:xfrm flipH="false" flipV="false" rot="0">
                <a:off x="0" y="0"/>
                <a:ext cx="1001303" cy="692235"/>
              </a:xfrm>
              <a:custGeom>
                <a:avLst/>
                <a:gdLst/>
                <a:ahLst/>
                <a:cxnLst/>
                <a:rect r="r" b="b" t="t" l="l"/>
                <a:pathLst>
                  <a:path h="692235" w="1001303">
                    <a:moveTo>
                      <a:pt x="57018" y="0"/>
                    </a:moveTo>
                    <a:lnTo>
                      <a:pt x="944285" y="0"/>
                    </a:lnTo>
                    <a:cubicBezTo>
                      <a:pt x="959407" y="0"/>
                      <a:pt x="973910" y="6007"/>
                      <a:pt x="984603" y="16700"/>
                    </a:cubicBezTo>
                    <a:cubicBezTo>
                      <a:pt x="995296" y="27393"/>
                      <a:pt x="1001303" y="41896"/>
                      <a:pt x="1001303" y="57018"/>
                    </a:cubicBezTo>
                    <a:lnTo>
                      <a:pt x="1001303" y="635217"/>
                    </a:lnTo>
                    <a:cubicBezTo>
                      <a:pt x="1001303" y="666707"/>
                      <a:pt x="975775" y="692235"/>
                      <a:pt x="944285" y="692235"/>
                    </a:cubicBezTo>
                    <a:lnTo>
                      <a:pt x="57018" y="692235"/>
                    </a:lnTo>
                    <a:cubicBezTo>
                      <a:pt x="41896" y="692235"/>
                      <a:pt x="27393" y="686228"/>
                      <a:pt x="16700" y="675535"/>
                    </a:cubicBezTo>
                    <a:cubicBezTo>
                      <a:pt x="6007" y="664842"/>
                      <a:pt x="0" y="650339"/>
                      <a:pt x="0" y="635217"/>
                    </a:cubicBezTo>
                    <a:lnTo>
                      <a:pt x="0" y="57018"/>
                    </a:lnTo>
                    <a:cubicBezTo>
                      <a:pt x="0" y="41896"/>
                      <a:pt x="6007" y="27393"/>
                      <a:pt x="16700" y="16700"/>
                    </a:cubicBezTo>
                    <a:cubicBezTo>
                      <a:pt x="27393" y="6007"/>
                      <a:pt x="41896" y="0"/>
                      <a:pt x="57018" y="0"/>
                    </a:cubicBezTo>
                    <a:close/>
                  </a:path>
                </a:pathLst>
              </a:custGeom>
              <a:gradFill rotWithShape="true">
                <a:gsLst>
                  <a:gs pos="0">
                    <a:srgbClr val="EFB4BB">
                      <a:alpha val="100000"/>
                    </a:srgbClr>
                  </a:gs>
                  <a:gs pos="100000">
                    <a:srgbClr val="815978">
                      <a:alpha val="100000"/>
                    </a:srgbClr>
                  </a:gs>
                </a:gsLst>
                <a:path path="circle">
                  <a:fillToRect l="50000" r="50000" t="50000" b="50000"/>
                </a:path>
              </a:gradFill>
            </p:spPr>
          </p:sp>
          <p:sp>
            <p:nvSpPr>
              <p:cNvPr name="TextBox 36" id="36"/>
              <p:cNvSpPr txBox="true"/>
              <p:nvPr/>
            </p:nvSpPr>
            <p:spPr>
              <a:xfrm>
                <a:off x="0" y="-38100"/>
                <a:ext cx="1001303" cy="730335"/>
              </a:xfrm>
              <a:prstGeom prst="rect">
                <a:avLst/>
              </a:prstGeom>
            </p:spPr>
            <p:txBody>
              <a:bodyPr anchor="ctr" rtlCol="false" tIns="50800" lIns="50800" bIns="50800" rIns="50800"/>
              <a:lstStyle/>
              <a:p>
                <a:pPr algn="ctr">
                  <a:lnSpc>
                    <a:spcPts val="2660"/>
                  </a:lnSpc>
                </a:pPr>
              </a:p>
            </p:txBody>
          </p:sp>
        </p:grpSp>
        <p:sp>
          <p:nvSpPr>
            <p:cNvPr name="TextBox 37" id="37"/>
            <p:cNvSpPr txBox="true"/>
            <p:nvPr/>
          </p:nvSpPr>
          <p:spPr>
            <a:xfrm rot="0">
              <a:off x="10427582" y="6516873"/>
              <a:ext cx="3636544" cy="2019076"/>
            </a:xfrm>
            <a:prstGeom prst="rect">
              <a:avLst/>
            </a:prstGeom>
          </p:spPr>
          <p:txBody>
            <a:bodyPr anchor="t" rtlCol="false" tIns="0" lIns="0" bIns="0" rIns="0">
              <a:spAutoFit/>
            </a:bodyPr>
            <a:lstStyle/>
            <a:p>
              <a:pPr algn="ctr">
                <a:lnSpc>
                  <a:spcPts val="3345"/>
                </a:lnSpc>
              </a:pPr>
              <a:r>
                <a:rPr lang="en-US" sz="1493" b="true">
                  <a:solidFill>
                    <a:srgbClr val="3B1B4E"/>
                  </a:solidFill>
                  <a:latin typeface="Inter Bold"/>
                  <a:ea typeface="Inter Bold"/>
                  <a:cs typeface="Inter Bold"/>
                  <a:sym typeface="Inter Bold"/>
                </a:rPr>
                <a:t>Structured support systems</a:t>
              </a:r>
            </a:p>
            <a:p>
              <a:pPr algn="ctr">
                <a:lnSpc>
                  <a:spcPts val="3121"/>
                </a:lnSpc>
              </a:pPr>
              <a:r>
                <a:rPr lang="en-US" sz="1393">
                  <a:solidFill>
                    <a:srgbClr val="FFFFFF"/>
                  </a:solidFill>
                  <a:latin typeface="Noto Serif Ethiopic Condensed"/>
                  <a:ea typeface="Noto Serif Ethiopic Condensed"/>
                  <a:cs typeface="Noto Serif Ethiopic Condensed"/>
                  <a:sym typeface="Noto Serif Ethiopic Condensed"/>
                </a:rPr>
                <a:t>Guided tools like my journal, grounding exercises, a variety of learning paths.</a:t>
              </a:r>
            </a:p>
          </p:txBody>
        </p:sp>
        <p:grpSp>
          <p:nvGrpSpPr>
            <p:cNvPr name="Group 38" id="38"/>
            <p:cNvGrpSpPr/>
            <p:nvPr/>
          </p:nvGrpSpPr>
          <p:grpSpPr>
            <a:xfrm rot="0">
              <a:off x="6335172" y="1447928"/>
              <a:ext cx="4415137" cy="2994797"/>
              <a:chOff x="0" y="0"/>
              <a:chExt cx="1001303" cy="679186"/>
            </a:xfrm>
          </p:grpSpPr>
          <p:sp>
            <p:nvSpPr>
              <p:cNvPr name="Freeform 39" id="39"/>
              <p:cNvSpPr/>
              <p:nvPr/>
            </p:nvSpPr>
            <p:spPr>
              <a:xfrm flipH="false" flipV="false" rot="0">
                <a:off x="0" y="0"/>
                <a:ext cx="1001303" cy="679186"/>
              </a:xfrm>
              <a:custGeom>
                <a:avLst/>
                <a:gdLst/>
                <a:ahLst/>
                <a:cxnLst/>
                <a:rect r="r" b="b" t="t" l="l"/>
                <a:pathLst>
                  <a:path h="679186" w="1001303">
                    <a:moveTo>
                      <a:pt x="57018" y="0"/>
                    </a:moveTo>
                    <a:lnTo>
                      <a:pt x="944285" y="0"/>
                    </a:lnTo>
                    <a:cubicBezTo>
                      <a:pt x="959407" y="0"/>
                      <a:pt x="973910" y="6007"/>
                      <a:pt x="984603" y="16700"/>
                    </a:cubicBezTo>
                    <a:cubicBezTo>
                      <a:pt x="995296" y="27393"/>
                      <a:pt x="1001303" y="41896"/>
                      <a:pt x="1001303" y="57018"/>
                    </a:cubicBezTo>
                    <a:lnTo>
                      <a:pt x="1001303" y="622168"/>
                    </a:lnTo>
                    <a:cubicBezTo>
                      <a:pt x="1001303" y="653658"/>
                      <a:pt x="975775" y="679186"/>
                      <a:pt x="944285" y="679186"/>
                    </a:cubicBezTo>
                    <a:lnTo>
                      <a:pt x="57018" y="679186"/>
                    </a:lnTo>
                    <a:cubicBezTo>
                      <a:pt x="41896" y="679186"/>
                      <a:pt x="27393" y="673179"/>
                      <a:pt x="16700" y="662486"/>
                    </a:cubicBezTo>
                    <a:cubicBezTo>
                      <a:pt x="6007" y="651793"/>
                      <a:pt x="0" y="637290"/>
                      <a:pt x="0" y="622168"/>
                    </a:cubicBezTo>
                    <a:lnTo>
                      <a:pt x="0" y="57018"/>
                    </a:lnTo>
                    <a:cubicBezTo>
                      <a:pt x="0" y="41896"/>
                      <a:pt x="6007" y="27393"/>
                      <a:pt x="16700" y="16700"/>
                    </a:cubicBezTo>
                    <a:cubicBezTo>
                      <a:pt x="27393" y="6007"/>
                      <a:pt x="41896" y="0"/>
                      <a:pt x="57018" y="0"/>
                    </a:cubicBezTo>
                    <a:close/>
                  </a:path>
                </a:pathLst>
              </a:custGeom>
              <a:gradFill rotWithShape="true">
                <a:gsLst>
                  <a:gs pos="0">
                    <a:srgbClr val="EFB4BB">
                      <a:alpha val="100000"/>
                    </a:srgbClr>
                  </a:gs>
                  <a:gs pos="100000">
                    <a:srgbClr val="815978">
                      <a:alpha val="100000"/>
                    </a:srgbClr>
                  </a:gs>
                </a:gsLst>
                <a:path path="circle">
                  <a:fillToRect l="50000" r="50000" t="50000" b="50000"/>
                </a:path>
              </a:gradFill>
            </p:spPr>
          </p:sp>
          <p:sp>
            <p:nvSpPr>
              <p:cNvPr name="TextBox 40" id="40"/>
              <p:cNvSpPr txBox="true"/>
              <p:nvPr/>
            </p:nvSpPr>
            <p:spPr>
              <a:xfrm>
                <a:off x="0" y="-38100"/>
                <a:ext cx="1001303" cy="717286"/>
              </a:xfrm>
              <a:prstGeom prst="rect">
                <a:avLst/>
              </a:prstGeom>
            </p:spPr>
            <p:txBody>
              <a:bodyPr anchor="ctr" rtlCol="false" tIns="50800" lIns="50800" bIns="50800" rIns="50800"/>
              <a:lstStyle/>
              <a:p>
                <a:pPr algn="ctr">
                  <a:lnSpc>
                    <a:spcPts val="2660"/>
                  </a:lnSpc>
                </a:pPr>
              </a:p>
            </p:txBody>
          </p:sp>
        </p:grpSp>
        <p:sp>
          <p:nvSpPr>
            <p:cNvPr name="TextBox 41" id="41"/>
            <p:cNvSpPr txBox="true"/>
            <p:nvPr/>
          </p:nvSpPr>
          <p:spPr>
            <a:xfrm rot="0">
              <a:off x="6737710" y="2068272"/>
              <a:ext cx="3614741" cy="2192685"/>
            </a:xfrm>
            <a:prstGeom prst="rect">
              <a:avLst/>
            </a:prstGeom>
          </p:spPr>
          <p:txBody>
            <a:bodyPr anchor="t" rtlCol="false" tIns="0" lIns="0" bIns="0" rIns="0">
              <a:spAutoFit/>
            </a:bodyPr>
            <a:lstStyle/>
            <a:p>
              <a:pPr algn="ctr">
                <a:lnSpc>
                  <a:spcPts val="3793"/>
                </a:lnSpc>
              </a:pPr>
              <a:r>
                <a:rPr lang="en-US" sz="1693" b="true">
                  <a:solidFill>
                    <a:srgbClr val="3B1B4E"/>
                  </a:solidFill>
                  <a:latin typeface="Inter Bold"/>
                  <a:ea typeface="Inter Bold"/>
                  <a:cs typeface="Inter Bold"/>
                  <a:sym typeface="Inter Bold"/>
                </a:rPr>
                <a:t>Cognitive Load Reduction </a:t>
              </a:r>
            </a:p>
            <a:p>
              <a:pPr algn="ctr">
                <a:lnSpc>
                  <a:spcPts val="3345"/>
                </a:lnSpc>
              </a:pPr>
              <a:r>
                <a:rPr lang="en-US" sz="1493">
                  <a:solidFill>
                    <a:srgbClr val="FFFFFF"/>
                  </a:solidFill>
                  <a:latin typeface="Noto Serif Ethiopic Condensed"/>
                  <a:ea typeface="Noto Serif Ethiopic Condensed"/>
                  <a:cs typeface="Noto Serif Ethiopic Condensed"/>
                  <a:sym typeface="Noto Serif Ethiopic Condensed"/>
                </a:rPr>
                <a:t>Minimalistic layouts and guided steps, and progressive disclosure for easy navigation.</a:t>
              </a:r>
            </a:p>
          </p:txBody>
        </p:sp>
        <p:sp>
          <p:nvSpPr>
            <p:cNvPr name="AutoShape 42" id="42"/>
            <p:cNvSpPr/>
            <p:nvPr/>
          </p:nvSpPr>
          <p:spPr>
            <a:xfrm flipH="true">
              <a:off x="8564864" y="4442725"/>
              <a:ext cx="22123" cy="933898"/>
            </a:xfrm>
            <a:prstGeom prst="line">
              <a:avLst/>
            </a:prstGeom>
            <a:ln cap="flat" w="44246">
              <a:solidFill>
                <a:srgbClr val="000000"/>
              </a:solidFill>
              <a:prstDash val="solid"/>
              <a:headEnd type="none" len="sm" w="sm"/>
              <a:tailEnd type="none" len="sm" w="sm"/>
            </a:ln>
          </p:spPr>
        </p:sp>
      </p:grpSp>
      <p:sp>
        <p:nvSpPr>
          <p:cNvPr name="TextBox 43" id="43"/>
          <p:cNvSpPr txBox="true"/>
          <p:nvPr/>
        </p:nvSpPr>
        <p:spPr>
          <a:xfrm rot="0">
            <a:off x="14616760" y="9281095"/>
            <a:ext cx="3196764" cy="328217"/>
          </a:xfrm>
          <a:prstGeom prst="rect">
            <a:avLst/>
          </a:prstGeom>
        </p:spPr>
        <p:txBody>
          <a:bodyPr anchor="t" rtlCol="false" tIns="0" lIns="0" bIns="0" rIns="0">
            <a:spAutoFit/>
          </a:bodyPr>
          <a:lstStyle/>
          <a:p>
            <a:pPr algn="l">
              <a:lnSpc>
                <a:spcPts val="2410"/>
              </a:lnSpc>
            </a:pPr>
            <a:r>
              <a:rPr lang="en-US" sz="2537">
                <a:solidFill>
                  <a:srgbClr val="EDC4BC"/>
                </a:solidFill>
                <a:latin typeface="Noto Serif Ethiopic Condensed"/>
                <a:ea typeface="Noto Serif Ethiopic Condensed"/>
                <a:cs typeface="Noto Serif Ethiopic Condensed"/>
                <a:sym typeface="Noto Serif Ethiopic Condensed"/>
              </a:rPr>
              <a:t>Kekweditse Mogoba</a:t>
            </a:r>
          </a:p>
        </p:txBody>
      </p:sp>
      <p:sp>
        <p:nvSpPr>
          <p:cNvPr name="Freeform 44" id="44"/>
          <p:cNvSpPr/>
          <p:nvPr/>
        </p:nvSpPr>
        <p:spPr>
          <a:xfrm flipH="false" flipV="false" rot="-879471">
            <a:off x="965469" y="5453445"/>
            <a:ext cx="2442794" cy="4100856"/>
          </a:xfrm>
          <a:custGeom>
            <a:avLst/>
            <a:gdLst/>
            <a:ahLst/>
            <a:cxnLst/>
            <a:rect r="r" b="b" t="t" l="l"/>
            <a:pathLst>
              <a:path h="4100856" w="2442794">
                <a:moveTo>
                  <a:pt x="0" y="0"/>
                </a:moveTo>
                <a:lnTo>
                  <a:pt x="2442794" y="0"/>
                </a:lnTo>
                <a:lnTo>
                  <a:pt x="2442794" y="4100856"/>
                </a:lnTo>
                <a:lnTo>
                  <a:pt x="0" y="4100856"/>
                </a:lnTo>
                <a:lnTo>
                  <a:pt x="0" y="0"/>
                </a:lnTo>
                <a:close/>
              </a:path>
            </a:pathLst>
          </a:custGeom>
          <a:blipFill>
            <a:blip r:embed="rId5"/>
            <a:stretch>
              <a:fillRect l="-2715" t="-2522" r="-1301" b="0"/>
            </a:stretch>
          </a:blipFill>
        </p:spPr>
      </p:sp>
      <p:sp>
        <p:nvSpPr>
          <p:cNvPr name="Freeform 45" id="45"/>
          <p:cNvSpPr/>
          <p:nvPr/>
        </p:nvSpPr>
        <p:spPr>
          <a:xfrm flipH="false" flipV="false" rot="1288503">
            <a:off x="14854041" y="4853011"/>
            <a:ext cx="2283240" cy="4095140"/>
          </a:xfrm>
          <a:custGeom>
            <a:avLst/>
            <a:gdLst/>
            <a:ahLst/>
            <a:cxnLst/>
            <a:rect r="r" b="b" t="t" l="l"/>
            <a:pathLst>
              <a:path h="4095140" w="2283240">
                <a:moveTo>
                  <a:pt x="0" y="0"/>
                </a:moveTo>
                <a:lnTo>
                  <a:pt x="2283240" y="0"/>
                </a:lnTo>
                <a:lnTo>
                  <a:pt x="2283240" y="4095140"/>
                </a:lnTo>
                <a:lnTo>
                  <a:pt x="0" y="4095140"/>
                </a:lnTo>
                <a:lnTo>
                  <a:pt x="0" y="0"/>
                </a:lnTo>
                <a:close/>
              </a:path>
            </a:pathLst>
          </a:custGeom>
          <a:blipFill>
            <a:blip r:embed="rId6"/>
            <a:stretch>
              <a:fillRect l="0" t="0" r="0" b="0"/>
            </a:stretch>
          </a:blipFill>
        </p:spPr>
      </p:sp>
      <p:sp>
        <p:nvSpPr>
          <p:cNvPr name="TextBox 46" id="46"/>
          <p:cNvSpPr txBox="true"/>
          <p:nvPr/>
        </p:nvSpPr>
        <p:spPr>
          <a:xfrm rot="0">
            <a:off x="12342488" y="9666462"/>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Freeform 47" id="47"/>
          <p:cNvSpPr/>
          <p:nvPr/>
        </p:nvSpPr>
        <p:spPr>
          <a:xfrm flipH="true" flipV="false" rot="0">
            <a:off x="-724504" y="38100"/>
            <a:ext cx="1926440" cy="3451277"/>
          </a:xfrm>
          <a:custGeom>
            <a:avLst/>
            <a:gdLst/>
            <a:ahLst/>
            <a:cxnLst/>
            <a:rect r="r" b="b" t="t" l="l"/>
            <a:pathLst>
              <a:path h="3451277" w="1926440">
                <a:moveTo>
                  <a:pt x="1926441" y="0"/>
                </a:moveTo>
                <a:lnTo>
                  <a:pt x="0" y="0"/>
                </a:lnTo>
                <a:lnTo>
                  <a:pt x="0" y="3451277"/>
                </a:lnTo>
                <a:lnTo>
                  <a:pt x="1926441" y="3451277"/>
                </a:lnTo>
                <a:lnTo>
                  <a:pt x="1926441"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48" id="48"/>
          <p:cNvSpPr/>
          <p:nvPr/>
        </p:nvSpPr>
        <p:spPr>
          <a:xfrm flipH="false" flipV="false" rot="0">
            <a:off x="17259300" y="47625"/>
            <a:ext cx="1926440" cy="3451277"/>
          </a:xfrm>
          <a:custGeom>
            <a:avLst/>
            <a:gdLst/>
            <a:ahLst/>
            <a:cxnLst/>
            <a:rect r="r" b="b" t="t" l="l"/>
            <a:pathLst>
              <a:path h="3451277" w="1926440">
                <a:moveTo>
                  <a:pt x="0" y="0"/>
                </a:moveTo>
                <a:lnTo>
                  <a:pt x="1926440" y="0"/>
                </a:lnTo>
                <a:lnTo>
                  <a:pt x="1926440" y="3451277"/>
                </a:lnTo>
                <a:lnTo>
                  <a:pt x="0" y="345127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transition spd="fast">
    <p:fade/>
  </p:transition>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Freeform 2" id="2"/>
          <p:cNvSpPr/>
          <p:nvPr/>
        </p:nvSpPr>
        <p:spPr>
          <a:xfrm flipH="false" flipV="false" rot="0">
            <a:off x="8596974" y="-1241953"/>
            <a:ext cx="3502048" cy="1916575"/>
          </a:xfrm>
          <a:custGeom>
            <a:avLst/>
            <a:gdLst/>
            <a:ahLst/>
            <a:cxnLst/>
            <a:rect r="r" b="b" t="t" l="l"/>
            <a:pathLst>
              <a:path h="1916575" w="3502048">
                <a:moveTo>
                  <a:pt x="0" y="0"/>
                </a:moveTo>
                <a:lnTo>
                  <a:pt x="3502048" y="0"/>
                </a:lnTo>
                <a:lnTo>
                  <a:pt x="3502048" y="1916576"/>
                </a:lnTo>
                <a:lnTo>
                  <a:pt x="0" y="19165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9623581"/>
            <a:ext cx="3502048" cy="1916575"/>
          </a:xfrm>
          <a:custGeom>
            <a:avLst/>
            <a:gdLst/>
            <a:ahLst/>
            <a:cxnLst/>
            <a:rect r="r" b="b" t="t" l="l"/>
            <a:pathLst>
              <a:path h="1916575" w="3502048">
                <a:moveTo>
                  <a:pt x="0" y="0"/>
                </a:moveTo>
                <a:lnTo>
                  <a:pt x="3502048" y="0"/>
                </a:lnTo>
                <a:lnTo>
                  <a:pt x="3502048" y="1916575"/>
                </a:lnTo>
                <a:lnTo>
                  <a:pt x="0" y="1916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5540215" y="8458968"/>
            <a:ext cx="1345360" cy="252919"/>
          </a:xfrm>
          <a:prstGeom prst="rect">
            <a:avLst/>
          </a:prstGeom>
        </p:spPr>
        <p:txBody>
          <a:bodyPr anchor="t" rtlCol="false" tIns="0" lIns="0" bIns="0" rIns="0">
            <a:spAutoFit/>
          </a:bodyPr>
          <a:lstStyle/>
          <a:p>
            <a:pPr algn="ctr">
              <a:lnSpc>
                <a:spcPts val="1928"/>
              </a:lnSpc>
            </a:pPr>
          </a:p>
        </p:txBody>
      </p:sp>
      <p:grpSp>
        <p:nvGrpSpPr>
          <p:cNvPr name="Group 5" id="5"/>
          <p:cNvGrpSpPr/>
          <p:nvPr/>
        </p:nvGrpSpPr>
        <p:grpSpPr>
          <a:xfrm rot="0">
            <a:off x="999163" y="1137435"/>
            <a:ext cx="16260137" cy="8262454"/>
            <a:chOff x="0" y="0"/>
            <a:chExt cx="4424523" cy="2248284"/>
          </a:xfrm>
        </p:grpSpPr>
        <p:sp>
          <p:nvSpPr>
            <p:cNvPr name="Freeform 6" id="6"/>
            <p:cNvSpPr/>
            <p:nvPr/>
          </p:nvSpPr>
          <p:spPr>
            <a:xfrm flipH="false" flipV="false" rot="0">
              <a:off x="0" y="0"/>
              <a:ext cx="4424523" cy="2248284"/>
            </a:xfrm>
            <a:custGeom>
              <a:avLst/>
              <a:gdLst/>
              <a:ahLst/>
              <a:cxnLst/>
              <a:rect r="r" b="b" t="t" l="l"/>
              <a:pathLst>
                <a:path h="2248284" w="4424523">
                  <a:moveTo>
                    <a:pt x="11903" y="0"/>
                  </a:moveTo>
                  <a:lnTo>
                    <a:pt x="4412619" y="0"/>
                  </a:lnTo>
                  <a:cubicBezTo>
                    <a:pt x="4415776" y="0"/>
                    <a:pt x="4418804" y="1254"/>
                    <a:pt x="4421036" y="3486"/>
                  </a:cubicBezTo>
                  <a:cubicBezTo>
                    <a:pt x="4423268" y="5719"/>
                    <a:pt x="4424523" y="8746"/>
                    <a:pt x="4424523" y="11903"/>
                  </a:cubicBezTo>
                  <a:lnTo>
                    <a:pt x="4424523" y="2236381"/>
                  </a:lnTo>
                  <a:cubicBezTo>
                    <a:pt x="4424523" y="2239538"/>
                    <a:pt x="4423268" y="2242566"/>
                    <a:pt x="4421036" y="2244798"/>
                  </a:cubicBezTo>
                  <a:cubicBezTo>
                    <a:pt x="4418804" y="2247030"/>
                    <a:pt x="4415776" y="2248284"/>
                    <a:pt x="4412619" y="2248284"/>
                  </a:cubicBezTo>
                  <a:lnTo>
                    <a:pt x="11903" y="2248284"/>
                  </a:lnTo>
                  <a:cubicBezTo>
                    <a:pt x="8746" y="2248284"/>
                    <a:pt x="5719" y="2247030"/>
                    <a:pt x="3486" y="2244798"/>
                  </a:cubicBezTo>
                  <a:cubicBezTo>
                    <a:pt x="1254" y="2242566"/>
                    <a:pt x="0" y="2239538"/>
                    <a:pt x="0" y="2236381"/>
                  </a:cubicBezTo>
                  <a:lnTo>
                    <a:pt x="0" y="11903"/>
                  </a:lnTo>
                  <a:cubicBezTo>
                    <a:pt x="0" y="8746"/>
                    <a:pt x="1254" y="5719"/>
                    <a:pt x="3486" y="3486"/>
                  </a:cubicBezTo>
                  <a:cubicBezTo>
                    <a:pt x="5719" y="1254"/>
                    <a:pt x="8746" y="0"/>
                    <a:pt x="11903" y="0"/>
                  </a:cubicBezTo>
                  <a:close/>
                </a:path>
              </a:pathLst>
            </a:custGeom>
            <a:solidFill>
              <a:srgbClr val="FFFFFF">
                <a:alpha val="12941"/>
              </a:srgbClr>
            </a:solidFill>
            <a:ln w="38100" cap="rnd">
              <a:solidFill>
                <a:srgbClr val="FFFFFF">
                  <a:alpha val="12941"/>
                </a:srgbClr>
              </a:solidFill>
              <a:prstDash val="solid"/>
              <a:round/>
            </a:ln>
          </p:spPr>
        </p:sp>
        <p:sp>
          <p:nvSpPr>
            <p:cNvPr name="TextBox 7" id="7"/>
            <p:cNvSpPr txBox="true"/>
            <p:nvPr/>
          </p:nvSpPr>
          <p:spPr>
            <a:xfrm>
              <a:off x="0" y="-38100"/>
              <a:ext cx="4424523" cy="2286384"/>
            </a:xfrm>
            <a:prstGeom prst="rect">
              <a:avLst/>
            </a:prstGeom>
          </p:spPr>
          <p:txBody>
            <a:bodyPr anchor="ctr" rtlCol="false" tIns="49169" lIns="49169" bIns="49169" rIns="49169"/>
            <a:lstStyle/>
            <a:p>
              <a:pPr algn="ctr">
                <a:lnSpc>
                  <a:spcPts val="2659"/>
                </a:lnSpc>
              </a:pPr>
            </a:p>
          </p:txBody>
        </p:sp>
      </p:grpSp>
      <p:sp>
        <p:nvSpPr>
          <p:cNvPr name="Freeform 8" id="8"/>
          <p:cNvSpPr/>
          <p:nvPr/>
        </p:nvSpPr>
        <p:spPr>
          <a:xfrm flipH="false" flipV="false" rot="0">
            <a:off x="291258" y="7758372"/>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2365504" y="9599348"/>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3712854" y="390038"/>
            <a:ext cx="480267" cy="480267"/>
          </a:xfrm>
          <a:custGeom>
            <a:avLst/>
            <a:gdLst/>
            <a:ahLst/>
            <a:cxnLst/>
            <a:rect r="r" b="b" t="t" l="l"/>
            <a:pathLst>
              <a:path h="480267" w="480267">
                <a:moveTo>
                  <a:pt x="0" y="0"/>
                </a:moveTo>
                <a:lnTo>
                  <a:pt x="480268" y="0"/>
                </a:lnTo>
                <a:lnTo>
                  <a:pt x="480268" y="480267"/>
                </a:lnTo>
                <a:lnTo>
                  <a:pt x="0" y="480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618477" y="2449477"/>
            <a:ext cx="5824542" cy="4569450"/>
          </a:xfrm>
          <a:custGeom>
            <a:avLst/>
            <a:gdLst/>
            <a:ahLst/>
            <a:cxnLst/>
            <a:rect r="r" b="b" t="t" l="l"/>
            <a:pathLst>
              <a:path h="4569450" w="5824542">
                <a:moveTo>
                  <a:pt x="0" y="0"/>
                </a:moveTo>
                <a:lnTo>
                  <a:pt x="5824542" y="0"/>
                </a:lnTo>
                <a:lnTo>
                  <a:pt x="5824542" y="4569450"/>
                </a:lnTo>
                <a:lnTo>
                  <a:pt x="0" y="4569450"/>
                </a:lnTo>
                <a:lnTo>
                  <a:pt x="0" y="0"/>
                </a:lnTo>
                <a:close/>
              </a:path>
            </a:pathLst>
          </a:custGeom>
          <a:blipFill>
            <a:blip r:embed="rId6"/>
            <a:stretch>
              <a:fillRect l="-1245" t="-1587" r="-622" b="-2778"/>
            </a:stretch>
          </a:blipFill>
        </p:spPr>
      </p:sp>
      <p:sp>
        <p:nvSpPr>
          <p:cNvPr name="Freeform 12" id="12"/>
          <p:cNvSpPr/>
          <p:nvPr/>
        </p:nvSpPr>
        <p:spPr>
          <a:xfrm flipH="false" flipV="false" rot="0">
            <a:off x="8203608" y="2449477"/>
            <a:ext cx="8323791" cy="4569450"/>
          </a:xfrm>
          <a:custGeom>
            <a:avLst/>
            <a:gdLst/>
            <a:ahLst/>
            <a:cxnLst/>
            <a:rect r="r" b="b" t="t" l="l"/>
            <a:pathLst>
              <a:path h="4569450" w="8323791">
                <a:moveTo>
                  <a:pt x="0" y="0"/>
                </a:moveTo>
                <a:lnTo>
                  <a:pt x="8323791" y="0"/>
                </a:lnTo>
                <a:lnTo>
                  <a:pt x="8323791" y="4569450"/>
                </a:lnTo>
                <a:lnTo>
                  <a:pt x="0" y="4569450"/>
                </a:lnTo>
                <a:lnTo>
                  <a:pt x="0" y="0"/>
                </a:lnTo>
                <a:close/>
              </a:path>
            </a:pathLst>
          </a:custGeom>
          <a:blipFill>
            <a:blip r:embed="rId7"/>
            <a:stretch>
              <a:fillRect l="-2892" t="-173" r="-1478" b="-98648"/>
            </a:stretch>
          </a:blipFill>
        </p:spPr>
      </p:sp>
      <p:sp>
        <p:nvSpPr>
          <p:cNvPr name="TextBox 13" id="13"/>
          <p:cNvSpPr txBox="true"/>
          <p:nvPr/>
        </p:nvSpPr>
        <p:spPr>
          <a:xfrm rot="0">
            <a:off x="1028700" y="528571"/>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14" id="14"/>
          <p:cNvSpPr txBox="true"/>
          <p:nvPr/>
        </p:nvSpPr>
        <p:spPr>
          <a:xfrm rot="0">
            <a:off x="15107417" y="9656498"/>
            <a:ext cx="2151883"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Natalee De Silva</a:t>
            </a:r>
          </a:p>
        </p:txBody>
      </p:sp>
      <p:sp>
        <p:nvSpPr>
          <p:cNvPr name="TextBox 15" id="15"/>
          <p:cNvSpPr txBox="true"/>
          <p:nvPr/>
        </p:nvSpPr>
        <p:spPr>
          <a:xfrm rot="0">
            <a:off x="1618477" y="7073050"/>
            <a:ext cx="5824542" cy="934981"/>
          </a:xfrm>
          <a:prstGeom prst="rect">
            <a:avLst/>
          </a:prstGeom>
        </p:spPr>
        <p:txBody>
          <a:bodyPr anchor="t" rtlCol="false" tIns="0" lIns="0" bIns="0" rIns="0">
            <a:spAutoFit/>
          </a:bodyPr>
          <a:lstStyle/>
          <a:p>
            <a:pPr algn="ctr">
              <a:lnSpc>
                <a:spcPts val="4156"/>
              </a:lnSpc>
            </a:pPr>
            <a:r>
              <a:rPr lang="en-US" sz="2789" b="true">
                <a:solidFill>
                  <a:srgbClr val="3B1B4E"/>
                </a:solidFill>
                <a:latin typeface="Noto Serif Ethiopic Condensed Bold"/>
                <a:ea typeface="Noto Serif Ethiopic Condensed Bold"/>
                <a:cs typeface="Noto Serif Ethiopic Condensed Bold"/>
                <a:sym typeface="Noto Serif Ethiopic Condensed Bold"/>
              </a:rPr>
              <a:t>Initial Layout</a:t>
            </a:r>
          </a:p>
          <a:p>
            <a:pPr algn="ctr">
              <a:lnSpc>
                <a:spcPts val="3427"/>
              </a:lnSpc>
            </a:pPr>
            <a:r>
              <a:rPr lang="en-US" sz="2300">
                <a:solidFill>
                  <a:srgbClr val="F0CFC7"/>
                </a:solidFill>
                <a:latin typeface="Noto Serif Ethiopic Condensed"/>
                <a:ea typeface="Noto Serif Ethiopic Condensed"/>
                <a:cs typeface="Noto Serif Ethiopic Condensed"/>
                <a:sym typeface="Noto Serif Ethiopic Condensed"/>
              </a:rPr>
              <a:t>Basic layout and content structure</a:t>
            </a:r>
          </a:p>
        </p:txBody>
      </p:sp>
      <p:sp>
        <p:nvSpPr>
          <p:cNvPr name="TextBox 16" id="16"/>
          <p:cNvSpPr txBox="true"/>
          <p:nvPr/>
        </p:nvSpPr>
        <p:spPr>
          <a:xfrm rot="0">
            <a:off x="2647222" y="1405747"/>
            <a:ext cx="12993556" cy="748455"/>
          </a:xfrm>
          <a:prstGeom prst="rect">
            <a:avLst/>
          </a:prstGeom>
        </p:spPr>
        <p:txBody>
          <a:bodyPr anchor="t" rtlCol="false" tIns="0" lIns="0" bIns="0" rIns="0">
            <a:spAutoFit/>
          </a:bodyPr>
          <a:lstStyle/>
          <a:p>
            <a:pPr algn="ctr">
              <a:lnSpc>
                <a:spcPts val="5579"/>
              </a:lnSpc>
            </a:pPr>
            <a:r>
              <a:rPr lang="en-US" sz="5873" b="true">
                <a:solidFill>
                  <a:srgbClr val="F0CFC7"/>
                </a:solidFill>
                <a:latin typeface="Noto Serif Ethiopic Condensed Bold"/>
                <a:ea typeface="Noto Serif Ethiopic Condensed Bold"/>
                <a:cs typeface="Noto Serif Ethiopic Condensed Bold"/>
                <a:sym typeface="Noto Serif Ethiopic Condensed Bold"/>
              </a:rPr>
              <a:t>Low Fidelity → High Fidelity Evolution</a:t>
            </a:r>
          </a:p>
        </p:txBody>
      </p:sp>
      <p:sp>
        <p:nvSpPr>
          <p:cNvPr name="TextBox 17" id="17"/>
          <p:cNvSpPr txBox="true"/>
          <p:nvPr/>
        </p:nvSpPr>
        <p:spPr>
          <a:xfrm rot="0">
            <a:off x="8589881" y="7066756"/>
            <a:ext cx="7551245" cy="941274"/>
          </a:xfrm>
          <a:prstGeom prst="rect">
            <a:avLst/>
          </a:prstGeom>
        </p:spPr>
        <p:txBody>
          <a:bodyPr anchor="t" rtlCol="false" tIns="0" lIns="0" bIns="0" rIns="0">
            <a:spAutoFit/>
          </a:bodyPr>
          <a:lstStyle/>
          <a:p>
            <a:pPr algn="ctr">
              <a:lnSpc>
                <a:spcPts val="4183"/>
              </a:lnSpc>
            </a:pPr>
            <a:r>
              <a:rPr lang="en-US" sz="2789" b="true">
                <a:solidFill>
                  <a:srgbClr val="3B1B4E"/>
                </a:solidFill>
                <a:latin typeface="Noto Serif Ethiopic Condensed Bold"/>
                <a:ea typeface="Noto Serif Ethiopic Condensed Bold"/>
                <a:cs typeface="Noto Serif Ethiopic Condensed Bold"/>
                <a:sym typeface="Noto Serif Ethiopic Condensed Bold"/>
              </a:rPr>
              <a:t>Refined Design</a:t>
            </a:r>
          </a:p>
          <a:p>
            <a:pPr algn="ctr">
              <a:lnSpc>
                <a:spcPts val="3450"/>
              </a:lnSpc>
            </a:pPr>
            <a:r>
              <a:rPr lang="en-US" sz="2300">
                <a:solidFill>
                  <a:srgbClr val="F0CFC7"/>
                </a:solidFill>
                <a:latin typeface="Noto Serif Ethiopic Condensed"/>
                <a:ea typeface="Noto Serif Ethiopic Condensed"/>
                <a:cs typeface="Noto Serif Ethiopic Condensed"/>
                <a:sym typeface="Noto Serif Ethiopic Condensed"/>
              </a:rPr>
              <a:t>Enhanced with visuals, hierarchy, and UI elements</a:t>
            </a:r>
          </a:p>
        </p:txBody>
      </p:sp>
      <p:sp>
        <p:nvSpPr>
          <p:cNvPr name="TextBox 18" id="18"/>
          <p:cNvSpPr txBox="true"/>
          <p:nvPr/>
        </p:nvSpPr>
        <p:spPr>
          <a:xfrm rot="0">
            <a:off x="2203198" y="8513990"/>
            <a:ext cx="13852066" cy="447675"/>
          </a:xfrm>
          <a:prstGeom prst="rect">
            <a:avLst/>
          </a:prstGeom>
        </p:spPr>
        <p:txBody>
          <a:bodyPr anchor="t" rtlCol="false" tIns="0" lIns="0" bIns="0" rIns="0">
            <a:spAutoFit/>
          </a:bodyPr>
          <a:lstStyle/>
          <a:p>
            <a:pPr algn="ctr">
              <a:lnSpc>
                <a:spcPts val="3749"/>
              </a:lnSpc>
            </a:pPr>
            <a:r>
              <a:rPr lang="en-US" sz="2499">
                <a:solidFill>
                  <a:srgbClr val="FFFFFF"/>
                </a:solidFill>
                <a:latin typeface="Noto Serif Ethiopic Condensed"/>
                <a:ea typeface="Noto Serif Ethiopic Condensed"/>
                <a:cs typeface="Noto Serif Ethiopic Condensed"/>
                <a:sym typeface="Noto Serif Ethiopic Condensed"/>
              </a:rPr>
              <a:t>Improved readability and clarity through </a:t>
            </a:r>
            <a:r>
              <a:rPr lang="en-US" sz="2499">
                <a:solidFill>
                  <a:srgbClr val="FFFFFF"/>
                </a:solidFill>
                <a:latin typeface="Noto Serif Ethiopic Condensed"/>
                <a:ea typeface="Noto Serif Ethiopic Condensed"/>
                <a:cs typeface="Noto Serif Ethiopic Condensed"/>
                <a:sym typeface="Noto Serif Ethiopic Condensed"/>
              </a:rPr>
              <a:t>structured layout, visual hierarchy, and accessible design.</a:t>
            </a:r>
          </a:p>
        </p:txBody>
      </p:sp>
      <p:sp>
        <p:nvSpPr>
          <p:cNvPr name="Freeform 19" id="19"/>
          <p:cNvSpPr/>
          <p:nvPr/>
        </p:nvSpPr>
        <p:spPr>
          <a:xfrm flipH="false" flipV="false" rot="-1864513">
            <a:off x="234570" y="3068330"/>
            <a:ext cx="535143" cy="549121"/>
          </a:xfrm>
          <a:custGeom>
            <a:avLst/>
            <a:gdLst/>
            <a:ahLst/>
            <a:cxnLst/>
            <a:rect r="r" b="b" t="t" l="l"/>
            <a:pathLst>
              <a:path h="549121" w="535143">
                <a:moveTo>
                  <a:pt x="0" y="0"/>
                </a:moveTo>
                <a:lnTo>
                  <a:pt x="535144" y="0"/>
                </a:lnTo>
                <a:lnTo>
                  <a:pt x="535144" y="549120"/>
                </a:lnTo>
                <a:lnTo>
                  <a:pt x="0" y="5491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0" id="20"/>
          <p:cNvSpPr/>
          <p:nvPr/>
        </p:nvSpPr>
        <p:spPr>
          <a:xfrm flipH="false" flipV="false" rot="-1864513">
            <a:off x="17448344" y="7350676"/>
            <a:ext cx="535143" cy="549121"/>
          </a:xfrm>
          <a:custGeom>
            <a:avLst/>
            <a:gdLst/>
            <a:ahLst/>
            <a:cxnLst/>
            <a:rect r="r" b="b" t="t" l="l"/>
            <a:pathLst>
              <a:path h="549121" w="535143">
                <a:moveTo>
                  <a:pt x="0" y="0"/>
                </a:moveTo>
                <a:lnTo>
                  <a:pt x="535143" y="0"/>
                </a:lnTo>
                <a:lnTo>
                  <a:pt x="535143" y="549121"/>
                </a:lnTo>
                <a:lnTo>
                  <a:pt x="0" y="54912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Freeform 2" id="2"/>
          <p:cNvSpPr/>
          <p:nvPr/>
        </p:nvSpPr>
        <p:spPr>
          <a:xfrm flipH="false" flipV="false" rot="0">
            <a:off x="8596974" y="-1241953"/>
            <a:ext cx="3502048" cy="1916575"/>
          </a:xfrm>
          <a:custGeom>
            <a:avLst/>
            <a:gdLst/>
            <a:ahLst/>
            <a:cxnLst/>
            <a:rect r="r" b="b" t="t" l="l"/>
            <a:pathLst>
              <a:path h="1916575" w="3502048">
                <a:moveTo>
                  <a:pt x="0" y="0"/>
                </a:moveTo>
                <a:lnTo>
                  <a:pt x="3502048" y="0"/>
                </a:lnTo>
                <a:lnTo>
                  <a:pt x="3502048" y="1916576"/>
                </a:lnTo>
                <a:lnTo>
                  <a:pt x="0" y="19165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9671206"/>
            <a:ext cx="3502048" cy="1916575"/>
          </a:xfrm>
          <a:custGeom>
            <a:avLst/>
            <a:gdLst/>
            <a:ahLst/>
            <a:cxnLst/>
            <a:rect r="r" b="b" t="t" l="l"/>
            <a:pathLst>
              <a:path h="1916575" w="3502048">
                <a:moveTo>
                  <a:pt x="0" y="0"/>
                </a:moveTo>
                <a:lnTo>
                  <a:pt x="3502048" y="0"/>
                </a:lnTo>
                <a:lnTo>
                  <a:pt x="3502048" y="1916575"/>
                </a:lnTo>
                <a:lnTo>
                  <a:pt x="0" y="1916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5540215" y="8458968"/>
            <a:ext cx="1345360" cy="252919"/>
          </a:xfrm>
          <a:prstGeom prst="rect">
            <a:avLst/>
          </a:prstGeom>
        </p:spPr>
        <p:txBody>
          <a:bodyPr anchor="t" rtlCol="false" tIns="0" lIns="0" bIns="0" rIns="0">
            <a:spAutoFit/>
          </a:bodyPr>
          <a:lstStyle/>
          <a:p>
            <a:pPr algn="ctr">
              <a:lnSpc>
                <a:spcPts val="1928"/>
              </a:lnSpc>
            </a:pPr>
          </a:p>
        </p:txBody>
      </p:sp>
      <p:grpSp>
        <p:nvGrpSpPr>
          <p:cNvPr name="Group 5" id="5"/>
          <p:cNvGrpSpPr/>
          <p:nvPr/>
        </p:nvGrpSpPr>
        <p:grpSpPr>
          <a:xfrm rot="0">
            <a:off x="746164" y="1108860"/>
            <a:ext cx="16906691" cy="8461913"/>
            <a:chOff x="0" y="0"/>
            <a:chExt cx="4600456" cy="2302559"/>
          </a:xfrm>
        </p:grpSpPr>
        <p:sp>
          <p:nvSpPr>
            <p:cNvPr name="Freeform 6" id="6"/>
            <p:cNvSpPr/>
            <p:nvPr/>
          </p:nvSpPr>
          <p:spPr>
            <a:xfrm flipH="false" flipV="false" rot="0">
              <a:off x="0" y="0"/>
              <a:ext cx="4600456" cy="2302559"/>
            </a:xfrm>
            <a:custGeom>
              <a:avLst/>
              <a:gdLst/>
              <a:ahLst/>
              <a:cxnLst/>
              <a:rect r="r" b="b" t="t" l="l"/>
              <a:pathLst>
                <a:path h="2302559" w="4600456">
                  <a:moveTo>
                    <a:pt x="11448" y="0"/>
                  </a:moveTo>
                  <a:lnTo>
                    <a:pt x="4589007" y="0"/>
                  </a:lnTo>
                  <a:cubicBezTo>
                    <a:pt x="4592044" y="0"/>
                    <a:pt x="4594956" y="1206"/>
                    <a:pt x="4597103" y="3353"/>
                  </a:cubicBezTo>
                  <a:cubicBezTo>
                    <a:pt x="4599249" y="5500"/>
                    <a:pt x="4600456" y="8412"/>
                    <a:pt x="4600456" y="11448"/>
                  </a:cubicBezTo>
                  <a:lnTo>
                    <a:pt x="4600456" y="2291111"/>
                  </a:lnTo>
                  <a:cubicBezTo>
                    <a:pt x="4600456" y="2294147"/>
                    <a:pt x="4599249" y="2297059"/>
                    <a:pt x="4597103" y="2299206"/>
                  </a:cubicBezTo>
                  <a:cubicBezTo>
                    <a:pt x="4594956" y="2301353"/>
                    <a:pt x="4592044" y="2302559"/>
                    <a:pt x="4589007" y="2302559"/>
                  </a:cubicBezTo>
                  <a:lnTo>
                    <a:pt x="11448" y="2302559"/>
                  </a:lnTo>
                  <a:cubicBezTo>
                    <a:pt x="8412" y="2302559"/>
                    <a:pt x="5500" y="2301353"/>
                    <a:pt x="3353" y="2299206"/>
                  </a:cubicBezTo>
                  <a:cubicBezTo>
                    <a:pt x="1206" y="2297059"/>
                    <a:pt x="0" y="2294147"/>
                    <a:pt x="0" y="2291111"/>
                  </a:cubicBezTo>
                  <a:lnTo>
                    <a:pt x="0" y="11448"/>
                  </a:lnTo>
                  <a:cubicBezTo>
                    <a:pt x="0" y="8412"/>
                    <a:pt x="1206" y="5500"/>
                    <a:pt x="3353" y="3353"/>
                  </a:cubicBezTo>
                  <a:cubicBezTo>
                    <a:pt x="5500" y="1206"/>
                    <a:pt x="8412" y="0"/>
                    <a:pt x="11448" y="0"/>
                  </a:cubicBezTo>
                  <a:close/>
                </a:path>
              </a:pathLst>
            </a:custGeom>
            <a:solidFill>
              <a:srgbClr val="FFFFFF">
                <a:alpha val="12941"/>
              </a:srgbClr>
            </a:solidFill>
            <a:ln w="38100" cap="rnd">
              <a:solidFill>
                <a:srgbClr val="FFFFFF">
                  <a:alpha val="12941"/>
                </a:srgbClr>
              </a:solidFill>
              <a:prstDash val="solid"/>
              <a:round/>
            </a:ln>
          </p:spPr>
        </p:sp>
        <p:sp>
          <p:nvSpPr>
            <p:cNvPr name="TextBox 7" id="7"/>
            <p:cNvSpPr txBox="true"/>
            <p:nvPr/>
          </p:nvSpPr>
          <p:spPr>
            <a:xfrm>
              <a:off x="0" y="-38100"/>
              <a:ext cx="4600456" cy="2340659"/>
            </a:xfrm>
            <a:prstGeom prst="rect">
              <a:avLst/>
            </a:prstGeom>
          </p:spPr>
          <p:txBody>
            <a:bodyPr anchor="ctr" rtlCol="false" tIns="49169" lIns="49169" bIns="49169" rIns="49169"/>
            <a:lstStyle/>
            <a:p>
              <a:pPr algn="ctr">
                <a:lnSpc>
                  <a:spcPts val="2659"/>
                </a:lnSpc>
              </a:pPr>
            </a:p>
          </p:txBody>
        </p:sp>
      </p:grpSp>
      <p:sp>
        <p:nvSpPr>
          <p:cNvPr name="Freeform 8" id="8"/>
          <p:cNvSpPr/>
          <p:nvPr/>
        </p:nvSpPr>
        <p:spPr>
          <a:xfrm flipH="false" flipV="false" rot="0">
            <a:off x="90271" y="7758372"/>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2418311" y="9699781"/>
            <a:ext cx="427459" cy="427459"/>
          </a:xfrm>
          <a:custGeom>
            <a:avLst/>
            <a:gdLst/>
            <a:ahLst/>
            <a:cxnLst/>
            <a:rect r="r" b="b" t="t" l="l"/>
            <a:pathLst>
              <a:path h="427459" w="427459">
                <a:moveTo>
                  <a:pt x="0" y="0"/>
                </a:moveTo>
                <a:lnTo>
                  <a:pt x="427460" y="0"/>
                </a:lnTo>
                <a:lnTo>
                  <a:pt x="427460" y="427459"/>
                </a:lnTo>
                <a:lnTo>
                  <a:pt x="0" y="4274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3712854" y="390038"/>
            <a:ext cx="480267" cy="480267"/>
          </a:xfrm>
          <a:custGeom>
            <a:avLst/>
            <a:gdLst/>
            <a:ahLst/>
            <a:cxnLst/>
            <a:rect r="r" b="b" t="t" l="l"/>
            <a:pathLst>
              <a:path h="480267" w="480267">
                <a:moveTo>
                  <a:pt x="0" y="0"/>
                </a:moveTo>
                <a:lnTo>
                  <a:pt x="480268" y="0"/>
                </a:lnTo>
                <a:lnTo>
                  <a:pt x="480268" y="480267"/>
                </a:lnTo>
                <a:lnTo>
                  <a:pt x="0" y="480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5398689" y="2464042"/>
            <a:ext cx="2896474" cy="5991619"/>
          </a:xfrm>
          <a:custGeom>
            <a:avLst/>
            <a:gdLst/>
            <a:ahLst/>
            <a:cxnLst/>
            <a:rect r="r" b="b" t="t" l="l"/>
            <a:pathLst>
              <a:path h="5991619" w="2896474">
                <a:moveTo>
                  <a:pt x="0" y="0"/>
                </a:moveTo>
                <a:lnTo>
                  <a:pt x="2896474" y="0"/>
                </a:lnTo>
                <a:lnTo>
                  <a:pt x="2896474" y="5991619"/>
                </a:lnTo>
                <a:lnTo>
                  <a:pt x="0" y="5991619"/>
                </a:lnTo>
                <a:lnTo>
                  <a:pt x="0" y="0"/>
                </a:lnTo>
                <a:close/>
              </a:path>
            </a:pathLst>
          </a:custGeom>
          <a:blipFill>
            <a:blip r:embed="rId6"/>
            <a:stretch>
              <a:fillRect l="-2477" t="-4601" r="-2320" b="-1495"/>
            </a:stretch>
          </a:blipFill>
        </p:spPr>
      </p:sp>
      <p:sp>
        <p:nvSpPr>
          <p:cNvPr name="Freeform 12" id="12"/>
          <p:cNvSpPr/>
          <p:nvPr/>
        </p:nvSpPr>
        <p:spPr>
          <a:xfrm flipH="false" flipV="false" rot="0">
            <a:off x="8501946" y="2292592"/>
            <a:ext cx="4338624" cy="6329995"/>
          </a:xfrm>
          <a:custGeom>
            <a:avLst/>
            <a:gdLst/>
            <a:ahLst/>
            <a:cxnLst/>
            <a:rect r="r" b="b" t="t" l="l"/>
            <a:pathLst>
              <a:path h="6329995" w="4338624">
                <a:moveTo>
                  <a:pt x="0" y="0"/>
                </a:moveTo>
                <a:lnTo>
                  <a:pt x="4338624" y="0"/>
                </a:lnTo>
                <a:lnTo>
                  <a:pt x="4338624" y="6329996"/>
                </a:lnTo>
                <a:lnTo>
                  <a:pt x="0" y="6329996"/>
                </a:lnTo>
                <a:lnTo>
                  <a:pt x="0" y="0"/>
                </a:lnTo>
                <a:close/>
              </a:path>
            </a:pathLst>
          </a:custGeom>
          <a:blipFill>
            <a:blip r:embed="rId7"/>
            <a:stretch>
              <a:fillRect l="0" t="-425" r="0" b="0"/>
            </a:stretch>
          </a:blipFill>
        </p:spPr>
      </p:sp>
      <p:sp>
        <p:nvSpPr>
          <p:cNvPr name="Freeform 13" id="13"/>
          <p:cNvSpPr/>
          <p:nvPr/>
        </p:nvSpPr>
        <p:spPr>
          <a:xfrm flipH="false" flipV="false" rot="0">
            <a:off x="13031070" y="2292592"/>
            <a:ext cx="4378355" cy="6356958"/>
          </a:xfrm>
          <a:custGeom>
            <a:avLst/>
            <a:gdLst/>
            <a:ahLst/>
            <a:cxnLst/>
            <a:rect r="r" b="b" t="t" l="l"/>
            <a:pathLst>
              <a:path h="6356958" w="4378355">
                <a:moveTo>
                  <a:pt x="0" y="0"/>
                </a:moveTo>
                <a:lnTo>
                  <a:pt x="4378355" y="0"/>
                </a:lnTo>
                <a:lnTo>
                  <a:pt x="4378355" y="6356959"/>
                </a:lnTo>
                <a:lnTo>
                  <a:pt x="0" y="6356959"/>
                </a:lnTo>
                <a:lnTo>
                  <a:pt x="0" y="0"/>
                </a:lnTo>
                <a:close/>
              </a:path>
            </a:pathLst>
          </a:custGeom>
          <a:blipFill>
            <a:blip r:embed="rId8"/>
            <a:stretch>
              <a:fillRect l="0" t="0" r="0" b="0"/>
            </a:stretch>
          </a:blipFill>
        </p:spPr>
      </p:sp>
      <p:sp>
        <p:nvSpPr>
          <p:cNvPr name="Freeform 14" id="14"/>
          <p:cNvSpPr/>
          <p:nvPr/>
        </p:nvSpPr>
        <p:spPr>
          <a:xfrm flipH="false" flipV="false" rot="0">
            <a:off x="1028700" y="2464042"/>
            <a:ext cx="4177927" cy="6033108"/>
          </a:xfrm>
          <a:custGeom>
            <a:avLst/>
            <a:gdLst/>
            <a:ahLst/>
            <a:cxnLst/>
            <a:rect r="r" b="b" t="t" l="l"/>
            <a:pathLst>
              <a:path h="6033108" w="4177927">
                <a:moveTo>
                  <a:pt x="0" y="0"/>
                </a:moveTo>
                <a:lnTo>
                  <a:pt x="4177927" y="0"/>
                </a:lnTo>
                <a:lnTo>
                  <a:pt x="4177927" y="6033109"/>
                </a:lnTo>
                <a:lnTo>
                  <a:pt x="0" y="6033109"/>
                </a:lnTo>
                <a:lnTo>
                  <a:pt x="0" y="0"/>
                </a:lnTo>
                <a:close/>
              </a:path>
            </a:pathLst>
          </a:custGeom>
          <a:blipFill>
            <a:blip r:embed="rId9"/>
            <a:stretch>
              <a:fillRect l="0" t="0" r="0" b="0"/>
            </a:stretch>
          </a:blipFill>
        </p:spPr>
      </p:sp>
      <p:sp>
        <p:nvSpPr>
          <p:cNvPr name="TextBox 15" id="15"/>
          <p:cNvSpPr txBox="true"/>
          <p:nvPr/>
        </p:nvSpPr>
        <p:spPr>
          <a:xfrm rot="0">
            <a:off x="1028700" y="528571"/>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16" id="16"/>
          <p:cNvSpPr txBox="true"/>
          <p:nvPr/>
        </p:nvSpPr>
        <p:spPr>
          <a:xfrm rot="0">
            <a:off x="15107417" y="9728356"/>
            <a:ext cx="2151883"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Natalee De Silva</a:t>
            </a:r>
          </a:p>
        </p:txBody>
      </p:sp>
      <p:sp>
        <p:nvSpPr>
          <p:cNvPr name="TextBox 17" id="17"/>
          <p:cNvSpPr txBox="true"/>
          <p:nvPr/>
        </p:nvSpPr>
        <p:spPr>
          <a:xfrm rot="0">
            <a:off x="2744891" y="1372687"/>
            <a:ext cx="12909236" cy="748455"/>
          </a:xfrm>
          <a:prstGeom prst="rect">
            <a:avLst/>
          </a:prstGeom>
        </p:spPr>
        <p:txBody>
          <a:bodyPr anchor="t" rtlCol="false" tIns="0" lIns="0" bIns="0" rIns="0">
            <a:spAutoFit/>
          </a:bodyPr>
          <a:lstStyle/>
          <a:p>
            <a:pPr algn="ctr">
              <a:lnSpc>
                <a:spcPts val="5579"/>
              </a:lnSpc>
            </a:pPr>
            <a:r>
              <a:rPr lang="en-US" sz="5873" b="true">
                <a:solidFill>
                  <a:srgbClr val="F0CFC7"/>
                </a:solidFill>
                <a:latin typeface="Noto Serif Ethiopic Condensed Bold"/>
                <a:ea typeface="Noto Serif Ethiopic Condensed Bold"/>
                <a:cs typeface="Noto Serif Ethiopic Condensed Bold"/>
                <a:sym typeface="Noto Serif Ethiopic Condensed Bold"/>
              </a:rPr>
              <a:t>High Fidelity Prototype Screens</a:t>
            </a:r>
          </a:p>
        </p:txBody>
      </p:sp>
      <p:sp>
        <p:nvSpPr>
          <p:cNvPr name="TextBox 18" id="18"/>
          <p:cNvSpPr txBox="true"/>
          <p:nvPr/>
        </p:nvSpPr>
        <p:spPr>
          <a:xfrm rot="0">
            <a:off x="1431486" y="8579327"/>
            <a:ext cx="3330886" cy="768849"/>
          </a:xfrm>
          <a:prstGeom prst="rect">
            <a:avLst/>
          </a:prstGeom>
        </p:spPr>
        <p:txBody>
          <a:bodyPr anchor="t" rtlCol="false" tIns="0" lIns="0" bIns="0" rIns="0">
            <a:spAutoFit/>
          </a:bodyPr>
          <a:lstStyle/>
          <a:p>
            <a:pPr algn="ctr">
              <a:lnSpc>
                <a:spcPts val="3068"/>
              </a:lnSpc>
            </a:pPr>
            <a:r>
              <a:rPr lang="en-US" sz="2789">
                <a:solidFill>
                  <a:srgbClr val="F0CFC7"/>
                </a:solidFill>
                <a:latin typeface="Noto Serif Ethiopic Condensed"/>
                <a:ea typeface="Noto Serif Ethiopic Condensed"/>
                <a:cs typeface="Noto Serif Ethiopic Condensed"/>
                <a:sym typeface="Noto Serif Ethiopic Condensed"/>
              </a:rPr>
              <a:t>Startup Page &amp;</a:t>
            </a:r>
          </a:p>
          <a:p>
            <a:pPr algn="ctr">
              <a:lnSpc>
                <a:spcPts val="3068"/>
              </a:lnSpc>
            </a:pPr>
            <a:r>
              <a:rPr lang="en-US" sz="2789">
                <a:solidFill>
                  <a:srgbClr val="F0CFC7"/>
                </a:solidFill>
                <a:latin typeface="Noto Serif Ethiopic Condensed"/>
                <a:ea typeface="Noto Serif Ethiopic Condensed"/>
                <a:cs typeface="Noto Serif Ethiopic Condensed"/>
                <a:sym typeface="Noto Serif Ethiopic Condensed"/>
              </a:rPr>
              <a:t> Login/Signup</a:t>
            </a:r>
          </a:p>
        </p:txBody>
      </p:sp>
      <p:sp>
        <p:nvSpPr>
          <p:cNvPr name="TextBox 19" id="19"/>
          <p:cNvSpPr txBox="true"/>
          <p:nvPr/>
        </p:nvSpPr>
        <p:spPr>
          <a:xfrm rot="0">
            <a:off x="5355393" y="8647340"/>
            <a:ext cx="2983066" cy="718548"/>
          </a:xfrm>
          <a:prstGeom prst="rect">
            <a:avLst/>
          </a:prstGeom>
        </p:spPr>
        <p:txBody>
          <a:bodyPr anchor="t" rtlCol="false" tIns="0" lIns="0" bIns="0" rIns="0">
            <a:spAutoFit/>
          </a:bodyPr>
          <a:lstStyle/>
          <a:p>
            <a:pPr algn="ctr">
              <a:lnSpc>
                <a:spcPts val="2789"/>
              </a:lnSpc>
            </a:pPr>
            <a:r>
              <a:rPr lang="en-US" sz="2789">
                <a:solidFill>
                  <a:srgbClr val="F0CFC7"/>
                </a:solidFill>
                <a:latin typeface="Noto Serif Ethiopic Condensed"/>
                <a:ea typeface="Noto Serif Ethiopic Condensed"/>
                <a:cs typeface="Noto Serif Ethiopic Condensed"/>
                <a:sym typeface="Noto Serif Ethiopic Condensed"/>
              </a:rPr>
              <a:t>Professional Support</a:t>
            </a:r>
          </a:p>
        </p:txBody>
      </p:sp>
      <p:sp>
        <p:nvSpPr>
          <p:cNvPr name="TextBox 20" id="20"/>
          <p:cNvSpPr txBox="true"/>
          <p:nvPr/>
        </p:nvSpPr>
        <p:spPr>
          <a:xfrm rot="0">
            <a:off x="9179725" y="8834416"/>
            <a:ext cx="2983066" cy="366123"/>
          </a:xfrm>
          <a:prstGeom prst="rect">
            <a:avLst/>
          </a:prstGeom>
        </p:spPr>
        <p:txBody>
          <a:bodyPr anchor="t" rtlCol="false" tIns="0" lIns="0" bIns="0" rIns="0">
            <a:spAutoFit/>
          </a:bodyPr>
          <a:lstStyle/>
          <a:p>
            <a:pPr algn="ctr">
              <a:lnSpc>
                <a:spcPts val="2789"/>
              </a:lnSpc>
            </a:pPr>
            <a:r>
              <a:rPr lang="en-US" sz="2789">
                <a:solidFill>
                  <a:srgbClr val="F0CFC7"/>
                </a:solidFill>
                <a:latin typeface="Noto Serif Ethiopic Condensed"/>
                <a:ea typeface="Noto Serif Ethiopic Condensed"/>
                <a:cs typeface="Noto Serif Ethiopic Condensed"/>
                <a:sym typeface="Noto Serif Ethiopic Condensed"/>
              </a:rPr>
              <a:t>Journaling</a:t>
            </a:r>
          </a:p>
        </p:txBody>
      </p:sp>
      <p:sp>
        <p:nvSpPr>
          <p:cNvPr name="TextBox 21" id="21"/>
          <p:cNvSpPr txBox="true"/>
          <p:nvPr/>
        </p:nvSpPr>
        <p:spPr>
          <a:xfrm rot="0">
            <a:off x="13615884" y="8855950"/>
            <a:ext cx="2983066" cy="366123"/>
          </a:xfrm>
          <a:prstGeom prst="rect">
            <a:avLst/>
          </a:prstGeom>
        </p:spPr>
        <p:txBody>
          <a:bodyPr anchor="t" rtlCol="false" tIns="0" lIns="0" bIns="0" rIns="0">
            <a:spAutoFit/>
          </a:bodyPr>
          <a:lstStyle/>
          <a:p>
            <a:pPr algn="ctr">
              <a:lnSpc>
                <a:spcPts val="2789"/>
              </a:lnSpc>
            </a:pPr>
            <a:r>
              <a:rPr lang="en-US" sz="2789">
                <a:solidFill>
                  <a:srgbClr val="F0CFC7"/>
                </a:solidFill>
                <a:latin typeface="Noto Serif Ethiopic Condensed"/>
                <a:ea typeface="Noto Serif Ethiopic Condensed"/>
                <a:cs typeface="Noto Serif Ethiopic Condensed"/>
                <a:sym typeface="Noto Serif Ethiopic Condensed"/>
              </a:rPr>
              <a:t>Profile</a:t>
            </a:r>
          </a:p>
        </p:txBody>
      </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Freeform 2" id="2"/>
          <p:cNvSpPr/>
          <p:nvPr/>
        </p:nvSpPr>
        <p:spPr>
          <a:xfrm flipH="false" flipV="false" rot="0">
            <a:off x="8596974" y="-1241953"/>
            <a:ext cx="3502048" cy="1916575"/>
          </a:xfrm>
          <a:custGeom>
            <a:avLst/>
            <a:gdLst/>
            <a:ahLst/>
            <a:cxnLst/>
            <a:rect r="r" b="b" t="t" l="l"/>
            <a:pathLst>
              <a:path h="1916575" w="3502048">
                <a:moveTo>
                  <a:pt x="0" y="0"/>
                </a:moveTo>
                <a:lnTo>
                  <a:pt x="3502048" y="0"/>
                </a:lnTo>
                <a:lnTo>
                  <a:pt x="3502048" y="1916576"/>
                </a:lnTo>
                <a:lnTo>
                  <a:pt x="0" y="19165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9623581"/>
            <a:ext cx="3502048" cy="1916575"/>
          </a:xfrm>
          <a:custGeom>
            <a:avLst/>
            <a:gdLst/>
            <a:ahLst/>
            <a:cxnLst/>
            <a:rect r="r" b="b" t="t" l="l"/>
            <a:pathLst>
              <a:path h="1916575" w="3502048">
                <a:moveTo>
                  <a:pt x="0" y="0"/>
                </a:moveTo>
                <a:lnTo>
                  <a:pt x="3502048" y="0"/>
                </a:lnTo>
                <a:lnTo>
                  <a:pt x="3502048" y="1916575"/>
                </a:lnTo>
                <a:lnTo>
                  <a:pt x="0" y="1916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5540215" y="8458968"/>
            <a:ext cx="1345360" cy="252919"/>
          </a:xfrm>
          <a:prstGeom prst="rect">
            <a:avLst/>
          </a:prstGeom>
        </p:spPr>
        <p:txBody>
          <a:bodyPr anchor="t" rtlCol="false" tIns="0" lIns="0" bIns="0" rIns="0">
            <a:spAutoFit/>
          </a:bodyPr>
          <a:lstStyle/>
          <a:p>
            <a:pPr algn="ctr">
              <a:lnSpc>
                <a:spcPts val="1928"/>
              </a:lnSpc>
            </a:pPr>
          </a:p>
        </p:txBody>
      </p:sp>
      <p:grpSp>
        <p:nvGrpSpPr>
          <p:cNvPr name="Group 5" id="5"/>
          <p:cNvGrpSpPr/>
          <p:nvPr/>
        </p:nvGrpSpPr>
        <p:grpSpPr>
          <a:xfrm rot="0">
            <a:off x="999163" y="1137435"/>
            <a:ext cx="16260137" cy="8262454"/>
            <a:chOff x="0" y="0"/>
            <a:chExt cx="4424523" cy="2248284"/>
          </a:xfrm>
        </p:grpSpPr>
        <p:sp>
          <p:nvSpPr>
            <p:cNvPr name="Freeform 6" id="6"/>
            <p:cNvSpPr/>
            <p:nvPr/>
          </p:nvSpPr>
          <p:spPr>
            <a:xfrm flipH="false" flipV="false" rot="0">
              <a:off x="0" y="0"/>
              <a:ext cx="4424523" cy="2248284"/>
            </a:xfrm>
            <a:custGeom>
              <a:avLst/>
              <a:gdLst/>
              <a:ahLst/>
              <a:cxnLst/>
              <a:rect r="r" b="b" t="t" l="l"/>
              <a:pathLst>
                <a:path h="2248284" w="4424523">
                  <a:moveTo>
                    <a:pt x="11903" y="0"/>
                  </a:moveTo>
                  <a:lnTo>
                    <a:pt x="4412619" y="0"/>
                  </a:lnTo>
                  <a:cubicBezTo>
                    <a:pt x="4415776" y="0"/>
                    <a:pt x="4418804" y="1254"/>
                    <a:pt x="4421036" y="3486"/>
                  </a:cubicBezTo>
                  <a:cubicBezTo>
                    <a:pt x="4423268" y="5719"/>
                    <a:pt x="4424523" y="8746"/>
                    <a:pt x="4424523" y="11903"/>
                  </a:cubicBezTo>
                  <a:lnTo>
                    <a:pt x="4424523" y="2236381"/>
                  </a:lnTo>
                  <a:cubicBezTo>
                    <a:pt x="4424523" y="2239538"/>
                    <a:pt x="4423268" y="2242566"/>
                    <a:pt x="4421036" y="2244798"/>
                  </a:cubicBezTo>
                  <a:cubicBezTo>
                    <a:pt x="4418804" y="2247030"/>
                    <a:pt x="4415776" y="2248284"/>
                    <a:pt x="4412619" y="2248284"/>
                  </a:cubicBezTo>
                  <a:lnTo>
                    <a:pt x="11903" y="2248284"/>
                  </a:lnTo>
                  <a:cubicBezTo>
                    <a:pt x="8746" y="2248284"/>
                    <a:pt x="5719" y="2247030"/>
                    <a:pt x="3486" y="2244798"/>
                  </a:cubicBezTo>
                  <a:cubicBezTo>
                    <a:pt x="1254" y="2242566"/>
                    <a:pt x="0" y="2239538"/>
                    <a:pt x="0" y="2236381"/>
                  </a:cubicBezTo>
                  <a:lnTo>
                    <a:pt x="0" y="11903"/>
                  </a:lnTo>
                  <a:cubicBezTo>
                    <a:pt x="0" y="8746"/>
                    <a:pt x="1254" y="5719"/>
                    <a:pt x="3486" y="3486"/>
                  </a:cubicBezTo>
                  <a:cubicBezTo>
                    <a:pt x="5719" y="1254"/>
                    <a:pt x="8746" y="0"/>
                    <a:pt x="11903" y="0"/>
                  </a:cubicBezTo>
                  <a:close/>
                </a:path>
              </a:pathLst>
            </a:custGeom>
            <a:solidFill>
              <a:srgbClr val="FFFFFF">
                <a:alpha val="12941"/>
              </a:srgbClr>
            </a:solidFill>
            <a:ln w="38100" cap="rnd">
              <a:solidFill>
                <a:srgbClr val="FFFFFF">
                  <a:alpha val="12941"/>
                </a:srgbClr>
              </a:solidFill>
              <a:prstDash val="solid"/>
              <a:round/>
            </a:ln>
          </p:spPr>
        </p:sp>
        <p:sp>
          <p:nvSpPr>
            <p:cNvPr name="TextBox 7" id="7"/>
            <p:cNvSpPr txBox="true"/>
            <p:nvPr/>
          </p:nvSpPr>
          <p:spPr>
            <a:xfrm>
              <a:off x="0" y="-38100"/>
              <a:ext cx="4424523" cy="2286384"/>
            </a:xfrm>
            <a:prstGeom prst="rect">
              <a:avLst/>
            </a:prstGeom>
          </p:spPr>
          <p:txBody>
            <a:bodyPr anchor="ctr" rtlCol="false" tIns="49169" lIns="49169" bIns="49169" rIns="49169"/>
            <a:lstStyle/>
            <a:p>
              <a:pPr algn="ctr">
                <a:lnSpc>
                  <a:spcPts val="2659"/>
                </a:lnSpc>
              </a:pPr>
            </a:p>
          </p:txBody>
        </p:sp>
      </p:grpSp>
      <p:sp>
        <p:nvSpPr>
          <p:cNvPr name="Freeform 8" id="8"/>
          <p:cNvSpPr/>
          <p:nvPr/>
        </p:nvSpPr>
        <p:spPr>
          <a:xfrm flipH="false" flipV="false" rot="0">
            <a:off x="291258" y="7758372"/>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2365504" y="9599348"/>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3712854" y="390038"/>
            <a:ext cx="480267" cy="480267"/>
          </a:xfrm>
          <a:custGeom>
            <a:avLst/>
            <a:gdLst/>
            <a:ahLst/>
            <a:cxnLst/>
            <a:rect r="r" b="b" t="t" l="l"/>
            <a:pathLst>
              <a:path h="480267" w="480267">
                <a:moveTo>
                  <a:pt x="0" y="0"/>
                </a:moveTo>
                <a:lnTo>
                  <a:pt x="480268" y="0"/>
                </a:lnTo>
                <a:lnTo>
                  <a:pt x="480268" y="480267"/>
                </a:lnTo>
                <a:lnTo>
                  <a:pt x="0" y="480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999163" y="2198895"/>
            <a:ext cx="16260137" cy="7183230"/>
          </a:xfrm>
          <a:custGeom>
            <a:avLst/>
            <a:gdLst/>
            <a:ahLst/>
            <a:cxnLst/>
            <a:rect r="r" b="b" t="t" l="l"/>
            <a:pathLst>
              <a:path h="7183230" w="16260137">
                <a:moveTo>
                  <a:pt x="0" y="0"/>
                </a:moveTo>
                <a:lnTo>
                  <a:pt x="16260137" y="0"/>
                </a:lnTo>
                <a:lnTo>
                  <a:pt x="16260137" y="7183230"/>
                </a:lnTo>
                <a:lnTo>
                  <a:pt x="0" y="7183230"/>
                </a:lnTo>
                <a:lnTo>
                  <a:pt x="0" y="0"/>
                </a:lnTo>
                <a:close/>
              </a:path>
            </a:pathLst>
          </a:custGeom>
          <a:blipFill>
            <a:blip r:embed="rId6"/>
            <a:stretch>
              <a:fillRect l="0" t="-224" r="0" b="-224"/>
            </a:stretch>
          </a:blipFill>
        </p:spPr>
      </p:sp>
      <p:sp>
        <p:nvSpPr>
          <p:cNvPr name="TextBox 12" id="12"/>
          <p:cNvSpPr txBox="true"/>
          <p:nvPr/>
        </p:nvSpPr>
        <p:spPr>
          <a:xfrm rot="0">
            <a:off x="1028700" y="528571"/>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13" id="13"/>
          <p:cNvSpPr txBox="true"/>
          <p:nvPr/>
        </p:nvSpPr>
        <p:spPr>
          <a:xfrm rot="0">
            <a:off x="15107417" y="9656498"/>
            <a:ext cx="2151883"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Natalee De Silva</a:t>
            </a:r>
          </a:p>
        </p:txBody>
      </p:sp>
      <p:sp>
        <p:nvSpPr>
          <p:cNvPr name="TextBox 14" id="14"/>
          <p:cNvSpPr txBox="true"/>
          <p:nvPr/>
        </p:nvSpPr>
        <p:spPr>
          <a:xfrm rot="0">
            <a:off x="3096929" y="1311121"/>
            <a:ext cx="12094143" cy="748455"/>
          </a:xfrm>
          <a:prstGeom prst="rect">
            <a:avLst/>
          </a:prstGeom>
        </p:spPr>
        <p:txBody>
          <a:bodyPr anchor="t" rtlCol="false" tIns="0" lIns="0" bIns="0" rIns="0">
            <a:spAutoFit/>
          </a:bodyPr>
          <a:lstStyle/>
          <a:p>
            <a:pPr algn="ctr">
              <a:lnSpc>
                <a:spcPts val="5579"/>
              </a:lnSpc>
            </a:pPr>
            <a:r>
              <a:rPr lang="en-US" sz="5873" b="true">
                <a:solidFill>
                  <a:srgbClr val="F0CFC7"/>
                </a:solidFill>
                <a:latin typeface="Noto Serif Ethiopic Condensed Bold"/>
                <a:ea typeface="Noto Serif Ethiopic Condensed Bold"/>
                <a:cs typeface="Noto Serif Ethiopic Condensed Bold"/>
                <a:sym typeface="Noto Serif Ethiopic Condensed Bold"/>
              </a:rPr>
              <a:t>HTA of User Interactions</a:t>
            </a:r>
          </a:p>
        </p:txBody>
      </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Freeform 2" id="2"/>
          <p:cNvSpPr/>
          <p:nvPr/>
        </p:nvSpPr>
        <p:spPr>
          <a:xfrm flipH="false" flipV="false" rot="0">
            <a:off x="8596974" y="-1241953"/>
            <a:ext cx="3502048" cy="1916575"/>
          </a:xfrm>
          <a:custGeom>
            <a:avLst/>
            <a:gdLst/>
            <a:ahLst/>
            <a:cxnLst/>
            <a:rect r="r" b="b" t="t" l="l"/>
            <a:pathLst>
              <a:path h="1916575" w="3502048">
                <a:moveTo>
                  <a:pt x="0" y="0"/>
                </a:moveTo>
                <a:lnTo>
                  <a:pt x="3502048" y="0"/>
                </a:lnTo>
                <a:lnTo>
                  <a:pt x="3502048" y="1916576"/>
                </a:lnTo>
                <a:lnTo>
                  <a:pt x="0" y="19165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9623581"/>
            <a:ext cx="3502048" cy="1916575"/>
          </a:xfrm>
          <a:custGeom>
            <a:avLst/>
            <a:gdLst/>
            <a:ahLst/>
            <a:cxnLst/>
            <a:rect r="r" b="b" t="t" l="l"/>
            <a:pathLst>
              <a:path h="1916575" w="3502048">
                <a:moveTo>
                  <a:pt x="0" y="0"/>
                </a:moveTo>
                <a:lnTo>
                  <a:pt x="3502048" y="0"/>
                </a:lnTo>
                <a:lnTo>
                  <a:pt x="3502048" y="1916575"/>
                </a:lnTo>
                <a:lnTo>
                  <a:pt x="0" y="1916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5540215" y="8458968"/>
            <a:ext cx="1345360" cy="252919"/>
          </a:xfrm>
          <a:prstGeom prst="rect">
            <a:avLst/>
          </a:prstGeom>
        </p:spPr>
        <p:txBody>
          <a:bodyPr anchor="t" rtlCol="false" tIns="0" lIns="0" bIns="0" rIns="0">
            <a:spAutoFit/>
          </a:bodyPr>
          <a:lstStyle/>
          <a:p>
            <a:pPr algn="ctr">
              <a:lnSpc>
                <a:spcPts val="1928"/>
              </a:lnSpc>
            </a:pPr>
          </a:p>
        </p:txBody>
      </p:sp>
      <p:grpSp>
        <p:nvGrpSpPr>
          <p:cNvPr name="Group 5" id="5"/>
          <p:cNvGrpSpPr/>
          <p:nvPr/>
        </p:nvGrpSpPr>
        <p:grpSpPr>
          <a:xfrm rot="0">
            <a:off x="999163" y="1137435"/>
            <a:ext cx="16260137" cy="8262454"/>
            <a:chOff x="0" y="0"/>
            <a:chExt cx="4424523" cy="2248284"/>
          </a:xfrm>
        </p:grpSpPr>
        <p:sp>
          <p:nvSpPr>
            <p:cNvPr name="Freeform 6" id="6"/>
            <p:cNvSpPr/>
            <p:nvPr/>
          </p:nvSpPr>
          <p:spPr>
            <a:xfrm flipH="false" flipV="false" rot="0">
              <a:off x="0" y="0"/>
              <a:ext cx="4424523" cy="2248284"/>
            </a:xfrm>
            <a:custGeom>
              <a:avLst/>
              <a:gdLst/>
              <a:ahLst/>
              <a:cxnLst/>
              <a:rect r="r" b="b" t="t" l="l"/>
              <a:pathLst>
                <a:path h="2248284" w="4424523">
                  <a:moveTo>
                    <a:pt x="11903" y="0"/>
                  </a:moveTo>
                  <a:lnTo>
                    <a:pt x="4412619" y="0"/>
                  </a:lnTo>
                  <a:cubicBezTo>
                    <a:pt x="4415776" y="0"/>
                    <a:pt x="4418804" y="1254"/>
                    <a:pt x="4421036" y="3486"/>
                  </a:cubicBezTo>
                  <a:cubicBezTo>
                    <a:pt x="4423268" y="5719"/>
                    <a:pt x="4424523" y="8746"/>
                    <a:pt x="4424523" y="11903"/>
                  </a:cubicBezTo>
                  <a:lnTo>
                    <a:pt x="4424523" y="2236381"/>
                  </a:lnTo>
                  <a:cubicBezTo>
                    <a:pt x="4424523" y="2239538"/>
                    <a:pt x="4423268" y="2242566"/>
                    <a:pt x="4421036" y="2244798"/>
                  </a:cubicBezTo>
                  <a:cubicBezTo>
                    <a:pt x="4418804" y="2247030"/>
                    <a:pt x="4415776" y="2248284"/>
                    <a:pt x="4412619" y="2248284"/>
                  </a:cubicBezTo>
                  <a:lnTo>
                    <a:pt x="11903" y="2248284"/>
                  </a:lnTo>
                  <a:cubicBezTo>
                    <a:pt x="8746" y="2248284"/>
                    <a:pt x="5719" y="2247030"/>
                    <a:pt x="3486" y="2244798"/>
                  </a:cubicBezTo>
                  <a:cubicBezTo>
                    <a:pt x="1254" y="2242566"/>
                    <a:pt x="0" y="2239538"/>
                    <a:pt x="0" y="2236381"/>
                  </a:cubicBezTo>
                  <a:lnTo>
                    <a:pt x="0" y="11903"/>
                  </a:lnTo>
                  <a:cubicBezTo>
                    <a:pt x="0" y="8746"/>
                    <a:pt x="1254" y="5719"/>
                    <a:pt x="3486" y="3486"/>
                  </a:cubicBezTo>
                  <a:cubicBezTo>
                    <a:pt x="5719" y="1254"/>
                    <a:pt x="8746" y="0"/>
                    <a:pt x="11903" y="0"/>
                  </a:cubicBezTo>
                  <a:close/>
                </a:path>
              </a:pathLst>
            </a:custGeom>
            <a:solidFill>
              <a:srgbClr val="FFFFFF">
                <a:alpha val="12941"/>
              </a:srgbClr>
            </a:solidFill>
            <a:ln w="38100" cap="rnd">
              <a:solidFill>
                <a:srgbClr val="FFFFFF">
                  <a:alpha val="12941"/>
                </a:srgbClr>
              </a:solidFill>
              <a:prstDash val="solid"/>
              <a:round/>
            </a:ln>
          </p:spPr>
        </p:sp>
        <p:sp>
          <p:nvSpPr>
            <p:cNvPr name="TextBox 7" id="7"/>
            <p:cNvSpPr txBox="true"/>
            <p:nvPr/>
          </p:nvSpPr>
          <p:spPr>
            <a:xfrm>
              <a:off x="0" y="-38100"/>
              <a:ext cx="4424523" cy="2286384"/>
            </a:xfrm>
            <a:prstGeom prst="rect">
              <a:avLst/>
            </a:prstGeom>
          </p:spPr>
          <p:txBody>
            <a:bodyPr anchor="ctr" rtlCol="false" tIns="49169" lIns="49169" bIns="49169" rIns="49169"/>
            <a:lstStyle/>
            <a:p>
              <a:pPr algn="ctr">
                <a:lnSpc>
                  <a:spcPts val="2659"/>
                </a:lnSpc>
              </a:pPr>
            </a:p>
          </p:txBody>
        </p:sp>
      </p:grpSp>
      <p:sp>
        <p:nvSpPr>
          <p:cNvPr name="Freeform 8" id="8"/>
          <p:cNvSpPr/>
          <p:nvPr/>
        </p:nvSpPr>
        <p:spPr>
          <a:xfrm flipH="false" flipV="false" rot="0">
            <a:off x="167433" y="7758372"/>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2365504" y="9599348"/>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3712854" y="390038"/>
            <a:ext cx="480267" cy="480267"/>
          </a:xfrm>
          <a:custGeom>
            <a:avLst/>
            <a:gdLst/>
            <a:ahLst/>
            <a:cxnLst/>
            <a:rect r="r" b="b" t="t" l="l"/>
            <a:pathLst>
              <a:path h="480267" w="480267">
                <a:moveTo>
                  <a:pt x="0" y="0"/>
                </a:moveTo>
                <a:lnTo>
                  <a:pt x="480268" y="0"/>
                </a:lnTo>
                <a:lnTo>
                  <a:pt x="480268" y="480267"/>
                </a:lnTo>
                <a:lnTo>
                  <a:pt x="0" y="480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028700" y="528571"/>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12" id="12"/>
          <p:cNvSpPr txBox="true"/>
          <p:nvPr/>
        </p:nvSpPr>
        <p:spPr>
          <a:xfrm rot="0">
            <a:off x="15107417" y="9656498"/>
            <a:ext cx="2151883"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Natalee De Silva</a:t>
            </a:r>
          </a:p>
        </p:txBody>
      </p:sp>
      <p:sp>
        <p:nvSpPr>
          <p:cNvPr name="TextBox 13" id="13"/>
          <p:cNvSpPr txBox="true"/>
          <p:nvPr/>
        </p:nvSpPr>
        <p:spPr>
          <a:xfrm rot="0">
            <a:off x="3096929" y="1469099"/>
            <a:ext cx="12094143" cy="748455"/>
          </a:xfrm>
          <a:prstGeom prst="rect">
            <a:avLst/>
          </a:prstGeom>
        </p:spPr>
        <p:txBody>
          <a:bodyPr anchor="t" rtlCol="false" tIns="0" lIns="0" bIns="0" rIns="0">
            <a:spAutoFit/>
          </a:bodyPr>
          <a:lstStyle/>
          <a:p>
            <a:pPr algn="ctr">
              <a:lnSpc>
                <a:spcPts val="5579"/>
              </a:lnSpc>
            </a:pPr>
            <a:r>
              <a:rPr lang="en-US" sz="5873" b="true">
                <a:solidFill>
                  <a:srgbClr val="F0CFC7"/>
                </a:solidFill>
                <a:latin typeface="Noto Serif Ethiopic Condensed Bold"/>
                <a:ea typeface="Noto Serif Ethiopic Condensed Bold"/>
                <a:cs typeface="Noto Serif Ethiopic Condensed Bold"/>
                <a:sym typeface="Noto Serif Ethiopic Condensed Bold"/>
              </a:rPr>
              <a:t>Usability Testing Summary</a:t>
            </a:r>
          </a:p>
        </p:txBody>
      </p:sp>
      <p:sp>
        <p:nvSpPr>
          <p:cNvPr name="TextBox 14" id="14"/>
          <p:cNvSpPr txBox="true"/>
          <p:nvPr/>
        </p:nvSpPr>
        <p:spPr>
          <a:xfrm rot="0">
            <a:off x="5743930" y="3209925"/>
            <a:ext cx="6621574" cy="1847850"/>
          </a:xfrm>
          <a:prstGeom prst="rect">
            <a:avLst/>
          </a:prstGeom>
        </p:spPr>
        <p:txBody>
          <a:bodyPr anchor="t" rtlCol="false" tIns="0" lIns="0" bIns="0" rIns="0">
            <a:spAutoFit/>
          </a:bodyPr>
          <a:lstStyle/>
          <a:p>
            <a:pPr algn="l" marL="539749" indent="-269875" lvl="1">
              <a:lnSpc>
                <a:spcPts val="3749"/>
              </a:lnSpc>
              <a:buFont typeface="Arial"/>
              <a:buChar char="•"/>
            </a:pPr>
            <a:r>
              <a:rPr lang="en-US" sz="2499">
                <a:solidFill>
                  <a:srgbClr val="F0CFC7"/>
                </a:solidFill>
                <a:latin typeface="Noto Serif Ethiopic Condensed"/>
                <a:ea typeface="Noto Serif Ethiopic Condensed"/>
                <a:cs typeface="Noto Serif Ethiopic Condensed"/>
                <a:sym typeface="Noto Serif Ethiopic Condensed"/>
              </a:rPr>
              <a:t>Limited safety features reduced user trust</a:t>
            </a:r>
          </a:p>
          <a:p>
            <a:pPr algn="l" marL="539749" indent="-269875" lvl="1">
              <a:lnSpc>
                <a:spcPts val="3749"/>
              </a:lnSpc>
              <a:buFont typeface="Arial"/>
              <a:buChar char="•"/>
            </a:pPr>
            <a:r>
              <a:rPr lang="en-US" sz="2499">
                <a:solidFill>
                  <a:srgbClr val="F0CFC7"/>
                </a:solidFill>
                <a:latin typeface="Noto Serif Ethiopic Condensed"/>
                <a:ea typeface="Noto Serif Ethiopic Condensed"/>
                <a:cs typeface="Noto Serif Ethiopic Condensed"/>
                <a:sym typeface="Noto Serif Ethiopic Condensed"/>
              </a:rPr>
              <a:t>E</a:t>
            </a:r>
            <a:r>
              <a:rPr lang="en-US" sz="2499">
                <a:solidFill>
                  <a:srgbClr val="F0CFC7"/>
                </a:solidFill>
                <a:latin typeface="Noto Serif Ethiopic Condensed"/>
                <a:ea typeface="Noto Serif Ethiopic Condensed"/>
                <a:cs typeface="Noto Serif Ethiopic Condensed"/>
                <a:sym typeface="Noto Serif Ethiopic Condensed"/>
              </a:rPr>
              <a:t>mergency support lacked direct accessibility</a:t>
            </a:r>
          </a:p>
          <a:p>
            <a:pPr algn="l" marL="539749" indent="-269875" lvl="1">
              <a:lnSpc>
                <a:spcPts val="3749"/>
              </a:lnSpc>
              <a:buFont typeface="Arial"/>
              <a:buChar char="•"/>
            </a:pPr>
            <a:r>
              <a:rPr lang="en-US" sz="2499">
                <a:solidFill>
                  <a:srgbClr val="F0CFC7"/>
                </a:solidFill>
                <a:latin typeface="Noto Serif Ethiopic Condensed"/>
                <a:ea typeface="Noto Serif Ethiopic Condensed"/>
                <a:cs typeface="Noto Serif Ethiopic Condensed"/>
                <a:sym typeface="Noto Serif Ethiopic Condensed"/>
              </a:rPr>
              <a:t>R</a:t>
            </a:r>
            <a:r>
              <a:rPr lang="en-US" sz="2499">
                <a:solidFill>
                  <a:srgbClr val="F0CFC7"/>
                </a:solidFill>
                <a:latin typeface="Noto Serif Ethiopic Condensed"/>
                <a:ea typeface="Noto Serif Ethiopic Condensed"/>
                <a:cs typeface="Noto Serif Ethiopic Condensed"/>
                <a:sym typeface="Noto Serif Ethiopic Condensed"/>
              </a:rPr>
              <a:t>epetitive check-ins lowered engagement</a:t>
            </a:r>
          </a:p>
          <a:p>
            <a:pPr algn="l" marL="539749" indent="-269875" lvl="1">
              <a:lnSpc>
                <a:spcPts val="3749"/>
              </a:lnSpc>
              <a:buFont typeface="Arial"/>
              <a:buChar char="•"/>
            </a:pPr>
            <a:r>
              <a:rPr lang="en-US" sz="2499">
                <a:solidFill>
                  <a:srgbClr val="F0CFC7"/>
                </a:solidFill>
                <a:latin typeface="Noto Serif Ethiopic Condensed"/>
                <a:ea typeface="Noto Serif Ethiopic Condensed"/>
                <a:cs typeface="Noto Serif Ethiopic Condensed"/>
                <a:sym typeface="Noto Serif Ethiopic Condensed"/>
              </a:rPr>
              <a:t>U</a:t>
            </a:r>
            <a:r>
              <a:rPr lang="en-US" sz="2499">
                <a:solidFill>
                  <a:srgbClr val="F0CFC7"/>
                </a:solidFill>
                <a:latin typeface="Noto Serif Ethiopic Condensed"/>
                <a:ea typeface="Noto Serif Ethiopic Condensed"/>
                <a:cs typeface="Noto Serif Ethiopic Condensed"/>
                <a:sym typeface="Noto Serif Ethiopic Condensed"/>
              </a:rPr>
              <a:t>nclear AI boundaries caused confusion</a:t>
            </a:r>
          </a:p>
        </p:txBody>
      </p:sp>
      <p:grpSp>
        <p:nvGrpSpPr>
          <p:cNvPr name="Group 15" id="15"/>
          <p:cNvGrpSpPr>
            <a:grpSpLocks noChangeAspect="true"/>
          </p:cNvGrpSpPr>
          <p:nvPr/>
        </p:nvGrpSpPr>
        <p:grpSpPr>
          <a:xfrm rot="376265">
            <a:off x="14295025" y="1816130"/>
            <a:ext cx="3455547" cy="6837394"/>
            <a:chOff x="0" y="0"/>
            <a:chExt cx="2620010" cy="5184140"/>
          </a:xfrm>
        </p:grpSpPr>
        <p:sp>
          <p:nvSpPr>
            <p:cNvPr name="Freeform 16" id="1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17" id="17"/>
            <p:cNvSpPr/>
            <p:nvPr/>
          </p:nvSpPr>
          <p:spPr>
            <a:xfrm flipH="false" flipV="false" rot="0">
              <a:off x="185420" y="156210"/>
              <a:ext cx="2250453" cy="4876800"/>
            </a:xfrm>
            <a:custGeom>
              <a:avLst/>
              <a:gdLst/>
              <a:ahLst/>
              <a:cxnLst/>
              <a:rect r="r" b="b" t="t" l="l"/>
              <a:pathLst>
                <a:path h="4876800" w="2250453">
                  <a:moveTo>
                    <a:pt x="2040890" y="0"/>
                  </a:moveTo>
                  <a:lnTo>
                    <a:pt x="1769110" y="0"/>
                  </a:lnTo>
                  <a:lnTo>
                    <a:pt x="1769110" y="57150"/>
                  </a:lnTo>
                  <a:cubicBezTo>
                    <a:pt x="1769110" y="121920"/>
                    <a:pt x="1715770" y="175260"/>
                    <a:pt x="1651000" y="175260"/>
                  </a:cubicBezTo>
                  <a:lnTo>
                    <a:pt x="601980" y="175260"/>
                  </a:lnTo>
                  <a:cubicBezTo>
                    <a:pt x="537210" y="175260"/>
                    <a:pt x="483870" y="121920"/>
                    <a:pt x="483870" y="57150"/>
                  </a:cubicBezTo>
                  <a:lnTo>
                    <a:pt x="483870" y="0"/>
                  </a:lnTo>
                  <a:lnTo>
                    <a:pt x="209550" y="0"/>
                  </a:lnTo>
                  <a:cubicBezTo>
                    <a:pt x="93980" y="0"/>
                    <a:pt x="0" y="93980"/>
                    <a:pt x="0" y="209550"/>
                  </a:cubicBezTo>
                  <a:lnTo>
                    <a:pt x="0" y="4667250"/>
                  </a:lnTo>
                  <a:cubicBezTo>
                    <a:pt x="0" y="4782820"/>
                    <a:pt x="93980" y="4876800"/>
                    <a:pt x="209550" y="4876800"/>
                  </a:cubicBezTo>
                  <a:lnTo>
                    <a:pt x="2040890" y="4876800"/>
                  </a:lnTo>
                  <a:cubicBezTo>
                    <a:pt x="2156460" y="4876800"/>
                    <a:pt x="2250440" y="4782820"/>
                    <a:pt x="2250440" y="4667250"/>
                  </a:cubicBezTo>
                  <a:lnTo>
                    <a:pt x="2250440" y="209550"/>
                  </a:lnTo>
                  <a:cubicBezTo>
                    <a:pt x="2251710" y="93980"/>
                    <a:pt x="2157730" y="0"/>
                    <a:pt x="2040890" y="0"/>
                  </a:cubicBezTo>
                  <a:close/>
                </a:path>
              </a:pathLst>
            </a:custGeom>
            <a:blipFill>
              <a:blip r:embed="rId6"/>
              <a:stretch>
                <a:fillRect l="-156" t="0" r="-156" b="0"/>
              </a:stretch>
            </a:blipFill>
          </p:spPr>
        </p:sp>
        <p:sp>
          <p:nvSpPr>
            <p:cNvPr name="Freeform 18" id="1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19" id="1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20" id="2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21" id="2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22" id="2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23" id="2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24" id="2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CA7AAA"/>
            </a:solidFill>
          </p:spPr>
        </p:sp>
      </p:grpSp>
      <p:grpSp>
        <p:nvGrpSpPr>
          <p:cNvPr name="Group 25" id="25"/>
          <p:cNvGrpSpPr>
            <a:grpSpLocks noChangeAspect="true"/>
          </p:cNvGrpSpPr>
          <p:nvPr/>
        </p:nvGrpSpPr>
        <p:grpSpPr>
          <a:xfrm rot="-265194">
            <a:off x="521008" y="1861418"/>
            <a:ext cx="3455547" cy="6837394"/>
            <a:chOff x="0" y="0"/>
            <a:chExt cx="2620010" cy="5184140"/>
          </a:xfrm>
        </p:grpSpPr>
        <p:sp>
          <p:nvSpPr>
            <p:cNvPr name="Freeform 26" id="26"/>
            <p:cNvSpPr/>
            <p:nvPr/>
          </p:nvSpPr>
          <p:spPr>
            <a:xfrm flipH="false" flipV="false" rot="0">
              <a:off x="53340" y="25400"/>
              <a:ext cx="2513330" cy="5132070"/>
            </a:xfrm>
            <a:custGeom>
              <a:avLst/>
              <a:gdLst/>
              <a:ahLst/>
              <a:cxnLst/>
              <a:rect r="r" b="b" t="t" l="l"/>
              <a:pathLst>
                <a:path h="5132070" w="2513330">
                  <a:moveTo>
                    <a:pt x="2159000" y="0"/>
                  </a:moveTo>
                  <a:lnTo>
                    <a:pt x="354330" y="0"/>
                  </a:lnTo>
                  <a:cubicBezTo>
                    <a:pt x="158750" y="0"/>
                    <a:pt x="0" y="158750"/>
                    <a:pt x="0" y="354330"/>
                  </a:cubicBezTo>
                  <a:lnTo>
                    <a:pt x="0" y="4777740"/>
                  </a:lnTo>
                  <a:cubicBezTo>
                    <a:pt x="0" y="4973320"/>
                    <a:pt x="158750" y="5132070"/>
                    <a:pt x="354330" y="5132070"/>
                  </a:cubicBezTo>
                  <a:lnTo>
                    <a:pt x="2159000" y="5132070"/>
                  </a:lnTo>
                  <a:cubicBezTo>
                    <a:pt x="2354580" y="5132070"/>
                    <a:pt x="2513330" y="4973320"/>
                    <a:pt x="2513330" y="4777740"/>
                  </a:cubicBezTo>
                  <a:lnTo>
                    <a:pt x="2513330" y="354330"/>
                  </a:lnTo>
                  <a:cubicBezTo>
                    <a:pt x="2513330" y="158750"/>
                    <a:pt x="2354580" y="0"/>
                    <a:pt x="2159000" y="0"/>
                  </a:cubicBezTo>
                  <a:close/>
                  <a:moveTo>
                    <a:pt x="1558290" y="162560"/>
                  </a:moveTo>
                  <a:cubicBezTo>
                    <a:pt x="1576070" y="162560"/>
                    <a:pt x="1590040" y="176530"/>
                    <a:pt x="1590040" y="194310"/>
                  </a:cubicBezTo>
                  <a:cubicBezTo>
                    <a:pt x="1590040" y="212090"/>
                    <a:pt x="1576070" y="226060"/>
                    <a:pt x="1558290" y="226060"/>
                  </a:cubicBezTo>
                  <a:cubicBezTo>
                    <a:pt x="1540510" y="226060"/>
                    <a:pt x="1526540" y="212090"/>
                    <a:pt x="1526540" y="194310"/>
                  </a:cubicBezTo>
                  <a:cubicBezTo>
                    <a:pt x="1526540" y="176530"/>
                    <a:pt x="1541780" y="162560"/>
                    <a:pt x="1558290" y="162560"/>
                  </a:cubicBezTo>
                  <a:close/>
                  <a:moveTo>
                    <a:pt x="1089660" y="172720"/>
                  </a:moveTo>
                  <a:lnTo>
                    <a:pt x="1394460" y="172720"/>
                  </a:lnTo>
                  <a:cubicBezTo>
                    <a:pt x="1405890" y="172720"/>
                    <a:pt x="1416050" y="181610"/>
                    <a:pt x="1416050" y="194310"/>
                  </a:cubicBezTo>
                  <a:cubicBezTo>
                    <a:pt x="1416050" y="207010"/>
                    <a:pt x="1405890" y="215900"/>
                    <a:pt x="1394460" y="215900"/>
                  </a:cubicBezTo>
                  <a:lnTo>
                    <a:pt x="1089660" y="215900"/>
                  </a:lnTo>
                  <a:cubicBezTo>
                    <a:pt x="1078230" y="215900"/>
                    <a:pt x="1068070" y="207010"/>
                    <a:pt x="1068070" y="194310"/>
                  </a:cubicBezTo>
                  <a:cubicBezTo>
                    <a:pt x="1068070" y="181610"/>
                    <a:pt x="1078230" y="172720"/>
                    <a:pt x="1089660" y="172720"/>
                  </a:cubicBezTo>
                  <a:close/>
                  <a:moveTo>
                    <a:pt x="2383790" y="4798060"/>
                  </a:moveTo>
                  <a:cubicBezTo>
                    <a:pt x="2383790" y="4913630"/>
                    <a:pt x="2289810" y="5007610"/>
                    <a:pt x="2174240" y="5007610"/>
                  </a:cubicBezTo>
                  <a:lnTo>
                    <a:pt x="341630" y="5007610"/>
                  </a:lnTo>
                  <a:cubicBezTo>
                    <a:pt x="226060" y="5007610"/>
                    <a:pt x="132080" y="4913630"/>
                    <a:pt x="132080" y="4798060"/>
                  </a:cubicBezTo>
                  <a:lnTo>
                    <a:pt x="132080" y="340360"/>
                  </a:lnTo>
                  <a:cubicBezTo>
                    <a:pt x="132080" y="224790"/>
                    <a:pt x="226060" y="130810"/>
                    <a:pt x="341630" y="130810"/>
                  </a:cubicBezTo>
                  <a:lnTo>
                    <a:pt x="614680" y="130810"/>
                  </a:lnTo>
                  <a:lnTo>
                    <a:pt x="614680" y="187960"/>
                  </a:lnTo>
                  <a:cubicBezTo>
                    <a:pt x="614680" y="252730"/>
                    <a:pt x="668020" y="306070"/>
                    <a:pt x="732790" y="306070"/>
                  </a:cubicBezTo>
                  <a:lnTo>
                    <a:pt x="1783080" y="306070"/>
                  </a:lnTo>
                  <a:cubicBezTo>
                    <a:pt x="1847850" y="306070"/>
                    <a:pt x="1901190" y="252730"/>
                    <a:pt x="1901190" y="187960"/>
                  </a:cubicBezTo>
                  <a:lnTo>
                    <a:pt x="1901190" y="130810"/>
                  </a:lnTo>
                  <a:lnTo>
                    <a:pt x="2172970" y="130810"/>
                  </a:lnTo>
                  <a:cubicBezTo>
                    <a:pt x="2288540" y="130810"/>
                    <a:pt x="2382520" y="224790"/>
                    <a:pt x="2382520" y="340360"/>
                  </a:cubicBezTo>
                  <a:lnTo>
                    <a:pt x="2382520" y="4798060"/>
                  </a:lnTo>
                  <a:close/>
                </a:path>
              </a:pathLst>
            </a:custGeom>
            <a:solidFill>
              <a:srgbClr val="000000"/>
            </a:solidFill>
          </p:spPr>
        </p:sp>
        <p:sp>
          <p:nvSpPr>
            <p:cNvPr name="Freeform 27" id="27"/>
            <p:cNvSpPr/>
            <p:nvPr/>
          </p:nvSpPr>
          <p:spPr>
            <a:xfrm flipH="false" flipV="false" rot="6000">
              <a:off x="181531" y="154615"/>
              <a:ext cx="2258217" cy="4879990"/>
            </a:xfrm>
            <a:custGeom>
              <a:avLst/>
              <a:gdLst/>
              <a:ahLst/>
              <a:cxnLst/>
              <a:rect r="r" b="b" t="t" l="l"/>
              <a:pathLst>
                <a:path h="4879990" w="2258217">
                  <a:moveTo>
                    <a:pt x="2040522" y="1"/>
                  </a:moveTo>
                  <a:lnTo>
                    <a:pt x="1768742" y="475"/>
                  </a:lnTo>
                  <a:lnTo>
                    <a:pt x="1768842" y="57625"/>
                  </a:lnTo>
                  <a:cubicBezTo>
                    <a:pt x="1768955" y="122395"/>
                    <a:pt x="1715708" y="175828"/>
                    <a:pt x="1650938" y="175941"/>
                  </a:cubicBezTo>
                  <a:lnTo>
                    <a:pt x="601920" y="177772"/>
                  </a:lnTo>
                  <a:cubicBezTo>
                    <a:pt x="537150" y="177885"/>
                    <a:pt x="483717" y="124638"/>
                    <a:pt x="483604" y="59868"/>
                  </a:cubicBezTo>
                  <a:lnTo>
                    <a:pt x="483504" y="2718"/>
                  </a:lnTo>
                  <a:lnTo>
                    <a:pt x="209185" y="3197"/>
                  </a:lnTo>
                  <a:cubicBezTo>
                    <a:pt x="93615" y="3399"/>
                    <a:pt x="-201" y="97542"/>
                    <a:pt x="1" y="213112"/>
                  </a:cubicBezTo>
                  <a:lnTo>
                    <a:pt x="7781" y="4670805"/>
                  </a:lnTo>
                  <a:cubicBezTo>
                    <a:pt x="7983" y="4786375"/>
                    <a:pt x="102126" y="4880191"/>
                    <a:pt x="217696" y="4879989"/>
                  </a:cubicBezTo>
                  <a:lnTo>
                    <a:pt x="2049033" y="4876793"/>
                  </a:lnTo>
                  <a:cubicBezTo>
                    <a:pt x="2164603" y="4876591"/>
                    <a:pt x="2258419" y="4782447"/>
                    <a:pt x="2258217" y="4666878"/>
                  </a:cubicBezTo>
                  <a:lnTo>
                    <a:pt x="2250437" y="209184"/>
                  </a:lnTo>
                  <a:cubicBezTo>
                    <a:pt x="2251506" y="93612"/>
                    <a:pt x="2157362" y="-203"/>
                    <a:pt x="2040522" y="0"/>
                  </a:cubicBezTo>
                  <a:close/>
                </a:path>
              </a:pathLst>
            </a:custGeom>
            <a:blipFill>
              <a:blip r:embed="rId7"/>
              <a:stretch>
                <a:fillRect l="-6234" t="-4641" r="-5850" b="-2602"/>
              </a:stretch>
            </a:blipFill>
          </p:spPr>
        </p:sp>
        <p:sp>
          <p:nvSpPr>
            <p:cNvPr name="Freeform 28" id="28"/>
            <p:cNvSpPr/>
            <p:nvPr/>
          </p:nvSpPr>
          <p:spPr>
            <a:xfrm flipH="false" flipV="false" rot="0">
              <a:off x="1121410" y="198120"/>
              <a:ext cx="347980" cy="43180"/>
            </a:xfrm>
            <a:custGeom>
              <a:avLst/>
              <a:gdLst/>
              <a:ahLst/>
              <a:cxnLst/>
              <a:rect r="r" b="b" t="t" l="l"/>
              <a:pathLst>
                <a:path h="43180" w="347980">
                  <a:moveTo>
                    <a:pt x="326390" y="0"/>
                  </a:moveTo>
                  <a:lnTo>
                    <a:pt x="21590" y="0"/>
                  </a:lnTo>
                  <a:cubicBezTo>
                    <a:pt x="10160" y="0"/>
                    <a:pt x="0" y="8890"/>
                    <a:pt x="0" y="21590"/>
                  </a:cubicBezTo>
                  <a:cubicBezTo>
                    <a:pt x="0" y="34290"/>
                    <a:pt x="10160" y="43180"/>
                    <a:pt x="21590" y="43180"/>
                  </a:cubicBezTo>
                  <a:lnTo>
                    <a:pt x="326390" y="43180"/>
                  </a:lnTo>
                  <a:cubicBezTo>
                    <a:pt x="337820" y="43180"/>
                    <a:pt x="347980" y="34290"/>
                    <a:pt x="347980" y="21590"/>
                  </a:cubicBezTo>
                  <a:cubicBezTo>
                    <a:pt x="347980" y="8890"/>
                    <a:pt x="337820" y="0"/>
                    <a:pt x="326390" y="0"/>
                  </a:cubicBezTo>
                  <a:close/>
                </a:path>
              </a:pathLst>
            </a:custGeom>
            <a:solidFill>
              <a:srgbClr val="555555"/>
            </a:solidFill>
          </p:spPr>
        </p:sp>
        <p:sp>
          <p:nvSpPr>
            <p:cNvPr name="Freeform 29" id="29"/>
            <p:cNvSpPr/>
            <p:nvPr/>
          </p:nvSpPr>
          <p:spPr>
            <a:xfrm flipH="false" flipV="false" rot="0">
              <a:off x="1579738" y="187960"/>
              <a:ext cx="63785" cy="63501"/>
            </a:xfrm>
            <a:custGeom>
              <a:avLst/>
              <a:gdLst/>
              <a:ahLst/>
              <a:cxnLst/>
              <a:rect r="r" b="b" t="t" l="l"/>
              <a:pathLst>
                <a:path h="63501" w="63785">
                  <a:moveTo>
                    <a:pt x="31892" y="0"/>
                  </a:moveTo>
                  <a:cubicBezTo>
                    <a:pt x="20515" y="-51"/>
                    <a:pt x="9980" y="5989"/>
                    <a:pt x="4277" y="15834"/>
                  </a:cubicBezTo>
                  <a:cubicBezTo>
                    <a:pt x="-1426" y="25678"/>
                    <a:pt x="-1426" y="37822"/>
                    <a:pt x="4277" y="47666"/>
                  </a:cubicBezTo>
                  <a:cubicBezTo>
                    <a:pt x="9980" y="57511"/>
                    <a:pt x="20515" y="63551"/>
                    <a:pt x="31892" y="63500"/>
                  </a:cubicBezTo>
                  <a:cubicBezTo>
                    <a:pt x="43269" y="63551"/>
                    <a:pt x="53804" y="57511"/>
                    <a:pt x="59507" y="47666"/>
                  </a:cubicBezTo>
                  <a:cubicBezTo>
                    <a:pt x="65210" y="37822"/>
                    <a:pt x="65210" y="25678"/>
                    <a:pt x="59507" y="15834"/>
                  </a:cubicBezTo>
                  <a:cubicBezTo>
                    <a:pt x="53804" y="5989"/>
                    <a:pt x="43269" y="-51"/>
                    <a:pt x="31892" y="0"/>
                  </a:cubicBezTo>
                  <a:close/>
                </a:path>
              </a:pathLst>
            </a:custGeom>
            <a:solidFill>
              <a:srgbClr val="555555"/>
            </a:solidFill>
          </p:spPr>
        </p:sp>
        <p:sp>
          <p:nvSpPr>
            <p:cNvPr name="Freeform 30" id="30"/>
            <p:cNvSpPr/>
            <p:nvPr/>
          </p:nvSpPr>
          <p:spPr>
            <a:xfrm flipH="false" flipV="false" rot="0">
              <a:off x="0" y="685800"/>
              <a:ext cx="27940" cy="213360"/>
            </a:xfrm>
            <a:custGeom>
              <a:avLst/>
              <a:gdLst/>
              <a:ahLst/>
              <a:cxnLst/>
              <a:rect r="r" b="b" t="t" l="l"/>
              <a:pathLst>
                <a:path h="213360" w="27940">
                  <a:moveTo>
                    <a:pt x="0" y="26670"/>
                  </a:moveTo>
                  <a:lnTo>
                    <a:pt x="0" y="185420"/>
                  </a:lnTo>
                  <a:cubicBezTo>
                    <a:pt x="0" y="200660"/>
                    <a:pt x="12700" y="213360"/>
                    <a:pt x="27940" y="213360"/>
                  </a:cubicBezTo>
                  <a:lnTo>
                    <a:pt x="27940" y="0"/>
                  </a:lnTo>
                  <a:cubicBezTo>
                    <a:pt x="12700" y="0"/>
                    <a:pt x="0" y="11430"/>
                    <a:pt x="0" y="26670"/>
                  </a:cubicBezTo>
                  <a:close/>
                </a:path>
              </a:pathLst>
            </a:custGeom>
            <a:solidFill>
              <a:srgbClr val="2E2E2E"/>
            </a:solidFill>
          </p:spPr>
        </p:sp>
        <p:sp>
          <p:nvSpPr>
            <p:cNvPr name="Freeform 31" id="31"/>
            <p:cNvSpPr/>
            <p:nvPr/>
          </p:nvSpPr>
          <p:spPr>
            <a:xfrm flipH="false" flipV="false" rot="0">
              <a:off x="0" y="1057910"/>
              <a:ext cx="27940" cy="384810"/>
            </a:xfrm>
            <a:custGeom>
              <a:avLst/>
              <a:gdLst/>
              <a:ahLst/>
              <a:cxnLst/>
              <a:rect r="r" b="b" t="t" l="l"/>
              <a:pathLst>
                <a:path h="384810" w="27940">
                  <a:moveTo>
                    <a:pt x="0" y="26670"/>
                  </a:moveTo>
                  <a:lnTo>
                    <a:pt x="0" y="356870"/>
                  </a:lnTo>
                  <a:cubicBezTo>
                    <a:pt x="0" y="372110"/>
                    <a:pt x="12700" y="384810"/>
                    <a:pt x="27940" y="384810"/>
                  </a:cubicBezTo>
                  <a:lnTo>
                    <a:pt x="27940" y="0"/>
                  </a:lnTo>
                  <a:cubicBezTo>
                    <a:pt x="12700" y="0"/>
                    <a:pt x="0" y="11430"/>
                    <a:pt x="0" y="26670"/>
                  </a:cubicBezTo>
                  <a:close/>
                </a:path>
              </a:pathLst>
            </a:custGeom>
            <a:solidFill>
              <a:srgbClr val="2E2E2E"/>
            </a:solidFill>
          </p:spPr>
        </p:sp>
        <p:sp>
          <p:nvSpPr>
            <p:cNvPr name="Freeform 32" id="32"/>
            <p:cNvSpPr/>
            <p:nvPr/>
          </p:nvSpPr>
          <p:spPr>
            <a:xfrm flipH="false" flipV="false" rot="0">
              <a:off x="0" y="1526540"/>
              <a:ext cx="27940" cy="386080"/>
            </a:xfrm>
            <a:custGeom>
              <a:avLst/>
              <a:gdLst/>
              <a:ahLst/>
              <a:cxnLst/>
              <a:rect r="r" b="b" t="t" l="l"/>
              <a:pathLst>
                <a:path h="386080" w="27940">
                  <a:moveTo>
                    <a:pt x="0" y="27940"/>
                  </a:moveTo>
                  <a:lnTo>
                    <a:pt x="0" y="358140"/>
                  </a:lnTo>
                  <a:cubicBezTo>
                    <a:pt x="0" y="373380"/>
                    <a:pt x="12700" y="386080"/>
                    <a:pt x="27940" y="386080"/>
                  </a:cubicBezTo>
                  <a:lnTo>
                    <a:pt x="27940" y="0"/>
                  </a:lnTo>
                  <a:cubicBezTo>
                    <a:pt x="12700" y="0"/>
                    <a:pt x="0" y="12700"/>
                    <a:pt x="0" y="27940"/>
                  </a:cubicBezTo>
                  <a:close/>
                </a:path>
              </a:pathLst>
            </a:custGeom>
            <a:solidFill>
              <a:srgbClr val="2E2E2E"/>
            </a:solidFill>
          </p:spPr>
        </p:sp>
        <p:sp>
          <p:nvSpPr>
            <p:cNvPr name="Freeform 33" id="33"/>
            <p:cNvSpPr/>
            <p:nvPr/>
          </p:nvSpPr>
          <p:spPr>
            <a:xfrm flipH="false" flipV="false" rot="0">
              <a:off x="2592070" y="1184910"/>
              <a:ext cx="27940" cy="618490"/>
            </a:xfrm>
            <a:custGeom>
              <a:avLst/>
              <a:gdLst/>
              <a:ahLst/>
              <a:cxnLst/>
              <a:rect r="r" b="b" t="t" l="l"/>
              <a:pathLst>
                <a:path h="618490" w="27940">
                  <a:moveTo>
                    <a:pt x="0" y="0"/>
                  </a:moveTo>
                  <a:lnTo>
                    <a:pt x="0" y="618490"/>
                  </a:lnTo>
                  <a:cubicBezTo>
                    <a:pt x="15240" y="618490"/>
                    <a:pt x="27940" y="605790"/>
                    <a:pt x="27940" y="590550"/>
                  </a:cubicBezTo>
                  <a:lnTo>
                    <a:pt x="27940" y="27940"/>
                  </a:lnTo>
                  <a:cubicBezTo>
                    <a:pt x="27940" y="12700"/>
                    <a:pt x="15240" y="0"/>
                    <a:pt x="0" y="0"/>
                  </a:cubicBezTo>
                  <a:close/>
                </a:path>
              </a:pathLst>
            </a:custGeom>
            <a:solidFill>
              <a:srgbClr val="2E2E2E"/>
            </a:solidFill>
          </p:spPr>
        </p:sp>
        <p:sp>
          <p:nvSpPr>
            <p:cNvPr name="Freeform 34" id="34"/>
            <p:cNvSpPr/>
            <p:nvPr/>
          </p:nvSpPr>
          <p:spPr>
            <a:xfrm flipH="false" flipV="false" rot="0">
              <a:off x="27940" y="0"/>
              <a:ext cx="2564130" cy="5182870"/>
            </a:xfrm>
            <a:custGeom>
              <a:avLst/>
              <a:gdLst/>
              <a:ahLst/>
              <a:cxnLst/>
              <a:rect r="r" b="b" t="t" l="l"/>
              <a:pathLst>
                <a:path h="5182870" w="2564130">
                  <a:moveTo>
                    <a:pt x="2564130" y="1184910"/>
                  </a:moveTo>
                  <a:lnTo>
                    <a:pt x="2564130" y="379730"/>
                  </a:lnTo>
                  <a:cubicBezTo>
                    <a:pt x="2564130" y="353060"/>
                    <a:pt x="2561590" y="327660"/>
                    <a:pt x="2556510" y="303530"/>
                  </a:cubicBezTo>
                  <a:cubicBezTo>
                    <a:pt x="2553970" y="290830"/>
                    <a:pt x="2551430" y="279400"/>
                    <a:pt x="2547620" y="266700"/>
                  </a:cubicBezTo>
                  <a:cubicBezTo>
                    <a:pt x="2542540" y="248920"/>
                    <a:pt x="2534920" y="231140"/>
                    <a:pt x="2527300" y="214630"/>
                  </a:cubicBezTo>
                  <a:cubicBezTo>
                    <a:pt x="2522220" y="203200"/>
                    <a:pt x="2515870" y="193040"/>
                    <a:pt x="2509520" y="182880"/>
                  </a:cubicBezTo>
                  <a:cubicBezTo>
                    <a:pt x="2503170" y="172720"/>
                    <a:pt x="2496820" y="162560"/>
                    <a:pt x="2489200" y="152400"/>
                  </a:cubicBezTo>
                  <a:cubicBezTo>
                    <a:pt x="2477770" y="137160"/>
                    <a:pt x="2466340" y="124460"/>
                    <a:pt x="2453640" y="110490"/>
                  </a:cubicBezTo>
                  <a:cubicBezTo>
                    <a:pt x="2444750" y="101600"/>
                    <a:pt x="2435860" y="93980"/>
                    <a:pt x="2426970" y="86360"/>
                  </a:cubicBezTo>
                  <a:cubicBezTo>
                    <a:pt x="2360930" y="31750"/>
                    <a:pt x="2277110" y="0"/>
                    <a:pt x="2185670" y="0"/>
                  </a:cubicBezTo>
                  <a:lnTo>
                    <a:pt x="379730" y="0"/>
                  </a:lnTo>
                  <a:cubicBezTo>
                    <a:pt x="288290" y="0"/>
                    <a:pt x="203200" y="33020"/>
                    <a:pt x="138430" y="86360"/>
                  </a:cubicBezTo>
                  <a:cubicBezTo>
                    <a:pt x="129540" y="93980"/>
                    <a:pt x="120650" y="102870"/>
                    <a:pt x="111760" y="110490"/>
                  </a:cubicBezTo>
                  <a:cubicBezTo>
                    <a:pt x="99060" y="123190"/>
                    <a:pt x="86360" y="137160"/>
                    <a:pt x="76200" y="152400"/>
                  </a:cubicBezTo>
                  <a:cubicBezTo>
                    <a:pt x="68580" y="162560"/>
                    <a:pt x="62230" y="172720"/>
                    <a:pt x="55880" y="182880"/>
                  </a:cubicBezTo>
                  <a:cubicBezTo>
                    <a:pt x="49530" y="193040"/>
                    <a:pt x="43180" y="204470"/>
                    <a:pt x="38100" y="214630"/>
                  </a:cubicBezTo>
                  <a:cubicBezTo>
                    <a:pt x="29210" y="232410"/>
                    <a:pt x="22860" y="248920"/>
                    <a:pt x="16510" y="266700"/>
                  </a:cubicBezTo>
                  <a:cubicBezTo>
                    <a:pt x="12700" y="279400"/>
                    <a:pt x="10160" y="290830"/>
                    <a:pt x="7620" y="303530"/>
                  </a:cubicBezTo>
                  <a:cubicBezTo>
                    <a:pt x="2540" y="327660"/>
                    <a:pt x="0" y="354330"/>
                    <a:pt x="0" y="379730"/>
                  </a:cubicBezTo>
                  <a:lnTo>
                    <a:pt x="0" y="4803140"/>
                  </a:lnTo>
                  <a:cubicBezTo>
                    <a:pt x="0" y="5012690"/>
                    <a:pt x="170180" y="5182870"/>
                    <a:pt x="379730" y="5182870"/>
                  </a:cubicBezTo>
                  <a:lnTo>
                    <a:pt x="2184400" y="5182870"/>
                  </a:lnTo>
                  <a:cubicBezTo>
                    <a:pt x="2393950" y="5182870"/>
                    <a:pt x="2564130" y="5012690"/>
                    <a:pt x="2564130" y="4803140"/>
                  </a:cubicBezTo>
                  <a:lnTo>
                    <a:pt x="2564130" y="1184910"/>
                  </a:lnTo>
                  <a:close/>
                  <a:moveTo>
                    <a:pt x="2538730" y="1184910"/>
                  </a:moveTo>
                  <a:lnTo>
                    <a:pt x="2538730" y="4804410"/>
                  </a:lnTo>
                  <a:cubicBezTo>
                    <a:pt x="2538730" y="4999990"/>
                    <a:pt x="2379980" y="5158740"/>
                    <a:pt x="2184400" y="5158740"/>
                  </a:cubicBezTo>
                  <a:lnTo>
                    <a:pt x="379730" y="5158740"/>
                  </a:lnTo>
                  <a:cubicBezTo>
                    <a:pt x="184150" y="5158740"/>
                    <a:pt x="25400" y="4999990"/>
                    <a:pt x="25400" y="4804410"/>
                  </a:cubicBezTo>
                  <a:lnTo>
                    <a:pt x="25400" y="381000"/>
                  </a:lnTo>
                  <a:cubicBezTo>
                    <a:pt x="25400" y="184150"/>
                    <a:pt x="184150" y="25400"/>
                    <a:pt x="379730" y="25400"/>
                  </a:cubicBezTo>
                  <a:lnTo>
                    <a:pt x="2184400" y="25400"/>
                  </a:lnTo>
                  <a:cubicBezTo>
                    <a:pt x="2379980" y="25400"/>
                    <a:pt x="2538730" y="184150"/>
                    <a:pt x="2538730" y="379730"/>
                  </a:cubicBezTo>
                  <a:lnTo>
                    <a:pt x="2538730" y="1184910"/>
                  </a:lnTo>
                  <a:close/>
                </a:path>
              </a:pathLst>
            </a:custGeom>
            <a:solidFill>
              <a:srgbClr val="CA7AAA"/>
            </a:solidFill>
          </p:spPr>
        </p:sp>
      </p:grpSp>
      <p:sp>
        <p:nvSpPr>
          <p:cNvPr name="TextBox 35" id="35"/>
          <p:cNvSpPr txBox="true"/>
          <p:nvPr/>
        </p:nvSpPr>
        <p:spPr>
          <a:xfrm rot="0">
            <a:off x="6773881" y="2521074"/>
            <a:ext cx="4561671" cy="608598"/>
          </a:xfrm>
          <a:prstGeom prst="rect">
            <a:avLst/>
          </a:prstGeom>
        </p:spPr>
        <p:txBody>
          <a:bodyPr anchor="t" rtlCol="false" tIns="0" lIns="0" bIns="0" rIns="0">
            <a:spAutoFit/>
          </a:bodyPr>
          <a:lstStyle/>
          <a:p>
            <a:pPr algn="ctr">
              <a:lnSpc>
                <a:spcPts val="5050"/>
              </a:lnSpc>
            </a:pPr>
            <a:r>
              <a:rPr lang="en-US" b="true" sz="3389">
                <a:solidFill>
                  <a:srgbClr val="3B1B4E"/>
                </a:solidFill>
                <a:latin typeface="Noto Serif Ethiopic Condensed Bold"/>
                <a:ea typeface="Noto Serif Ethiopic Condensed Bold"/>
                <a:cs typeface="Noto Serif Ethiopic Condensed Bold"/>
                <a:sym typeface="Noto Serif Ethiopic Condensed Bold"/>
              </a:rPr>
              <a:t>Positive Insights</a:t>
            </a:r>
          </a:p>
        </p:txBody>
      </p:sp>
      <p:sp>
        <p:nvSpPr>
          <p:cNvPr name="TextBox 36" id="36"/>
          <p:cNvSpPr txBox="true"/>
          <p:nvPr/>
        </p:nvSpPr>
        <p:spPr>
          <a:xfrm rot="0">
            <a:off x="5713146" y="6419364"/>
            <a:ext cx="6861707" cy="1847850"/>
          </a:xfrm>
          <a:prstGeom prst="rect">
            <a:avLst/>
          </a:prstGeom>
        </p:spPr>
        <p:txBody>
          <a:bodyPr anchor="t" rtlCol="false" tIns="0" lIns="0" bIns="0" rIns="0">
            <a:spAutoFit/>
          </a:bodyPr>
          <a:lstStyle/>
          <a:p>
            <a:pPr algn="l" marL="539749" indent="-269875" lvl="1">
              <a:lnSpc>
                <a:spcPts val="3749"/>
              </a:lnSpc>
              <a:buFont typeface="Arial"/>
              <a:buChar char="•"/>
            </a:pPr>
            <a:r>
              <a:rPr lang="en-US" sz="2499">
                <a:solidFill>
                  <a:srgbClr val="F0CFC7"/>
                </a:solidFill>
                <a:latin typeface="Noto Serif Ethiopic Condensed"/>
                <a:ea typeface="Noto Serif Ethiopic Condensed"/>
                <a:cs typeface="Noto Serif Ethiopic Condensed"/>
                <a:sym typeface="Noto Serif Ethiopic Condensed"/>
              </a:rPr>
              <a:t>Privacy features increased user confidence</a:t>
            </a:r>
          </a:p>
          <a:p>
            <a:pPr algn="l" marL="539749" indent="-269875" lvl="1">
              <a:lnSpc>
                <a:spcPts val="3749"/>
              </a:lnSpc>
              <a:buFont typeface="Arial"/>
              <a:buChar char="•"/>
            </a:pPr>
            <a:r>
              <a:rPr lang="en-US" sz="2499">
                <a:solidFill>
                  <a:srgbClr val="F0CFC7"/>
                </a:solidFill>
                <a:latin typeface="Noto Serif Ethiopic Condensed"/>
                <a:ea typeface="Noto Serif Ethiopic Condensed"/>
                <a:cs typeface="Noto Serif Ethiopic Condensed"/>
                <a:sym typeface="Noto Serif Ethiopic Condensed"/>
              </a:rPr>
              <a:t>Wide emotion range supported self-expression</a:t>
            </a:r>
          </a:p>
          <a:p>
            <a:pPr algn="l" marL="539749" indent="-269875" lvl="1">
              <a:lnSpc>
                <a:spcPts val="3749"/>
              </a:lnSpc>
              <a:buFont typeface="Arial"/>
              <a:buChar char="•"/>
            </a:pPr>
            <a:r>
              <a:rPr lang="en-US" sz="2499">
                <a:solidFill>
                  <a:srgbClr val="F0CFC7"/>
                </a:solidFill>
                <a:latin typeface="Noto Serif Ethiopic Condensed"/>
                <a:ea typeface="Noto Serif Ethiopic Condensed"/>
                <a:cs typeface="Noto Serif Ethiopic Condensed"/>
                <a:sym typeface="Noto Serif Ethiopic Condensed"/>
              </a:rPr>
              <a:t>Core concept was relevant and impactful</a:t>
            </a:r>
          </a:p>
          <a:p>
            <a:pPr algn="l" marL="539749" indent="-269875" lvl="1">
              <a:lnSpc>
                <a:spcPts val="3749"/>
              </a:lnSpc>
              <a:buFont typeface="Arial"/>
              <a:buChar char="•"/>
            </a:pPr>
            <a:r>
              <a:rPr lang="en-US" sz="2499">
                <a:solidFill>
                  <a:srgbClr val="F0CFC7"/>
                </a:solidFill>
                <a:latin typeface="Noto Serif Ethiopic Condensed"/>
                <a:ea typeface="Noto Serif Ethiopic Condensed"/>
                <a:cs typeface="Noto Serif Ethiopic Condensed"/>
                <a:sym typeface="Noto Serif Ethiopic Condensed"/>
              </a:rPr>
              <a:t>Strong foundation of essential features</a:t>
            </a:r>
          </a:p>
        </p:txBody>
      </p:sp>
      <p:sp>
        <p:nvSpPr>
          <p:cNvPr name="TextBox 37" id="37"/>
          <p:cNvSpPr txBox="true"/>
          <p:nvPr/>
        </p:nvSpPr>
        <p:spPr>
          <a:xfrm rot="0">
            <a:off x="6773881" y="5696465"/>
            <a:ext cx="4561671" cy="608598"/>
          </a:xfrm>
          <a:prstGeom prst="rect">
            <a:avLst/>
          </a:prstGeom>
        </p:spPr>
        <p:txBody>
          <a:bodyPr anchor="t" rtlCol="false" tIns="0" lIns="0" bIns="0" rIns="0">
            <a:spAutoFit/>
          </a:bodyPr>
          <a:lstStyle/>
          <a:p>
            <a:pPr algn="ctr">
              <a:lnSpc>
                <a:spcPts val="5050"/>
              </a:lnSpc>
            </a:pPr>
            <a:r>
              <a:rPr lang="en-US" sz="3389" b="true">
                <a:solidFill>
                  <a:srgbClr val="3B1B4E"/>
                </a:solidFill>
                <a:latin typeface="Noto Serif Ethiopic Condensed Bold"/>
                <a:ea typeface="Noto Serif Ethiopic Condensed Bold"/>
                <a:cs typeface="Noto Serif Ethiopic Condensed Bold"/>
                <a:sym typeface="Noto Serif Ethiopic Condensed Bold"/>
              </a:rPr>
              <a:t>Negative </a:t>
            </a:r>
            <a:r>
              <a:rPr lang="en-US" b="true" sz="3389">
                <a:solidFill>
                  <a:srgbClr val="3B1B4E"/>
                </a:solidFill>
                <a:latin typeface="Noto Serif Ethiopic Condensed Bold"/>
                <a:ea typeface="Noto Serif Ethiopic Condensed Bold"/>
                <a:cs typeface="Noto Serif Ethiopic Condensed Bold"/>
                <a:sym typeface="Noto Serif Ethiopic Condensed Bold"/>
              </a:rPr>
              <a:t>Insights</a:t>
            </a:r>
          </a:p>
        </p:txBody>
      </p:sp>
    </p:spTree>
  </p:cSld>
  <p:clrMapOvr>
    <a:masterClrMapping/>
  </p:clrMapOvr>
  <p:transition spd="fast">
    <p:fade/>
  </p:transition>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Freeform 2" id="2"/>
          <p:cNvSpPr/>
          <p:nvPr/>
        </p:nvSpPr>
        <p:spPr>
          <a:xfrm flipH="false" flipV="false" rot="0">
            <a:off x="8596974" y="-1241953"/>
            <a:ext cx="3502048" cy="1916575"/>
          </a:xfrm>
          <a:custGeom>
            <a:avLst/>
            <a:gdLst/>
            <a:ahLst/>
            <a:cxnLst/>
            <a:rect r="r" b="b" t="t" l="l"/>
            <a:pathLst>
              <a:path h="1916575" w="3502048">
                <a:moveTo>
                  <a:pt x="0" y="0"/>
                </a:moveTo>
                <a:lnTo>
                  <a:pt x="3502048" y="0"/>
                </a:lnTo>
                <a:lnTo>
                  <a:pt x="3502048" y="1916576"/>
                </a:lnTo>
                <a:lnTo>
                  <a:pt x="0" y="19165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9633735"/>
            <a:ext cx="3502048" cy="1916575"/>
          </a:xfrm>
          <a:custGeom>
            <a:avLst/>
            <a:gdLst/>
            <a:ahLst/>
            <a:cxnLst/>
            <a:rect r="r" b="b" t="t" l="l"/>
            <a:pathLst>
              <a:path h="1916575" w="3502048">
                <a:moveTo>
                  <a:pt x="0" y="0"/>
                </a:moveTo>
                <a:lnTo>
                  <a:pt x="3502048" y="0"/>
                </a:lnTo>
                <a:lnTo>
                  <a:pt x="3502048" y="1916575"/>
                </a:lnTo>
                <a:lnTo>
                  <a:pt x="0" y="1916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5540215" y="8458968"/>
            <a:ext cx="1345360" cy="252919"/>
          </a:xfrm>
          <a:prstGeom prst="rect">
            <a:avLst/>
          </a:prstGeom>
        </p:spPr>
        <p:txBody>
          <a:bodyPr anchor="t" rtlCol="false" tIns="0" lIns="0" bIns="0" rIns="0">
            <a:spAutoFit/>
          </a:bodyPr>
          <a:lstStyle/>
          <a:p>
            <a:pPr algn="ctr">
              <a:lnSpc>
                <a:spcPts val="1928"/>
              </a:lnSpc>
            </a:pPr>
          </a:p>
        </p:txBody>
      </p:sp>
      <p:grpSp>
        <p:nvGrpSpPr>
          <p:cNvPr name="Group 5" id="5"/>
          <p:cNvGrpSpPr/>
          <p:nvPr/>
        </p:nvGrpSpPr>
        <p:grpSpPr>
          <a:xfrm rot="0">
            <a:off x="1814257" y="1137435"/>
            <a:ext cx="15071319" cy="8382000"/>
            <a:chOff x="0" y="0"/>
            <a:chExt cx="4101035" cy="2280814"/>
          </a:xfrm>
        </p:grpSpPr>
        <p:sp>
          <p:nvSpPr>
            <p:cNvPr name="Freeform 6" id="6"/>
            <p:cNvSpPr/>
            <p:nvPr/>
          </p:nvSpPr>
          <p:spPr>
            <a:xfrm flipH="false" flipV="false" rot="0">
              <a:off x="0" y="0"/>
              <a:ext cx="4101035" cy="2280814"/>
            </a:xfrm>
            <a:custGeom>
              <a:avLst/>
              <a:gdLst/>
              <a:ahLst/>
              <a:cxnLst/>
              <a:rect r="r" b="b" t="t" l="l"/>
              <a:pathLst>
                <a:path h="2280814" w="4101035">
                  <a:moveTo>
                    <a:pt x="12842" y="0"/>
                  </a:moveTo>
                  <a:lnTo>
                    <a:pt x="4088193" y="0"/>
                  </a:lnTo>
                  <a:cubicBezTo>
                    <a:pt x="4091599" y="0"/>
                    <a:pt x="4094865" y="1353"/>
                    <a:pt x="4097274" y="3761"/>
                  </a:cubicBezTo>
                  <a:cubicBezTo>
                    <a:pt x="4099682" y="6170"/>
                    <a:pt x="4101035" y="9436"/>
                    <a:pt x="4101035" y="12842"/>
                  </a:cubicBezTo>
                  <a:lnTo>
                    <a:pt x="4101035" y="2267972"/>
                  </a:lnTo>
                  <a:cubicBezTo>
                    <a:pt x="4101035" y="2271378"/>
                    <a:pt x="4099682" y="2274644"/>
                    <a:pt x="4097274" y="2277053"/>
                  </a:cubicBezTo>
                  <a:cubicBezTo>
                    <a:pt x="4094865" y="2279461"/>
                    <a:pt x="4091599" y="2280814"/>
                    <a:pt x="4088193" y="2280814"/>
                  </a:cubicBezTo>
                  <a:lnTo>
                    <a:pt x="12842" y="2280814"/>
                  </a:lnTo>
                  <a:cubicBezTo>
                    <a:pt x="9436" y="2280814"/>
                    <a:pt x="6170" y="2279461"/>
                    <a:pt x="3761" y="2277053"/>
                  </a:cubicBezTo>
                  <a:cubicBezTo>
                    <a:pt x="1353" y="2274644"/>
                    <a:pt x="0" y="2271378"/>
                    <a:pt x="0" y="2267972"/>
                  </a:cubicBezTo>
                  <a:lnTo>
                    <a:pt x="0" y="12842"/>
                  </a:lnTo>
                  <a:cubicBezTo>
                    <a:pt x="0" y="9436"/>
                    <a:pt x="1353" y="6170"/>
                    <a:pt x="3761" y="3761"/>
                  </a:cubicBezTo>
                  <a:cubicBezTo>
                    <a:pt x="6170" y="1353"/>
                    <a:pt x="9436" y="0"/>
                    <a:pt x="12842" y="0"/>
                  </a:cubicBezTo>
                  <a:close/>
                </a:path>
              </a:pathLst>
            </a:custGeom>
            <a:solidFill>
              <a:srgbClr val="FFFFFF">
                <a:alpha val="12941"/>
              </a:srgbClr>
            </a:solidFill>
            <a:ln w="38100" cap="rnd">
              <a:solidFill>
                <a:srgbClr val="FFFFFF">
                  <a:alpha val="12941"/>
                </a:srgbClr>
              </a:solidFill>
              <a:prstDash val="solid"/>
              <a:round/>
            </a:ln>
          </p:spPr>
        </p:sp>
        <p:sp>
          <p:nvSpPr>
            <p:cNvPr name="TextBox 7" id="7"/>
            <p:cNvSpPr txBox="true"/>
            <p:nvPr/>
          </p:nvSpPr>
          <p:spPr>
            <a:xfrm>
              <a:off x="0" y="-38100"/>
              <a:ext cx="4101035" cy="2318914"/>
            </a:xfrm>
            <a:prstGeom prst="rect">
              <a:avLst/>
            </a:prstGeom>
          </p:spPr>
          <p:txBody>
            <a:bodyPr anchor="ctr" rtlCol="false" tIns="49169" lIns="49169" bIns="49169" rIns="49169"/>
            <a:lstStyle/>
            <a:p>
              <a:pPr algn="ctr">
                <a:lnSpc>
                  <a:spcPts val="2659"/>
                </a:lnSpc>
              </a:pPr>
            </a:p>
          </p:txBody>
        </p:sp>
      </p:grpSp>
      <p:sp>
        <p:nvSpPr>
          <p:cNvPr name="Freeform 8" id="8"/>
          <p:cNvSpPr/>
          <p:nvPr/>
        </p:nvSpPr>
        <p:spPr>
          <a:xfrm flipH="false" flipV="false" rot="0">
            <a:off x="788566" y="7730265"/>
            <a:ext cx="480267" cy="480267"/>
          </a:xfrm>
          <a:custGeom>
            <a:avLst/>
            <a:gdLst/>
            <a:ahLst/>
            <a:cxnLst/>
            <a:rect r="r" b="b" t="t" l="l"/>
            <a:pathLst>
              <a:path h="480267" w="480267">
                <a:moveTo>
                  <a:pt x="0" y="0"/>
                </a:moveTo>
                <a:lnTo>
                  <a:pt x="480268" y="0"/>
                </a:lnTo>
                <a:lnTo>
                  <a:pt x="480268" y="480267"/>
                </a:lnTo>
                <a:lnTo>
                  <a:pt x="0" y="480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2365504" y="9599348"/>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3712854" y="390038"/>
            <a:ext cx="480267" cy="480267"/>
          </a:xfrm>
          <a:custGeom>
            <a:avLst/>
            <a:gdLst/>
            <a:ahLst/>
            <a:cxnLst/>
            <a:rect r="r" b="b" t="t" l="l"/>
            <a:pathLst>
              <a:path h="480267" w="480267">
                <a:moveTo>
                  <a:pt x="0" y="0"/>
                </a:moveTo>
                <a:lnTo>
                  <a:pt x="480268" y="0"/>
                </a:lnTo>
                <a:lnTo>
                  <a:pt x="480268" y="480267"/>
                </a:lnTo>
                <a:lnTo>
                  <a:pt x="0" y="480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2558402" y="2188074"/>
            <a:ext cx="4362463" cy="6356958"/>
          </a:xfrm>
          <a:custGeom>
            <a:avLst/>
            <a:gdLst/>
            <a:ahLst/>
            <a:cxnLst/>
            <a:rect r="r" b="b" t="t" l="l"/>
            <a:pathLst>
              <a:path h="6356958" w="4362463">
                <a:moveTo>
                  <a:pt x="0" y="0"/>
                </a:moveTo>
                <a:lnTo>
                  <a:pt x="4362462" y="0"/>
                </a:lnTo>
                <a:lnTo>
                  <a:pt x="4362462" y="6356958"/>
                </a:lnTo>
                <a:lnTo>
                  <a:pt x="0" y="6356958"/>
                </a:lnTo>
                <a:lnTo>
                  <a:pt x="0" y="0"/>
                </a:lnTo>
                <a:close/>
              </a:path>
            </a:pathLst>
          </a:custGeom>
          <a:blipFill>
            <a:blip r:embed="rId6"/>
            <a:stretch>
              <a:fillRect l="0" t="0" r="0" b="0"/>
            </a:stretch>
          </a:blipFill>
        </p:spPr>
      </p:sp>
      <p:sp>
        <p:nvSpPr>
          <p:cNvPr name="Freeform 12" id="12"/>
          <p:cNvSpPr/>
          <p:nvPr/>
        </p:nvSpPr>
        <p:spPr>
          <a:xfrm flipH="false" flipV="false" rot="0">
            <a:off x="10271387" y="2197599"/>
            <a:ext cx="5911971" cy="6356958"/>
          </a:xfrm>
          <a:custGeom>
            <a:avLst/>
            <a:gdLst/>
            <a:ahLst/>
            <a:cxnLst/>
            <a:rect r="r" b="b" t="t" l="l"/>
            <a:pathLst>
              <a:path h="6356958" w="5911971">
                <a:moveTo>
                  <a:pt x="0" y="0"/>
                </a:moveTo>
                <a:lnTo>
                  <a:pt x="5911972" y="0"/>
                </a:lnTo>
                <a:lnTo>
                  <a:pt x="5911972" y="6356958"/>
                </a:lnTo>
                <a:lnTo>
                  <a:pt x="0" y="6356958"/>
                </a:lnTo>
                <a:lnTo>
                  <a:pt x="0" y="0"/>
                </a:lnTo>
                <a:close/>
              </a:path>
            </a:pathLst>
          </a:custGeom>
          <a:blipFill>
            <a:blip r:embed="rId7"/>
            <a:stretch>
              <a:fillRect l="0" t="0" r="0" b="0"/>
            </a:stretch>
          </a:blipFill>
        </p:spPr>
      </p:sp>
      <p:sp>
        <p:nvSpPr>
          <p:cNvPr name="TextBox 13" id="13"/>
          <p:cNvSpPr txBox="true"/>
          <p:nvPr/>
        </p:nvSpPr>
        <p:spPr>
          <a:xfrm rot="0">
            <a:off x="1028700" y="528571"/>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14" id="14"/>
          <p:cNvSpPr txBox="true"/>
          <p:nvPr/>
        </p:nvSpPr>
        <p:spPr>
          <a:xfrm rot="0">
            <a:off x="15107417" y="9656498"/>
            <a:ext cx="2151883"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Natalee De Silva</a:t>
            </a:r>
          </a:p>
        </p:txBody>
      </p:sp>
      <p:sp>
        <p:nvSpPr>
          <p:cNvPr name="TextBox 15" id="15"/>
          <p:cNvSpPr txBox="true"/>
          <p:nvPr/>
        </p:nvSpPr>
        <p:spPr>
          <a:xfrm rot="0">
            <a:off x="5919261" y="1395169"/>
            <a:ext cx="6449479" cy="688131"/>
          </a:xfrm>
          <a:prstGeom prst="rect">
            <a:avLst/>
          </a:prstGeom>
        </p:spPr>
        <p:txBody>
          <a:bodyPr anchor="t" rtlCol="false" tIns="0" lIns="0" bIns="0" rIns="0">
            <a:spAutoFit/>
          </a:bodyPr>
          <a:lstStyle/>
          <a:p>
            <a:pPr algn="ctr">
              <a:lnSpc>
                <a:spcPts val="5199"/>
              </a:lnSpc>
            </a:pPr>
            <a:r>
              <a:rPr lang="en-US" sz="5473" b="true">
                <a:solidFill>
                  <a:srgbClr val="F0CFC7"/>
                </a:solidFill>
                <a:latin typeface="Noto Serif Ethiopic Condensed Bold"/>
                <a:ea typeface="Noto Serif Ethiopic Condensed Bold"/>
                <a:cs typeface="Noto Serif Ethiopic Condensed Bold"/>
                <a:sym typeface="Noto Serif Ethiopic Condensed Bold"/>
              </a:rPr>
              <a:t>Final Improvements</a:t>
            </a:r>
          </a:p>
        </p:txBody>
      </p:sp>
      <p:sp>
        <p:nvSpPr>
          <p:cNvPr name="TextBox 16" id="16"/>
          <p:cNvSpPr txBox="true"/>
          <p:nvPr/>
        </p:nvSpPr>
        <p:spPr>
          <a:xfrm rot="0">
            <a:off x="7330439" y="5098830"/>
            <a:ext cx="2533069" cy="497346"/>
          </a:xfrm>
          <a:prstGeom prst="rect">
            <a:avLst/>
          </a:prstGeom>
        </p:spPr>
        <p:txBody>
          <a:bodyPr anchor="t" rtlCol="false" tIns="0" lIns="0" bIns="0" rIns="0">
            <a:spAutoFit/>
          </a:bodyPr>
          <a:lstStyle/>
          <a:p>
            <a:pPr algn="ctr">
              <a:lnSpc>
                <a:spcPts val="4156"/>
              </a:lnSpc>
            </a:pPr>
            <a:r>
              <a:rPr lang="en-US" b="true" sz="2789">
                <a:solidFill>
                  <a:srgbClr val="3B1B4E"/>
                </a:solidFill>
                <a:latin typeface="Noto Serif Ethiopic Condensed Bold"/>
                <a:ea typeface="Noto Serif Ethiopic Condensed Bold"/>
                <a:cs typeface="Noto Serif Ethiopic Condensed Bold"/>
                <a:sym typeface="Noto Serif Ethiopic Condensed Bold"/>
              </a:rPr>
              <a:t>Before → After</a:t>
            </a:r>
          </a:p>
        </p:txBody>
      </p:sp>
      <p:sp>
        <p:nvSpPr>
          <p:cNvPr name="TextBox 17" id="17"/>
          <p:cNvSpPr txBox="true"/>
          <p:nvPr/>
        </p:nvSpPr>
        <p:spPr>
          <a:xfrm rot="0">
            <a:off x="3275399" y="8668857"/>
            <a:ext cx="11737202" cy="714375"/>
          </a:xfrm>
          <a:prstGeom prst="rect">
            <a:avLst/>
          </a:prstGeom>
        </p:spPr>
        <p:txBody>
          <a:bodyPr anchor="t" rtlCol="false" tIns="0" lIns="0" bIns="0" rIns="0">
            <a:spAutoFit/>
          </a:bodyPr>
          <a:lstStyle/>
          <a:p>
            <a:pPr algn="ctr">
              <a:lnSpc>
                <a:spcPts val="2879"/>
              </a:lnSpc>
            </a:pPr>
            <a:r>
              <a:rPr lang="en-US" sz="2400">
                <a:solidFill>
                  <a:srgbClr val="FFFFFF"/>
                </a:solidFill>
                <a:latin typeface="Noto Serif Ethiopic Condensed"/>
                <a:ea typeface="Noto Serif Ethiopic Condensed"/>
                <a:cs typeface="Noto Serif Ethiopic Condensed"/>
                <a:sym typeface="Noto Serif Ethiopic Condensed"/>
              </a:rPr>
              <a:t>Improved usability and visuals by adding clear titles to navigated chats, transcription feature to audios in chats, and allowing users to report etc.</a:t>
            </a:r>
          </a:p>
        </p:txBody>
      </p:sp>
      <p:sp>
        <p:nvSpPr>
          <p:cNvPr name="Freeform 18" id="18"/>
          <p:cNvSpPr/>
          <p:nvPr/>
        </p:nvSpPr>
        <p:spPr>
          <a:xfrm flipH="false" flipV="false" rot="3583091">
            <a:off x="-754959" y="1501123"/>
            <a:ext cx="2047158" cy="3667547"/>
          </a:xfrm>
          <a:custGeom>
            <a:avLst/>
            <a:gdLst/>
            <a:ahLst/>
            <a:cxnLst/>
            <a:rect r="r" b="b" t="t" l="l"/>
            <a:pathLst>
              <a:path h="3667547" w="2047158">
                <a:moveTo>
                  <a:pt x="0" y="0"/>
                </a:moveTo>
                <a:lnTo>
                  <a:pt x="2047158" y="0"/>
                </a:lnTo>
                <a:lnTo>
                  <a:pt x="2047158" y="3667546"/>
                </a:lnTo>
                <a:lnTo>
                  <a:pt x="0" y="36675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17001647" y="5230399"/>
            <a:ext cx="2572706" cy="4609083"/>
          </a:xfrm>
          <a:custGeom>
            <a:avLst/>
            <a:gdLst/>
            <a:ahLst/>
            <a:cxnLst/>
            <a:rect r="r" b="b" t="t" l="l"/>
            <a:pathLst>
              <a:path h="4609083" w="2572706">
                <a:moveTo>
                  <a:pt x="0" y="0"/>
                </a:moveTo>
                <a:lnTo>
                  <a:pt x="2572706" y="0"/>
                </a:lnTo>
                <a:lnTo>
                  <a:pt x="2572706" y="4609083"/>
                </a:lnTo>
                <a:lnTo>
                  <a:pt x="0" y="460908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transition spd="fast">
    <p:fade/>
  </p:transition>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grpSp>
        <p:nvGrpSpPr>
          <p:cNvPr name="Group 2" id="2"/>
          <p:cNvGrpSpPr/>
          <p:nvPr/>
        </p:nvGrpSpPr>
        <p:grpSpPr>
          <a:xfrm rot="0">
            <a:off x="493019" y="1561515"/>
            <a:ext cx="17301962" cy="7696785"/>
            <a:chOff x="0" y="0"/>
            <a:chExt cx="4708012" cy="2094361"/>
          </a:xfrm>
        </p:grpSpPr>
        <p:sp>
          <p:nvSpPr>
            <p:cNvPr name="Freeform 3" id="3"/>
            <p:cNvSpPr/>
            <p:nvPr/>
          </p:nvSpPr>
          <p:spPr>
            <a:xfrm flipH="false" flipV="false" rot="0">
              <a:off x="0" y="0"/>
              <a:ext cx="4708012" cy="2094361"/>
            </a:xfrm>
            <a:custGeom>
              <a:avLst/>
              <a:gdLst/>
              <a:ahLst/>
              <a:cxnLst/>
              <a:rect r="r" b="b" t="t" l="l"/>
              <a:pathLst>
                <a:path h="2094361" w="4708012">
                  <a:moveTo>
                    <a:pt x="11186" y="0"/>
                  </a:moveTo>
                  <a:lnTo>
                    <a:pt x="4696826" y="0"/>
                  </a:lnTo>
                  <a:cubicBezTo>
                    <a:pt x="4703004" y="0"/>
                    <a:pt x="4708012" y="5008"/>
                    <a:pt x="4708012" y="11186"/>
                  </a:cubicBezTo>
                  <a:lnTo>
                    <a:pt x="4708012" y="2083175"/>
                  </a:lnTo>
                  <a:cubicBezTo>
                    <a:pt x="4708012" y="2086141"/>
                    <a:pt x="4706834" y="2088987"/>
                    <a:pt x="4704736" y="2091085"/>
                  </a:cubicBezTo>
                  <a:cubicBezTo>
                    <a:pt x="4702638" y="2093183"/>
                    <a:pt x="4699793" y="2094361"/>
                    <a:pt x="4696826" y="2094361"/>
                  </a:cubicBezTo>
                  <a:lnTo>
                    <a:pt x="11186" y="2094361"/>
                  </a:lnTo>
                  <a:cubicBezTo>
                    <a:pt x="8220" y="2094361"/>
                    <a:pt x="5374" y="2093183"/>
                    <a:pt x="3276" y="2091085"/>
                  </a:cubicBezTo>
                  <a:cubicBezTo>
                    <a:pt x="1179" y="2088987"/>
                    <a:pt x="0" y="2086141"/>
                    <a:pt x="0" y="2083175"/>
                  </a:cubicBezTo>
                  <a:lnTo>
                    <a:pt x="0" y="11186"/>
                  </a:lnTo>
                  <a:cubicBezTo>
                    <a:pt x="0" y="8220"/>
                    <a:pt x="1179" y="5374"/>
                    <a:pt x="3276" y="3276"/>
                  </a:cubicBezTo>
                  <a:cubicBezTo>
                    <a:pt x="5374" y="1179"/>
                    <a:pt x="8220" y="0"/>
                    <a:pt x="11186" y="0"/>
                  </a:cubicBezTo>
                  <a:close/>
                </a:path>
              </a:pathLst>
            </a:custGeom>
            <a:solidFill>
              <a:srgbClr val="FFFFFF">
                <a:alpha val="12941"/>
              </a:srgbClr>
            </a:solidFill>
            <a:ln w="38100" cap="rnd">
              <a:solidFill>
                <a:srgbClr val="FFFFFF">
                  <a:alpha val="12941"/>
                </a:srgbClr>
              </a:solidFill>
              <a:prstDash val="solid"/>
              <a:round/>
            </a:ln>
          </p:spPr>
        </p:sp>
        <p:sp>
          <p:nvSpPr>
            <p:cNvPr name="TextBox 4" id="4"/>
            <p:cNvSpPr txBox="true"/>
            <p:nvPr/>
          </p:nvSpPr>
          <p:spPr>
            <a:xfrm>
              <a:off x="0" y="-38100"/>
              <a:ext cx="4708012" cy="2132461"/>
            </a:xfrm>
            <a:prstGeom prst="rect">
              <a:avLst/>
            </a:prstGeom>
          </p:spPr>
          <p:txBody>
            <a:bodyPr anchor="ctr" rtlCol="false" tIns="49169" lIns="49169" bIns="49169" rIns="49169"/>
            <a:lstStyle/>
            <a:p>
              <a:pPr algn="ctr">
                <a:lnSpc>
                  <a:spcPts val="2659"/>
                </a:lnSpc>
              </a:pPr>
            </a:p>
          </p:txBody>
        </p:sp>
      </p:grpSp>
      <p:sp>
        <p:nvSpPr>
          <p:cNvPr name="Freeform 5" id="5"/>
          <p:cNvSpPr/>
          <p:nvPr/>
        </p:nvSpPr>
        <p:spPr>
          <a:xfrm flipH="false" flipV="false" rot="0">
            <a:off x="14456147" y="722248"/>
            <a:ext cx="1715278" cy="283801"/>
          </a:xfrm>
          <a:custGeom>
            <a:avLst/>
            <a:gdLst/>
            <a:ahLst/>
            <a:cxnLst/>
            <a:rect r="r" b="b" t="t" l="l"/>
            <a:pathLst>
              <a:path h="283801" w="1715278">
                <a:moveTo>
                  <a:pt x="0" y="0"/>
                </a:moveTo>
                <a:lnTo>
                  <a:pt x="1715278" y="0"/>
                </a:lnTo>
                <a:lnTo>
                  <a:pt x="1715278" y="283800"/>
                </a:lnTo>
                <a:lnTo>
                  <a:pt x="0" y="283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596974" y="-1194328"/>
            <a:ext cx="3502048" cy="1916575"/>
          </a:xfrm>
          <a:custGeom>
            <a:avLst/>
            <a:gdLst/>
            <a:ahLst/>
            <a:cxnLst/>
            <a:rect r="r" b="b" t="t" l="l"/>
            <a:pathLst>
              <a:path h="1916575" w="3502048">
                <a:moveTo>
                  <a:pt x="0" y="0"/>
                </a:moveTo>
                <a:lnTo>
                  <a:pt x="3502048" y="0"/>
                </a:lnTo>
                <a:lnTo>
                  <a:pt x="3502048" y="1916576"/>
                </a:lnTo>
                <a:lnTo>
                  <a:pt x="0" y="1916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4744767" y="9742628"/>
            <a:ext cx="3502048" cy="1916575"/>
          </a:xfrm>
          <a:custGeom>
            <a:avLst/>
            <a:gdLst/>
            <a:ahLst/>
            <a:cxnLst/>
            <a:rect r="r" b="b" t="t" l="l"/>
            <a:pathLst>
              <a:path h="1916575" w="3502048">
                <a:moveTo>
                  <a:pt x="0" y="0"/>
                </a:moveTo>
                <a:lnTo>
                  <a:pt x="3502049" y="0"/>
                </a:lnTo>
                <a:lnTo>
                  <a:pt x="3502049" y="1916575"/>
                </a:lnTo>
                <a:lnTo>
                  <a:pt x="0" y="19165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93019" y="577771"/>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681496" y="9378264"/>
            <a:ext cx="480267" cy="480267"/>
          </a:xfrm>
          <a:custGeom>
            <a:avLst/>
            <a:gdLst/>
            <a:ahLst/>
            <a:cxnLst/>
            <a:rect r="r" b="b" t="t" l="l"/>
            <a:pathLst>
              <a:path h="480267" w="480267">
                <a:moveTo>
                  <a:pt x="0" y="0"/>
                </a:moveTo>
                <a:lnTo>
                  <a:pt x="480267" y="0"/>
                </a:lnTo>
                <a:lnTo>
                  <a:pt x="480267" y="480268"/>
                </a:lnTo>
                <a:lnTo>
                  <a:pt x="0" y="4802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2069286" y="9502494"/>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973286" y="3243099"/>
            <a:ext cx="5291074" cy="5121899"/>
            <a:chOff x="0" y="0"/>
            <a:chExt cx="7054765" cy="6829198"/>
          </a:xfrm>
        </p:grpSpPr>
        <p:grpSp>
          <p:nvGrpSpPr>
            <p:cNvPr name="Group 12" id="12"/>
            <p:cNvGrpSpPr/>
            <p:nvPr/>
          </p:nvGrpSpPr>
          <p:grpSpPr>
            <a:xfrm rot="0">
              <a:off x="0" y="0"/>
              <a:ext cx="7054765" cy="6829198"/>
              <a:chOff x="0" y="0"/>
              <a:chExt cx="1612022" cy="1560480"/>
            </a:xfrm>
          </p:grpSpPr>
          <p:sp>
            <p:nvSpPr>
              <p:cNvPr name="Freeform 13" id="13"/>
              <p:cNvSpPr/>
              <p:nvPr/>
            </p:nvSpPr>
            <p:spPr>
              <a:xfrm flipH="false" flipV="false" rot="0">
                <a:off x="0" y="0"/>
                <a:ext cx="1612022" cy="1560480"/>
              </a:xfrm>
              <a:custGeom>
                <a:avLst/>
                <a:gdLst/>
                <a:ahLst/>
                <a:cxnLst/>
                <a:rect r="r" b="b" t="t" l="l"/>
                <a:pathLst>
                  <a:path h="1560480" w="1612022">
                    <a:moveTo>
                      <a:pt x="32671" y="0"/>
                    </a:moveTo>
                    <a:lnTo>
                      <a:pt x="1579351" y="0"/>
                    </a:lnTo>
                    <a:cubicBezTo>
                      <a:pt x="1588016" y="0"/>
                      <a:pt x="1596326" y="3442"/>
                      <a:pt x="1602453" y="9569"/>
                    </a:cubicBezTo>
                    <a:cubicBezTo>
                      <a:pt x="1608580" y="15696"/>
                      <a:pt x="1612022" y="24006"/>
                      <a:pt x="1612022" y="32671"/>
                    </a:cubicBezTo>
                    <a:lnTo>
                      <a:pt x="1612022" y="1527809"/>
                    </a:lnTo>
                    <a:cubicBezTo>
                      <a:pt x="1612022" y="1545853"/>
                      <a:pt x="1597395" y="1560480"/>
                      <a:pt x="1579351" y="1560480"/>
                    </a:cubicBezTo>
                    <a:lnTo>
                      <a:pt x="32671" y="1560480"/>
                    </a:lnTo>
                    <a:cubicBezTo>
                      <a:pt x="14627" y="1560480"/>
                      <a:pt x="0" y="1545853"/>
                      <a:pt x="0" y="1527809"/>
                    </a:cubicBezTo>
                    <a:lnTo>
                      <a:pt x="0" y="32671"/>
                    </a:lnTo>
                    <a:cubicBezTo>
                      <a:pt x="0" y="14627"/>
                      <a:pt x="14627" y="0"/>
                      <a:pt x="32671" y="0"/>
                    </a:cubicBezTo>
                    <a:close/>
                  </a:path>
                </a:pathLst>
              </a:custGeom>
              <a:solidFill>
                <a:srgbClr val="FFFFFF">
                  <a:alpha val="42745"/>
                </a:srgbClr>
              </a:solidFill>
              <a:ln w="38100" cap="rnd">
                <a:solidFill>
                  <a:srgbClr val="FFFFFF">
                    <a:alpha val="42745"/>
                  </a:srgbClr>
                </a:solidFill>
                <a:prstDash val="solid"/>
                <a:round/>
              </a:ln>
            </p:spPr>
          </p:sp>
          <p:sp>
            <p:nvSpPr>
              <p:cNvPr name="TextBox 14" id="14"/>
              <p:cNvSpPr txBox="true"/>
              <p:nvPr/>
            </p:nvSpPr>
            <p:spPr>
              <a:xfrm>
                <a:off x="0" y="-38100"/>
                <a:ext cx="1612022" cy="1598580"/>
              </a:xfrm>
              <a:prstGeom prst="rect">
                <a:avLst/>
              </a:prstGeom>
            </p:spPr>
            <p:txBody>
              <a:bodyPr anchor="ctr" rtlCol="false" tIns="49169" lIns="49169" bIns="49169" rIns="49169"/>
              <a:lstStyle/>
              <a:p>
                <a:pPr algn="ctr">
                  <a:lnSpc>
                    <a:spcPts val="2659"/>
                  </a:lnSpc>
                </a:pPr>
              </a:p>
            </p:txBody>
          </p:sp>
        </p:grpSp>
        <p:sp>
          <p:nvSpPr>
            <p:cNvPr name="Freeform 15" id="15"/>
            <p:cNvSpPr/>
            <p:nvPr/>
          </p:nvSpPr>
          <p:spPr>
            <a:xfrm flipH="false" flipV="false" rot="0">
              <a:off x="246651" y="281287"/>
              <a:ext cx="2106203" cy="4490042"/>
            </a:xfrm>
            <a:custGeom>
              <a:avLst/>
              <a:gdLst/>
              <a:ahLst/>
              <a:cxnLst/>
              <a:rect r="r" b="b" t="t" l="l"/>
              <a:pathLst>
                <a:path h="4490042" w="2106203">
                  <a:moveTo>
                    <a:pt x="0" y="0"/>
                  </a:moveTo>
                  <a:lnTo>
                    <a:pt x="2106203" y="0"/>
                  </a:lnTo>
                  <a:lnTo>
                    <a:pt x="2106203" y="4490042"/>
                  </a:lnTo>
                  <a:lnTo>
                    <a:pt x="0" y="4490042"/>
                  </a:lnTo>
                  <a:lnTo>
                    <a:pt x="0" y="0"/>
                  </a:lnTo>
                  <a:close/>
                </a:path>
              </a:pathLst>
            </a:custGeom>
            <a:blipFill>
              <a:blip r:embed="rId8"/>
              <a:stretch>
                <a:fillRect l="0" t="-734" r="-121" b="-734"/>
              </a:stretch>
            </a:blipFill>
          </p:spPr>
        </p:sp>
        <p:sp>
          <p:nvSpPr>
            <p:cNvPr name="Freeform 16" id="16"/>
            <p:cNvSpPr/>
            <p:nvPr/>
          </p:nvSpPr>
          <p:spPr>
            <a:xfrm flipH="false" flipV="false" rot="0">
              <a:off x="4612888" y="257971"/>
              <a:ext cx="2176301" cy="4480391"/>
            </a:xfrm>
            <a:custGeom>
              <a:avLst/>
              <a:gdLst/>
              <a:ahLst/>
              <a:cxnLst/>
              <a:rect r="r" b="b" t="t" l="l"/>
              <a:pathLst>
                <a:path h="4480391" w="2176301">
                  <a:moveTo>
                    <a:pt x="0" y="0"/>
                  </a:moveTo>
                  <a:lnTo>
                    <a:pt x="2176301" y="0"/>
                  </a:lnTo>
                  <a:lnTo>
                    <a:pt x="2176301" y="4480391"/>
                  </a:lnTo>
                  <a:lnTo>
                    <a:pt x="0" y="4480391"/>
                  </a:lnTo>
                  <a:lnTo>
                    <a:pt x="0" y="0"/>
                  </a:lnTo>
                  <a:close/>
                </a:path>
              </a:pathLst>
            </a:custGeom>
            <a:blipFill>
              <a:blip r:embed="rId9"/>
              <a:stretch>
                <a:fillRect l="0" t="-1834" r="0" b="-1612"/>
              </a:stretch>
            </a:blipFill>
          </p:spPr>
        </p:sp>
        <p:sp>
          <p:nvSpPr>
            <p:cNvPr name="Freeform 17" id="17"/>
            <p:cNvSpPr/>
            <p:nvPr/>
          </p:nvSpPr>
          <p:spPr>
            <a:xfrm flipH="false" flipV="false" rot="0">
              <a:off x="2438477" y="257971"/>
              <a:ext cx="2075725" cy="4480391"/>
            </a:xfrm>
            <a:custGeom>
              <a:avLst/>
              <a:gdLst/>
              <a:ahLst/>
              <a:cxnLst/>
              <a:rect r="r" b="b" t="t" l="l"/>
              <a:pathLst>
                <a:path h="4480391" w="2075725">
                  <a:moveTo>
                    <a:pt x="0" y="0"/>
                  </a:moveTo>
                  <a:lnTo>
                    <a:pt x="2075726" y="0"/>
                  </a:lnTo>
                  <a:lnTo>
                    <a:pt x="2075726" y="4480391"/>
                  </a:lnTo>
                  <a:lnTo>
                    <a:pt x="0" y="4480391"/>
                  </a:lnTo>
                  <a:lnTo>
                    <a:pt x="0" y="0"/>
                  </a:lnTo>
                  <a:close/>
                </a:path>
              </a:pathLst>
            </a:custGeom>
            <a:blipFill>
              <a:blip r:embed="rId10"/>
              <a:stretch>
                <a:fillRect l="-1937" t="0" r="-3677" b="-5657"/>
              </a:stretch>
            </a:blipFill>
          </p:spPr>
        </p:sp>
        <p:sp>
          <p:nvSpPr>
            <p:cNvPr name="TextBox 18" id="18"/>
            <p:cNvSpPr txBox="true"/>
            <p:nvPr/>
          </p:nvSpPr>
          <p:spPr>
            <a:xfrm rot="0">
              <a:off x="181331" y="5022171"/>
              <a:ext cx="6590018" cy="1316551"/>
            </a:xfrm>
            <a:prstGeom prst="rect">
              <a:avLst/>
            </a:prstGeom>
          </p:spPr>
          <p:txBody>
            <a:bodyPr anchor="t" rtlCol="false" tIns="0" lIns="0" bIns="0" rIns="0">
              <a:spAutoFit/>
            </a:bodyPr>
            <a:lstStyle/>
            <a:p>
              <a:pPr algn="ctr">
                <a:lnSpc>
                  <a:spcPts val="2722"/>
                </a:lnSpc>
              </a:pPr>
              <a:r>
                <a:rPr lang="en-US" sz="1815">
                  <a:solidFill>
                    <a:srgbClr val="3B1B4E"/>
                  </a:solidFill>
                  <a:latin typeface="Noto Serif Ethiopic Condensed"/>
                  <a:ea typeface="Noto Serif Ethiopic Condensed"/>
                  <a:cs typeface="Noto Serif Ethiopic Condensed"/>
                  <a:sym typeface="Noto Serif Ethiopic Condensed"/>
                </a:rPr>
                <a:t>We optimized the user flow to ensure that even under high cognitive load (stress), the path to safety is subconscious and effortless.</a:t>
              </a:r>
            </a:p>
          </p:txBody>
        </p:sp>
      </p:grpSp>
      <p:grpSp>
        <p:nvGrpSpPr>
          <p:cNvPr name="Group 19" id="19"/>
          <p:cNvGrpSpPr/>
          <p:nvPr/>
        </p:nvGrpSpPr>
        <p:grpSpPr>
          <a:xfrm rot="0">
            <a:off x="12299047" y="342583"/>
            <a:ext cx="5717246" cy="8022415"/>
            <a:chOff x="0" y="0"/>
            <a:chExt cx="7622994" cy="10696553"/>
          </a:xfrm>
        </p:grpSpPr>
        <p:sp>
          <p:nvSpPr>
            <p:cNvPr name="Freeform 20" id="20"/>
            <p:cNvSpPr/>
            <p:nvPr/>
          </p:nvSpPr>
          <p:spPr>
            <a:xfrm flipH="false" flipV="false" rot="0">
              <a:off x="7043594" y="0"/>
              <a:ext cx="579400" cy="579400"/>
            </a:xfrm>
            <a:custGeom>
              <a:avLst/>
              <a:gdLst/>
              <a:ahLst/>
              <a:cxnLst/>
              <a:rect r="r" b="b" t="t" l="l"/>
              <a:pathLst>
                <a:path h="579400" w="579400">
                  <a:moveTo>
                    <a:pt x="0" y="0"/>
                  </a:moveTo>
                  <a:lnTo>
                    <a:pt x="579400" y="0"/>
                  </a:lnTo>
                  <a:lnTo>
                    <a:pt x="579400" y="579400"/>
                  </a:lnTo>
                  <a:lnTo>
                    <a:pt x="0" y="579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21" id="21"/>
            <p:cNvGrpSpPr/>
            <p:nvPr/>
          </p:nvGrpSpPr>
          <p:grpSpPr>
            <a:xfrm rot="0">
              <a:off x="0" y="3778056"/>
              <a:ext cx="7043594" cy="6918497"/>
              <a:chOff x="0" y="0"/>
              <a:chExt cx="1588696" cy="1560480"/>
            </a:xfrm>
          </p:grpSpPr>
          <p:sp>
            <p:nvSpPr>
              <p:cNvPr name="Freeform 22" id="22"/>
              <p:cNvSpPr/>
              <p:nvPr/>
            </p:nvSpPr>
            <p:spPr>
              <a:xfrm flipH="false" flipV="false" rot="0">
                <a:off x="0" y="0"/>
                <a:ext cx="1588695" cy="1560480"/>
              </a:xfrm>
              <a:custGeom>
                <a:avLst/>
                <a:gdLst/>
                <a:ahLst/>
                <a:cxnLst/>
                <a:rect r="r" b="b" t="t" l="l"/>
                <a:pathLst>
                  <a:path h="1560480" w="1588695">
                    <a:moveTo>
                      <a:pt x="33151" y="0"/>
                    </a:moveTo>
                    <a:lnTo>
                      <a:pt x="1555545" y="0"/>
                    </a:lnTo>
                    <a:cubicBezTo>
                      <a:pt x="1573853" y="0"/>
                      <a:pt x="1588695" y="14842"/>
                      <a:pt x="1588695" y="33151"/>
                    </a:cubicBezTo>
                    <a:lnTo>
                      <a:pt x="1588695" y="1527329"/>
                    </a:lnTo>
                    <a:cubicBezTo>
                      <a:pt x="1588695" y="1545638"/>
                      <a:pt x="1573853" y="1560480"/>
                      <a:pt x="1555545" y="1560480"/>
                    </a:cubicBezTo>
                    <a:lnTo>
                      <a:pt x="33151" y="1560480"/>
                    </a:lnTo>
                    <a:cubicBezTo>
                      <a:pt x="14842" y="1560480"/>
                      <a:pt x="0" y="1545638"/>
                      <a:pt x="0" y="1527329"/>
                    </a:cubicBezTo>
                    <a:lnTo>
                      <a:pt x="0" y="33151"/>
                    </a:lnTo>
                    <a:cubicBezTo>
                      <a:pt x="0" y="14842"/>
                      <a:pt x="14842" y="0"/>
                      <a:pt x="33151" y="0"/>
                    </a:cubicBezTo>
                    <a:close/>
                  </a:path>
                </a:pathLst>
              </a:custGeom>
              <a:solidFill>
                <a:srgbClr val="FFFFFF">
                  <a:alpha val="42745"/>
                </a:srgbClr>
              </a:solidFill>
              <a:ln w="38100" cap="rnd">
                <a:solidFill>
                  <a:srgbClr val="FFFFFF">
                    <a:alpha val="42745"/>
                  </a:srgbClr>
                </a:solidFill>
                <a:prstDash val="solid"/>
                <a:round/>
              </a:ln>
            </p:spPr>
          </p:sp>
          <p:sp>
            <p:nvSpPr>
              <p:cNvPr name="TextBox 23" id="23"/>
              <p:cNvSpPr txBox="true"/>
              <p:nvPr/>
            </p:nvSpPr>
            <p:spPr>
              <a:xfrm>
                <a:off x="0" y="-38100"/>
                <a:ext cx="1588696" cy="1598580"/>
              </a:xfrm>
              <a:prstGeom prst="rect">
                <a:avLst/>
              </a:prstGeom>
            </p:spPr>
            <p:txBody>
              <a:bodyPr anchor="ctr" rtlCol="false" tIns="49169" lIns="49169" bIns="49169" rIns="49169"/>
              <a:lstStyle/>
              <a:p>
                <a:pPr algn="ctr">
                  <a:lnSpc>
                    <a:spcPts val="2660"/>
                  </a:lnSpc>
                </a:pPr>
              </a:p>
            </p:txBody>
          </p:sp>
        </p:grpSp>
        <p:sp>
          <p:nvSpPr>
            <p:cNvPr name="Freeform 24" id="24"/>
            <p:cNvSpPr/>
            <p:nvPr/>
          </p:nvSpPr>
          <p:spPr>
            <a:xfrm flipH="false" flipV="false" rot="0">
              <a:off x="2505751" y="4111345"/>
              <a:ext cx="2102868" cy="4538977"/>
            </a:xfrm>
            <a:custGeom>
              <a:avLst/>
              <a:gdLst/>
              <a:ahLst/>
              <a:cxnLst/>
              <a:rect r="r" b="b" t="t" l="l"/>
              <a:pathLst>
                <a:path h="4538977" w="2102868">
                  <a:moveTo>
                    <a:pt x="0" y="0"/>
                  </a:moveTo>
                  <a:lnTo>
                    <a:pt x="2102868" y="0"/>
                  </a:lnTo>
                  <a:lnTo>
                    <a:pt x="2102868" y="4538976"/>
                  </a:lnTo>
                  <a:lnTo>
                    <a:pt x="0" y="4538976"/>
                  </a:lnTo>
                  <a:lnTo>
                    <a:pt x="0" y="0"/>
                  </a:lnTo>
                  <a:close/>
                </a:path>
              </a:pathLst>
            </a:custGeom>
            <a:blipFill>
              <a:blip r:embed="rId11"/>
              <a:stretch>
                <a:fillRect l="0" t="0" r="0" b="-10225"/>
              </a:stretch>
            </a:blipFill>
          </p:spPr>
        </p:sp>
        <p:sp>
          <p:nvSpPr>
            <p:cNvPr name="Freeform 25" id="25"/>
            <p:cNvSpPr/>
            <p:nvPr/>
          </p:nvSpPr>
          <p:spPr>
            <a:xfrm flipH="false" flipV="false" rot="0">
              <a:off x="304634" y="4072264"/>
              <a:ext cx="2097955" cy="4506113"/>
            </a:xfrm>
            <a:custGeom>
              <a:avLst/>
              <a:gdLst/>
              <a:ahLst/>
              <a:cxnLst/>
              <a:rect r="r" b="b" t="t" l="l"/>
              <a:pathLst>
                <a:path h="4506113" w="2097955">
                  <a:moveTo>
                    <a:pt x="0" y="0"/>
                  </a:moveTo>
                  <a:lnTo>
                    <a:pt x="2097954" y="0"/>
                  </a:lnTo>
                  <a:lnTo>
                    <a:pt x="2097954" y="4506113"/>
                  </a:lnTo>
                  <a:lnTo>
                    <a:pt x="0" y="4506113"/>
                  </a:lnTo>
                  <a:lnTo>
                    <a:pt x="0" y="0"/>
                  </a:lnTo>
                  <a:close/>
                </a:path>
              </a:pathLst>
            </a:custGeom>
            <a:blipFill>
              <a:blip r:embed="rId12"/>
              <a:stretch>
                <a:fillRect l="0" t="0" r="0" b="0"/>
              </a:stretch>
            </a:blipFill>
          </p:spPr>
        </p:sp>
        <p:sp>
          <p:nvSpPr>
            <p:cNvPr name="Freeform 26" id="26"/>
            <p:cNvSpPr/>
            <p:nvPr/>
          </p:nvSpPr>
          <p:spPr>
            <a:xfrm flipH="false" flipV="false" rot="0">
              <a:off x="4711781" y="4111345"/>
              <a:ext cx="2108243" cy="4515356"/>
            </a:xfrm>
            <a:custGeom>
              <a:avLst/>
              <a:gdLst/>
              <a:ahLst/>
              <a:cxnLst/>
              <a:rect r="r" b="b" t="t" l="l"/>
              <a:pathLst>
                <a:path h="4515356" w="2108243">
                  <a:moveTo>
                    <a:pt x="0" y="0"/>
                  </a:moveTo>
                  <a:lnTo>
                    <a:pt x="2108243" y="0"/>
                  </a:lnTo>
                  <a:lnTo>
                    <a:pt x="2108243" y="4515356"/>
                  </a:lnTo>
                  <a:lnTo>
                    <a:pt x="0" y="4515356"/>
                  </a:lnTo>
                  <a:lnTo>
                    <a:pt x="0" y="0"/>
                  </a:lnTo>
                  <a:close/>
                </a:path>
              </a:pathLst>
            </a:custGeom>
            <a:blipFill>
              <a:blip r:embed="rId13"/>
              <a:stretch>
                <a:fillRect l="0" t="0" r="0" b="0"/>
              </a:stretch>
            </a:blipFill>
          </p:spPr>
        </p:sp>
        <p:sp>
          <p:nvSpPr>
            <p:cNvPr name="TextBox 27" id="27"/>
            <p:cNvSpPr txBox="true"/>
            <p:nvPr/>
          </p:nvSpPr>
          <p:spPr>
            <a:xfrm rot="0">
              <a:off x="219090" y="8912955"/>
              <a:ext cx="6676189" cy="1333143"/>
            </a:xfrm>
            <a:prstGeom prst="rect">
              <a:avLst/>
            </a:prstGeom>
          </p:spPr>
          <p:txBody>
            <a:bodyPr anchor="t" rtlCol="false" tIns="0" lIns="0" bIns="0" rIns="0">
              <a:spAutoFit/>
            </a:bodyPr>
            <a:lstStyle/>
            <a:p>
              <a:pPr algn="ctr">
                <a:lnSpc>
                  <a:spcPts val="2758"/>
                </a:lnSpc>
              </a:pPr>
              <a:r>
                <a:rPr lang="en-US" sz="1838">
                  <a:solidFill>
                    <a:srgbClr val="3B1B4E"/>
                  </a:solidFill>
                  <a:latin typeface="Noto Serif Ethiopic Condensed"/>
                  <a:ea typeface="Noto Serif Ethiopic Condensed"/>
                  <a:cs typeface="Noto Serif Ethiopic Condensed"/>
                  <a:sym typeface="Noto Serif Ethiopic Condensed"/>
                </a:rPr>
                <a:t>The SOS buttons allows users to directly seek help in the case of an emergency in one tap, saving them the trouble of looking for them online.</a:t>
              </a:r>
            </a:p>
          </p:txBody>
        </p:sp>
      </p:grpSp>
      <p:sp>
        <p:nvSpPr>
          <p:cNvPr name="TextBox 28" id="28"/>
          <p:cNvSpPr txBox="true"/>
          <p:nvPr/>
        </p:nvSpPr>
        <p:spPr>
          <a:xfrm rot="0">
            <a:off x="1268834" y="1085850"/>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29" id="29"/>
          <p:cNvSpPr txBox="true"/>
          <p:nvPr/>
        </p:nvSpPr>
        <p:spPr>
          <a:xfrm rot="0">
            <a:off x="15107417" y="9541030"/>
            <a:ext cx="2151883"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Resham Furqan</a:t>
            </a:r>
          </a:p>
        </p:txBody>
      </p:sp>
      <p:sp>
        <p:nvSpPr>
          <p:cNvPr name="TextBox 30" id="30"/>
          <p:cNvSpPr txBox="true"/>
          <p:nvPr/>
        </p:nvSpPr>
        <p:spPr>
          <a:xfrm rot="0">
            <a:off x="2069286" y="1751434"/>
            <a:ext cx="14149427" cy="1317300"/>
          </a:xfrm>
          <a:prstGeom prst="rect">
            <a:avLst/>
          </a:prstGeom>
        </p:spPr>
        <p:txBody>
          <a:bodyPr anchor="t" rtlCol="false" tIns="0" lIns="0" bIns="0" rIns="0">
            <a:spAutoFit/>
          </a:bodyPr>
          <a:lstStyle/>
          <a:p>
            <a:pPr algn="ctr">
              <a:lnSpc>
                <a:spcPts val="9775"/>
              </a:lnSpc>
            </a:pPr>
            <a:r>
              <a:rPr lang="en-US" b="true" sz="10289">
                <a:solidFill>
                  <a:srgbClr val="D9A3A2"/>
                </a:solidFill>
                <a:latin typeface="Noto Serif Ethiopic Condensed Bold"/>
                <a:ea typeface="Noto Serif Ethiopic Condensed Bold"/>
                <a:cs typeface="Noto Serif Ethiopic Condensed Bold"/>
                <a:sym typeface="Noto Serif Ethiopic Condensed Bold"/>
              </a:rPr>
              <a:t>THE HELPERA EDGE</a:t>
            </a:r>
          </a:p>
        </p:txBody>
      </p:sp>
      <p:grpSp>
        <p:nvGrpSpPr>
          <p:cNvPr name="Group 31" id="31"/>
          <p:cNvGrpSpPr/>
          <p:nvPr/>
        </p:nvGrpSpPr>
        <p:grpSpPr>
          <a:xfrm rot="0">
            <a:off x="6559133" y="3243099"/>
            <a:ext cx="5297309" cy="5121899"/>
            <a:chOff x="0" y="0"/>
            <a:chExt cx="7063079" cy="6829198"/>
          </a:xfrm>
        </p:grpSpPr>
        <p:grpSp>
          <p:nvGrpSpPr>
            <p:cNvPr name="Group 32" id="32"/>
            <p:cNvGrpSpPr/>
            <p:nvPr/>
          </p:nvGrpSpPr>
          <p:grpSpPr>
            <a:xfrm rot="0">
              <a:off x="0" y="0"/>
              <a:ext cx="7060079" cy="6829198"/>
              <a:chOff x="0" y="0"/>
              <a:chExt cx="1505856" cy="1456611"/>
            </a:xfrm>
          </p:grpSpPr>
          <p:sp>
            <p:nvSpPr>
              <p:cNvPr name="Freeform 33" id="33"/>
              <p:cNvSpPr/>
              <p:nvPr/>
            </p:nvSpPr>
            <p:spPr>
              <a:xfrm flipH="false" flipV="false" rot="0">
                <a:off x="0" y="0"/>
                <a:ext cx="1505856" cy="1456611"/>
              </a:xfrm>
              <a:custGeom>
                <a:avLst/>
                <a:gdLst/>
                <a:ahLst/>
                <a:cxnLst/>
                <a:rect r="r" b="b" t="t" l="l"/>
                <a:pathLst>
                  <a:path h="1456611" w="1505856">
                    <a:moveTo>
                      <a:pt x="34974" y="0"/>
                    </a:moveTo>
                    <a:lnTo>
                      <a:pt x="1470881" y="0"/>
                    </a:lnTo>
                    <a:cubicBezTo>
                      <a:pt x="1480157" y="0"/>
                      <a:pt x="1489053" y="3685"/>
                      <a:pt x="1495612" y="10244"/>
                    </a:cubicBezTo>
                    <a:cubicBezTo>
                      <a:pt x="1502171" y="16803"/>
                      <a:pt x="1505856" y="25698"/>
                      <a:pt x="1505856" y="34974"/>
                    </a:cubicBezTo>
                    <a:lnTo>
                      <a:pt x="1505856" y="1421637"/>
                    </a:lnTo>
                    <a:cubicBezTo>
                      <a:pt x="1505856" y="1430912"/>
                      <a:pt x="1502171" y="1439808"/>
                      <a:pt x="1495612" y="1446367"/>
                    </a:cubicBezTo>
                    <a:cubicBezTo>
                      <a:pt x="1489053" y="1452926"/>
                      <a:pt x="1480157" y="1456611"/>
                      <a:pt x="1470881" y="1456611"/>
                    </a:cubicBezTo>
                    <a:lnTo>
                      <a:pt x="34974" y="1456611"/>
                    </a:lnTo>
                    <a:cubicBezTo>
                      <a:pt x="25698" y="1456611"/>
                      <a:pt x="16803" y="1452926"/>
                      <a:pt x="10244" y="1446367"/>
                    </a:cubicBezTo>
                    <a:cubicBezTo>
                      <a:pt x="3685" y="1439808"/>
                      <a:pt x="0" y="1430912"/>
                      <a:pt x="0" y="1421637"/>
                    </a:cubicBezTo>
                    <a:lnTo>
                      <a:pt x="0" y="34974"/>
                    </a:lnTo>
                    <a:cubicBezTo>
                      <a:pt x="0" y="25698"/>
                      <a:pt x="3685" y="16803"/>
                      <a:pt x="10244" y="10244"/>
                    </a:cubicBezTo>
                    <a:cubicBezTo>
                      <a:pt x="16803" y="3685"/>
                      <a:pt x="25698" y="0"/>
                      <a:pt x="34974" y="0"/>
                    </a:cubicBezTo>
                    <a:close/>
                  </a:path>
                </a:pathLst>
              </a:custGeom>
              <a:solidFill>
                <a:srgbClr val="FFFFFF">
                  <a:alpha val="42745"/>
                </a:srgbClr>
              </a:solidFill>
              <a:ln w="38100" cap="rnd">
                <a:solidFill>
                  <a:srgbClr val="FFFFFF">
                    <a:alpha val="42745"/>
                  </a:srgbClr>
                </a:solidFill>
                <a:prstDash val="solid"/>
                <a:round/>
              </a:ln>
            </p:spPr>
          </p:sp>
          <p:sp>
            <p:nvSpPr>
              <p:cNvPr name="TextBox 34" id="34"/>
              <p:cNvSpPr txBox="true"/>
              <p:nvPr/>
            </p:nvSpPr>
            <p:spPr>
              <a:xfrm>
                <a:off x="0" y="-38100"/>
                <a:ext cx="1505856" cy="1494711"/>
              </a:xfrm>
              <a:prstGeom prst="rect">
                <a:avLst/>
              </a:prstGeom>
            </p:spPr>
            <p:txBody>
              <a:bodyPr anchor="ctr" rtlCol="false" tIns="49169" lIns="49169" bIns="49169" rIns="49169"/>
              <a:lstStyle/>
              <a:p>
                <a:pPr algn="ctr">
                  <a:lnSpc>
                    <a:spcPts val="2659"/>
                  </a:lnSpc>
                </a:pPr>
              </a:p>
            </p:txBody>
          </p:sp>
        </p:grpSp>
        <p:sp>
          <p:nvSpPr>
            <p:cNvPr name="Freeform 35" id="35"/>
            <p:cNvSpPr/>
            <p:nvPr/>
          </p:nvSpPr>
          <p:spPr>
            <a:xfrm flipH="false" flipV="false" rot="0">
              <a:off x="4858884" y="290035"/>
              <a:ext cx="1727384" cy="4485397"/>
            </a:xfrm>
            <a:custGeom>
              <a:avLst/>
              <a:gdLst/>
              <a:ahLst/>
              <a:cxnLst/>
              <a:rect r="r" b="b" t="t" l="l"/>
              <a:pathLst>
                <a:path h="4485397" w="1727384">
                  <a:moveTo>
                    <a:pt x="0" y="0"/>
                  </a:moveTo>
                  <a:lnTo>
                    <a:pt x="1727384" y="0"/>
                  </a:lnTo>
                  <a:lnTo>
                    <a:pt x="1727384" y="4485397"/>
                  </a:lnTo>
                  <a:lnTo>
                    <a:pt x="0" y="4485397"/>
                  </a:lnTo>
                  <a:lnTo>
                    <a:pt x="0" y="0"/>
                  </a:lnTo>
                  <a:close/>
                </a:path>
              </a:pathLst>
            </a:custGeom>
            <a:blipFill>
              <a:blip r:embed="rId14"/>
              <a:stretch>
                <a:fillRect l="0" t="-2767" r="0" b="0"/>
              </a:stretch>
            </a:blipFill>
          </p:spPr>
        </p:sp>
        <p:sp>
          <p:nvSpPr>
            <p:cNvPr name="Freeform 36" id="36"/>
            <p:cNvSpPr/>
            <p:nvPr/>
          </p:nvSpPr>
          <p:spPr>
            <a:xfrm flipH="false" flipV="false" rot="0">
              <a:off x="2707677" y="290035"/>
              <a:ext cx="1709630" cy="4485397"/>
            </a:xfrm>
            <a:custGeom>
              <a:avLst/>
              <a:gdLst/>
              <a:ahLst/>
              <a:cxnLst/>
              <a:rect r="r" b="b" t="t" l="l"/>
              <a:pathLst>
                <a:path h="4485397" w="1709630">
                  <a:moveTo>
                    <a:pt x="0" y="0"/>
                  </a:moveTo>
                  <a:lnTo>
                    <a:pt x="1709631" y="0"/>
                  </a:lnTo>
                  <a:lnTo>
                    <a:pt x="1709631" y="4485397"/>
                  </a:lnTo>
                  <a:lnTo>
                    <a:pt x="0" y="4485397"/>
                  </a:lnTo>
                  <a:lnTo>
                    <a:pt x="0" y="0"/>
                  </a:lnTo>
                  <a:close/>
                </a:path>
              </a:pathLst>
            </a:custGeom>
            <a:blipFill>
              <a:blip r:embed="rId15"/>
              <a:stretch>
                <a:fillRect l="0" t="-1237" r="0" b="0"/>
              </a:stretch>
            </a:blipFill>
          </p:spPr>
        </p:sp>
        <p:sp>
          <p:nvSpPr>
            <p:cNvPr name="Freeform 37" id="37"/>
            <p:cNvSpPr/>
            <p:nvPr/>
          </p:nvSpPr>
          <p:spPr>
            <a:xfrm flipH="false" flipV="false" rot="0">
              <a:off x="492699" y="270275"/>
              <a:ext cx="1773402" cy="4505157"/>
            </a:xfrm>
            <a:custGeom>
              <a:avLst/>
              <a:gdLst/>
              <a:ahLst/>
              <a:cxnLst/>
              <a:rect r="r" b="b" t="t" l="l"/>
              <a:pathLst>
                <a:path h="4505157" w="1773402">
                  <a:moveTo>
                    <a:pt x="0" y="0"/>
                  </a:moveTo>
                  <a:lnTo>
                    <a:pt x="1773402" y="0"/>
                  </a:lnTo>
                  <a:lnTo>
                    <a:pt x="1773402" y="4505157"/>
                  </a:lnTo>
                  <a:lnTo>
                    <a:pt x="0" y="4505157"/>
                  </a:lnTo>
                  <a:lnTo>
                    <a:pt x="0" y="0"/>
                  </a:lnTo>
                  <a:close/>
                </a:path>
              </a:pathLst>
            </a:custGeom>
            <a:blipFill>
              <a:blip r:embed="rId16"/>
              <a:stretch>
                <a:fillRect l="0" t="0" r="0" b="0"/>
              </a:stretch>
            </a:blipFill>
          </p:spPr>
        </p:sp>
        <p:sp>
          <p:nvSpPr>
            <p:cNvPr name="TextBox 38" id="38"/>
            <p:cNvSpPr txBox="true"/>
            <p:nvPr/>
          </p:nvSpPr>
          <p:spPr>
            <a:xfrm rot="0">
              <a:off x="3000" y="4870999"/>
              <a:ext cx="7060079" cy="1668231"/>
            </a:xfrm>
            <a:prstGeom prst="rect">
              <a:avLst/>
            </a:prstGeom>
          </p:spPr>
          <p:txBody>
            <a:bodyPr anchor="t" rtlCol="false" tIns="0" lIns="0" bIns="0" rIns="0">
              <a:spAutoFit/>
            </a:bodyPr>
            <a:lstStyle/>
            <a:p>
              <a:pPr algn="ctr">
                <a:lnSpc>
                  <a:spcPts val="2545"/>
                </a:lnSpc>
                <a:spcBef>
                  <a:spcPct val="0"/>
                </a:spcBef>
              </a:pPr>
              <a:r>
                <a:rPr lang="en-US" sz="1817">
                  <a:solidFill>
                    <a:srgbClr val="3B1B4E"/>
                  </a:solidFill>
                  <a:latin typeface="Noto Serif Ethiopic Condensed"/>
                  <a:ea typeface="Noto Serif Ethiopic Condensed"/>
                  <a:cs typeface="Noto Serif Ethiopic Condensed"/>
                  <a:sym typeface="Noto Serif Ethiopic Condensed"/>
                </a:rPr>
                <a:t>HelpEra wasn't built for a "standard" user; it was built with accessibility at its core, ensuring those with low vision or motor impairments have equal access to protection.</a:t>
              </a:r>
            </a:p>
          </p:txBody>
        </p:sp>
      </p:grpSp>
    </p:spTree>
  </p:cSld>
  <p:clrMapOvr>
    <a:masterClrMapping/>
  </p:clrMapOvr>
  <p:transition spd="fast">
    <p:fade/>
  </p:transition>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grpSp>
        <p:nvGrpSpPr>
          <p:cNvPr name="Group 2" id="2"/>
          <p:cNvGrpSpPr/>
          <p:nvPr/>
        </p:nvGrpSpPr>
        <p:grpSpPr>
          <a:xfrm rot="0">
            <a:off x="1028700" y="1936427"/>
            <a:ext cx="16206278" cy="6807739"/>
            <a:chOff x="0" y="0"/>
            <a:chExt cx="4409867" cy="1852444"/>
          </a:xfrm>
        </p:grpSpPr>
        <p:sp>
          <p:nvSpPr>
            <p:cNvPr name="Freeform 3" id="3"/>
            <p:cNvSpPr/>
            <p:nvPr/>
          </p:nvSpPr>
          <p:spPr>
            <a:xfrm flipH="false" flipV="false" rot="0">
              <a:off x="0" y="0"/>
              <a:ext cx="4409867" cy="1852444"/>
            </a:xfrm>
            <a:custGeom>
              <a:avLst/>
              <a:gdLst/>
              <a:ahLst/>
              <a:cxnLst/>
              <a:rect r="r" b="b" t="t" l="l"/>
              <a:pathLst>
                <a:path h="1852444" w="4409867">
                  <a:moveTo>
                    <a:pt x="11943" y="0"/>
                  </a:moveTo>
                  <a:lnTo>
                    <a:pt x="4397925" y="0"/>
                  </a:lnTo>
                  <a:cubicBezTo>
                    <a:pt x="4401092" y="0"/>
                    <a:pt x="4404130" y="1258"/>
                    <a:pt x="4406369" y="3498"/>
                  </a:cubicBezTo>
                  <a:cubicBezTo>
                    <a:pt x="4408609" y="5738"/>
                    <a:pt x="4409867" y="8775"/>
                    <a:pt x="4409867" y="11943"/>
                  </a:cubicBezTo>
                  <a:lnTo>
                    <a:pt x="4409867" y="1840501"/>
                  </a:lnTo>
                  <a:cubicBezTo>
                    <a:pt x="4409867" y="1847097"/>
                    <a:pt x="4404520" y="1852444"/>
                    <a:pt x="4397925" y="1852444"/>
                  </a:cubicBezTo>
                  <a:lnTo>
                    <a:pt x="11943" y="1852444"/>
                  </a:lnTo>
                  <a:cubicBezTo>
                    <a:pt x="8775" y="1852444"/>
                    <a:pt x="5738" y="1851186"/>
                    <a:pt x="3498" y="1848946"/>
                  </a:cubicBezTo>
                  <a:cubicBezTo>
                    <a:pt x="1258" y="1846706"/>
                    <a:pt x="0" y="1843669"/>
                    <a:pt x="0" y="1840501"/>
                  </a:cubicBezTo>
                  <a:lnTo>
                    <a:pt x="0" y="11943"/>
                  </a:lnTo>
                  <a:cubicBezTo>
                    <a:pt x="0" y="5347"/>
                    <a:pt x="5347" y="0"/>
                    <a:pt x="11943" y="0"/>
                  </a:cubicBezTo>
                  <a:close/>
                </a:path>
              </a:pathLst>
            </a:custGeom>
            <a:solidFill>
              <a:srgbClr val="FFFFFF">
                <a:alpha val="12941"/>
              </a:srgbClr>
            </a:solidFill>
            <a:ln w="38100" cap="rnd">
              <a:solidFill>
                <a:srgbClr val="FFFFFF">
                  <a:alpha val="12941"/>
                </a:srgbClr>
              </a:solidFill>
              <a:prstDash val="solid"/>
              <a:round/>
            </a:ln>
          </p:spPr>
        </p:sp>
        <p:sp>
          <p:nvSpPr>
            <p:cNvPr name="TextBox 4" id="4"/>
            <p:cNvSpPr txBox="true"/>
            <p:nvPr/>
          </p:nvSpPr>
          <p:spPr>
            <a:xfrm>
              <a:off x="0" y="-38100"/>
              <a:ext cx="4409867" cy="1890544"/>
            </a:xfrm>
            <a:prstGeom prst="rect">
              <a:avLst/>
            </a:prstGeom>
          </p:spPr>
          <p:txBody>
            <a:bodyPr anchor="ctr" rtlCol="false" tIns="49169" lIns="49169" bIns="49169" rIns="49169"/>
            <a:lstStyle/>
            <a:p>
              <a:pPr algn="ctr">
                <a:lnSpc>
                  <a:spcPts val="2659"/>
                </a:lnSpc>
              </a:pPr>
            </a:p>
          </p:txBody>
        </p:sp>
      </p:grpSp>
      <p:sp>
        <p:nvSpPr>
          <p:cNvPr name="Freeform 5" id="5"/>
          <p:cNvSpPr/>
          <p:nvPr/>
        </p:nvSpPr>
        <p:spPr>
          <a:xfrm flipH="false" flipV="false" rot="0">
            <a:off x="14468081" y="1172359"/>
            <a:ext cx="1715278" cy="283801"/>
          </a:xfrm>
          <a:custGeom>
            <a:avLst/>
            <a:gdLst/>
            <a:ahLst/>
            <a:cxnLst/>
            <a:rect r="r" b="b" t="t" l="l"/>
            <a:pathLst>
              <a:path h="283801" w="1715278">
                <a:moveTo>
                  <a:pt x="0" y="0"/>
                </a:moveTo>
                <a:lnTo>
                  <a:pt x="1715278" y="0"/>
                </a:lnTo>
                <a:lnTo>
                  <a:pt x="1715278" y="283800"/>
                </a:lnTo>
                <a:lnTo>
                  <a:pt x="0" y="283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3249916" y="2188754"/>
            <a:ext cx="12118628" cy="1710976"/>
          </a:xfrm>
          <a:prstGeom prst="rect">
            <a:avLst/>
          </a:prstGeom>
        </p:spPr>
        <p:txBody>
          <a:bodyPr anchor="t" rtlCol="false" tIns="0" lIns="0" bIns="0" rIns="0">
            <a:spAutoFit/>
          </a:bodyPr>
          <a:lstStyle/>
          <a:p>
            <a:pPr algn="ctr">
              <a:lnSpc>
                <a:spcPts val="12719"/>
              </a:lnSpc>
            </a:pPr>
            <a:r>
              <a:rPr lang="en-US" b="true" sz="13389">
                <a:solidFill>
                  <a:srgbClr val="D9A3A2"/>
                </a:solidFill>
                <a:latin typeface="Noto Serif Ethiopic Condensed Bold"/>
                <a:ea typeface="Noto Serif Ethiopic Condensed Bold"/>
                <a:cs typeface="Noto Serif Ethiopic Condensed Bold"/>
                <a:sym typeface="Noto Serif Ethiopic Condensed Bold"/>
              </a:rPr>
              <a:t>FUTURE WORK</a:t>
            </a:r>
          </a:p>
        </p:txBody>
      </p:sp>
      <p:sp>
        <p:nvSpPr>
          <p:cNvPr name="Freeform 7" id="7"/>
          <p:cNvSpPr/>
          <p:nvPr/>
        </p:nvSpPr>
        <p:spPr>
          <a:xfrm flipH="false" flipV="false" rot="0">
            <a:off x="8596974" y="-842450"/>
            <a:ext cx="3502048" cy="1916575"/>
          </a:xfrm>
          <a:custGeom>
            <a:avLst/>
            <a:gdLst/>
            <a:ahLst/>
            <a:cxnLst/>
            <a:rect r="r" b="b" t="t" l="l"/>
            <a:pathLst>
              <a:path h="1916575" w="3502048">
                <a:moveTo>
                  <a:pt x="0" y="0"/>
                </a:moveTo>
                <a:lnTo>
                  <a:pt x="3502048" y="0"/>
                </a:lnTo>
                <a:lnTo>
                  <a:pt x="3502048" y="1916576"/>
                </a:lnTo>
                <a:lnTo>
                  <a:pt x="0" y="1916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4607477" y="9258515"/>
            <a:ext cx="3502048" cy="1916575"/>
          </a:xfrm>
          <a:custGeom>
            <a:avLst/>
            <a:gdLst/>
            <a:ahLst/>
            <a:cxnLst/>
            <a:rect r="r" b="b" t="t" l="l"/>
            <a:pathLst>
              <a:path h="1916575" w="3502048">
                <a:moveTo>
                  <a:pt x="0" y="0"/>
                </a:moveTo>
                <a:lnTo>
                  <a:pt x="3502048" y="0"/>
                </a:lnTo>
                <a:lnTo>
                  <a:pt x="3502048" y="1916576"/>
                </a:lnTo>
                <a:lnTo>
                  <a:pt x="0" y="19165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253158" y="6277763"/>
            <a:ext cx="480267" cy="480267"/>
          </a:xfrm>
          <a:custGeom>
            <a:avLst/>
            <a:gdLst/>
            <a:ahLst/>
            <a:cxnLst/>
            <a:rect r="r" b="b" t="t" l="l"/>
            <a:pathLst>
              <a:path h="480267" w="480267">
                <a:moveTo>
                  <a:pt x="0" y="0"/>
                </a:moveTo>
                <a:lnTo>
                  <a:pt x="480267" y="0"/>
                </a:lnTo>
                <a:lnTo>
                  <a:pt x="480267" y="480267"/>
                </a:lnTo>
                <a:lnTo>
                  <a:pt x="0" y="48026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0742759" y="9076624"/>
            <a:ext cx="521272" cy="521272"/>
          </a:xfrm>
          <a:custGeom>
            <a:avLst/>
            <a:gdLst/>
            <a:ahLst/>
            <a:cxnLst/>
            <a:rect r="r" b="b" t="t" l="l"/>
            <a:pathLst>
              <a:path h="521272" w="521272">
                <a:moveTo>
                  <a:pt x="0" y="0"/>
                </a:moveTo>
                <a:lnTo>
                  <a:pt x="521272" y="0"/>
                </a:lnTo>
                <a:lnTo>
                  <a:pt x="521272" y="521272"/>
                </a:lnTo>
                <a:lnTo>
                  <a:pt x="0" y="5212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268834" y="1085850"/>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
        <p:nvSpPr>
          <p:cNvPr name="TextBox 12" id="12"/>
          <p:cNvSpPr txBox="true"/>
          <p:nvPr/>
        </p:nvSpPr>
        <p:spPr>
          <a:xfrm rot="0">
            <a:off x="15083095" y="9467720"/>
            <a:ext cx="2151883"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Resham Furqan</a:t>
            </a:r>
          </a:p>
        </p:txBody>
      </p:sp>
      <p:grpSp>
        <p:nvGrpSpPr>
          <p:cNvPr name="Group 13" id="13"/>
          <p:cNvGrpSpPr/>
          <p:nvPr/>
        </p:nvGrpSpPr>
        <p:grpSpPr>
          <a:xfrm rot="0">
            <a:off x="1321322" y="4096575"/>
            <a:ext cx="3857189" cy="4186337"/>
            <a:chOff x="0" y="0"/>
            <a:chExt cx="1049574" cy="1139138"/>
          </a:xfrm>
        </p:grpSpPr>
        <p:sp>
          <p:nvSpPr>
            <p:cNvPr name="Freeform 14" id="14"/>
            <p:cNvSpPr/>
            <p:nvPr/>
          </p:nvSpPr>
          <p:spPr>
            <a:xfrm flipH="false" flipV="false" rot="0">
              <a:off x="0" y="0"/>
              <a:ext cx="1049574" cy="1139138"/>
            </a:xfrm>
            <a:custGeom>
              <a:avLst/>
              <a:gdLst/>
              <a:ahLst/>
              <a:cxnLst/>
              <a:rect r="r" b="b" t="t" l="l"/>
              <a:pathLst>
                <a:path h="1139138" w="1049574">
                  <a:moveTo>
                    <a:pt x="50179" y="0"/>
                  </a:moveTo>
                  <a:lnTo>
                    <a:pt x="999396" y="0"/>
                  </a:lnTo>
                  <a:cubicBezTo>
                    <a:pt x="1012704" y="0"/>
                    <a:pt x="1025467" y="5287"/>
                    <a:pt x="1034877" y="14697"/>
                  </a:cubicBezTo>
                  <a:cubicBezTo>
                    <a:pt x="1044287" y="24107"/>
                    <a:pt x="1049574" y="36870"/>
                    <a:pt x="1049574" y="50179"/>
                  </a:cubicBezTo>
                  <a:lnTo>
                    <a:pt x="1049574" y="1088960"/>
                  </a:lnTo>
                  <a:cubicBezTo>
                    <a:pt x="1049574" y="1102268"/>
                    <a:pt x="1044287" y="1115031"/>
                    <a:pt x="1034877" y="1124441"/>
                  </a:cubicBezTo>
                  <a:cubicBezTo>
                    <a:pt x="1025467" y="1133851"/>
                    <a:pt x="1012704" y="1139138"/>
                    <a:pt x="999396" y="1139138"/>
                  </a:cubicBezTo>
                  <a:lnTo>
                    <a:pt x="50179" y="1139138"/>
                  </a:lnTo>
                  <a:cubicBezTo>
                    <a:pt x="36870" y="1139138"/>
                    <a:pt x="24107" y="1133851"/>
                    <a:pt x="14697" y="1124441"/>
                  </a:cubicBezTo>
                  <a:cubicBezTo>
                    <a:pt x="5287" y="1115031"/>
                    <a:pt x="0" y="1102268"/>
                    <a:pt x="0" y="1088960"/>
                  </a:cubicBezTo>
                  <a:lnTo>
                    <a:pt x="0" y="50179"/>
                  </a:lnTo>
                  <a:cubicBezTo>
                    <a:pt x="0" y="36870"/>
                    <a:pt x="5287" y="24107"/>
                    <a:pt x="14697" y="14697"/>
                  </a:cubicBezTo>
                  <a:cubicBezTo>
                    <a:pt x="24107" y="5287"/>
                    <a:pt x="36870" y="0"/>
                    <a:pt x="50179" y="0"/>
                  </a:cubicBezTo>
                  <a:close/>
                </a:path>
              </a:pathLst>
            </a:custGeom>
            <a:solidFill>
              <a:srgbClr val="FFFFFF">
                <a:alpha val="12941"/>
              </a:srgbClr>
            </a:solidFill>
            <a:ln w="38100" cap="rnd">
              <a:solidFill>
                <a:srgbClr val="1D0E07">
                  <a:alpha val="12941"/>
                </a:srgbClr>
              </a:solidFill>
              <a:prstDash val="solid"/>
              <a:round/>
            </a:ln>
          </p:spPr>
        </p:sp>
        <p:sp>
          <p:nvSpPr>
            <p:cNvPr name="TextBox 15" id="15"/>
            <p:cNvSpPr txBox="true"/>
            <p:nvPr/>
          </p:nvSpPr>
          <p:spPr>
            <a:xfrm>
              <a:off x="0" y="-38100"/>
              <a:ext cx="1049574" cy="1177238"/>
            </a:xfrm>
            <a:prstGeom prst="rect">
              <a:avLst/>
            </a:prstGeom>
          </p:spPr>
          <p:txBody>
            <a:bodyPr anchor="ctr" rtlCol="false" tIns="49169" lIns="49169" bIns="49169" rIns="49169"/>
            <a:lstStyle/>
            <a:p>
              <a:pPr algn="ctr">
                <a:lnSpc>
                  <a:spcPts val="2659"/>
                </a:lnSpc>
              </a:pPr>
            </a:p>
          </p:txBody>
        </p:sp>
      </p:grpSp>
      <p:sp>
        <p:nvSpPr>
          <p:cNvPr name="TextBox 16" id="16"/>
          <p:cNvSpPr txBox="true"/>
          <p:nvPr/>
        </p:nvSpPr>
        <p:spPr>
          <a:xfrm rot="0">
            <a:off x="1538194" y="4332222"/>
            <a:ext cx="3423445" cy="860425"/>
          </a:xfrm>
          <a:prstGeom prst="rect">
            <a:avLst/>
          </a:prstGeom>
        </p:spPr>
        <p:txBody>
          <a:bodyPr anchor="t" rtlCol="false" tIns="0" lIns="0" bIns="0" rIns="0">
            <a:spAutoFit/>
          </a:bodyPr>
          <a:lstStyle/>
          <a:p>
            <a:pPr algn="ctr">
              <a:lnSpc>
                <a:spcPts val="3499"/>
              </a:lnSpc>
            </a:pPr>
            <a:r>
              <a:rPr lang="en-US" sz="2499" b="true">
                <a:solidFill>
                  <a:srgbClr val="3B1B4E"/>
                </a:solidFill>
                <a:latin typeface="Noto Serif Ethiopic Condensed Bold"/>
                <a:ea typeface="Noto Serif Ethiopic Condensed Bold"/>
                <a:cs typeface="Noto Serif Ethiopic Condensed Bold"/>
                <a:sym typeface="Noto Serif Ethiopic Condensed Bold"/>
              </a:rPr>
              <a:t>Backend &amp; Infrastructure</a:t>
            </a:r>
          </a:p>
        </p:txBody>
      </p:sp>
      <p:sp>
        <p:nvSpPr>
          <p:cNvPr name="TextBox 17" id="17"/>
          <p:cNvSpPr txBox="true"/>
          <p:nvPr/>
        </p:nvSpPr>
        <p:spPr>
          <a:xfrm rot="0">
            <a:off x="1344325" y="5205859"/>
            <a:ext cx="3811183" cy="2404999"/>
          </a:xfrm>
          <a:prstGeom prst="rect">
            <a:avLst/>
          </a:prstGeom>
        </p:spPr>
        <p:txBody>
          <a:bodyPr anchor="t" rtlCol="false" tIns="0" lIns="0" bIns="0" rIns="0">
            <a:spAutoFit/>
          </a:bodyPr>
          <a:lstStyle/>
          <a:p>
            <a:pPr algn="l" marL="474979" indent="-237490" lvl="1">
              <a:lnSpc>
                <a:spcPts val="4927"/>
              </a:lnSpc>
              <a:buFont typeface="Arial"/>
              <a:buChar char="•"/>
            </a:pPr>
            <a:r>
              <a:rPr lang="en-US" sz="2199">
                <a:solidFill>
                  <a:srgbClr val="F0CFC7"/>
                </a:solidFill>
                <a:latin typeface="Noto Serif Ethiopic Condensed"/>
                <a:ea typeface="Noto Serif Ethiopic Condensed"/>
                <a:cs typeface="Noto Serif Ethiopic Condensed"/>
                <a:sym typeface="Noto Serif Ethiopic Condensed"/>
              </a:rPr>
              <a:t>Transit</a:t>
            </a:r>
            <a:r>
              <a:rPr lang="en-US" sz="2199">
                <a:solidFill>
                  <a:srgbClr val="F0CFC7"/>
                </a:solidFill>
                <a:latin typeface="Noto Serif Ethiopic Condensed"/>
                <a:ea typeface="Noto Serif Ethiopic Condensed"/>
                <a:cs typeface="Noto Serif Ethiopic Condensed"/>
                <a:sym typeface="Noto Serif Ethiopic Condensed"/>
              </a:rPr>
              <a:t>ion from Figma to a live, functional backend.</a:t>
            </a:r>
          </a:p>
          <a:p>
            <a:pPr algn="l" marL="474979" indent="-237490" lvl="1">
              <a:lnSpc>
                <a:spcPts val="4927"/>
              </a:lnSpc>
              <a:buFont typeface="Arial"/>
              <a:buChar char="•"/>
            </a:pPr>
            <a:r>
              <a:rPr lang="en-US" sz="2199">
                <a:solidFill>
                  <a:srgbClr val="F0CFC7"/>
                </a:solidFill>
                <a:latin typeface="Noto Serif Ethiopic Condensed"/>
                <a:ea typeface="Noto Serif Ethiopic Condensed"/>
                <a:cs typeface="Noto Serif Ethiopic Condensed"/>
                <a:sym typeface="Noto Serif Ethiopic Condensed"/>
              </a:rPr>
              <a:t>Secure user authentication and encrypted data storage.</a:t>
            </a:r>
          </a:p>
        </p:txBody>
      </p:sp>
      <p:grpSp>
        <p:nvGrpSpPr>
          <p:cNvPr name="Group 18" id="18"/>
          <p:cNvGrpSpPr/>
          <p:nvPr/>
        </p:nvGrpSpPr>
        <p:grpSpPr>
          <a:xfrm rot="0">
            <a:off x="9472297" y="4096575"/>
            <a:ext cx="3543982" cy="4186337"/>
            <a:chOff x="0" y="0"/>
            <a:chExt cx="964348" cy="1139138"/>
          </a:xfrm>
        </p:grpSpPr>
        <p:sp>
          <p:nvSpPr>
            <p:cNvPr name="Freeform 19" id="19"/>
            <p:cNvSpPr/>
            <p:nvPr/>
          </p:nvSpPr>
          <p:spPr>
            <a:xfrm flipH="false" flipV="false" rot="0">
              <a:off x="0" y="0"/>
              <a:ext cx="964348" cy="1139138"/>
            </a:xfrm>
            <a:custGeom>
              <a:avLst/>
              <a:gdLst/>
              <a:ahLst/>
              <a:cxnLst/>
              <a:rect r="r" b="b" t="t" l="l"/>
              <a:pathLst>
                <a:path h="1139138" w="964348">
                  <a:moveTo>
                    <a:pt x="54613" y="0"/>
                  </a:moveTo>
                  <a:lnTo>
                    <a:pt x="909735" y="0"/>
                  </a:lnTo>
                  <a:cubicBezTo>
                    <a:pt x="924219" y="0"/>
                    <a:pt x="938110" y="5754"/>
                    <a:pt x="948352" y="15996"/>
                  </a:cubicBezTo>
                  <a:cubicBezTo>
                    <a:pt x="958594" y="26238"/>
                    <a:pt x="964348" y="40129"/>
                    <a:pt x="964348" y="54613"/>
                  </a:cubicBezTo>
                  <a:lnTo>
                    <a:pt x="964348" y="1084525"/>
                  </a:lnTo>
                  <a:cubicBezTo>
                    <a:pt x="964348" y="1099009"/>
                    <a:pt x="958594" y="1112900"/>
                    <a:pt x="948352" y="1123142"/>
                  </a:cubicBezTo>
                  <a:cubicBezTo>
                    <a:pt x="938110" y="1133384"/>
                    <a:pt x="924219" y="1139138"/>
                    <a:pt x="909735" y="1139138"/>
                  </a:cubicBezTo>
                  <a:lnTo>
                    <a:pt x="54613" y="1139138"/>
                  </a:lnTo>
                  <a:cubicBezTo>
                    <a:pt x="40129" y="1139138"/>
                    <a:pt x="26238" y="1133384"/>
                    <a:pt x="15996" y="1123142"/>
                  </a:cubicBezTo>
                  <a:cubicBezTo>
                    <a:pt x="5754" y="1112900"/>
                    <a:pt x="0" y="1099009"/>
                    <a:pt x="0" y="1084525"/>
                  </a:cubicBezTo>
                  <a:lnTo>
                    <a:pt x="0" y="54613"/>
                  </a:lnTo>
                  <a:cubicBezTo>
                    <a:pt x="0" y="40129"/>
                    <a:pt x="5754" y="26238"/>
                    <a:pt x="15996" y="15996"/>
                  </a:cubicBezTo>
                  <a:cubicBezTo>
                    <a:pt x="26238" y="5754"/>
                    <a:pt x="40129" y="0"/>
                    <a:pt x="54613" y="0"/>
                  </a:cubicBezTo>
                  <a:close/>
                </a:path>
              </a:pathLst>
            </a:custGeom>
            <a:solidFill>
              <a:srgbClr val="FFFFFF">
                <a:alpha val="12941"/>
              </a:srgbClr>
            </a:solidFill>
            <a:ln w="38100" cap="rnd">
              <a:solidFill>
                <a:srgbClr val="1D0E07">
                  <a:alpha val="12941"/>
                </a:srgbClr>
              </a:solidFill>
              <a:prstDash val="solid"/>
              <a:round/>
            </a:ln>
          </p:spPr>
        </p:sp>
        <p:sp>
          <p:nvSpPr>
            <p:cNvPr name="TextBox 20" id="20"/>
            <p:cNvSpPr txBox="true"/>
            <p:nvPr/>
          </p:nvSpPr>
          <p:spPr>
            <a:xfrm>
              <a:off x="0" y="-38100"/>
              <a:ext cx="964348" cy="1177238"/>
            </a:xfrm>
            <a:prstGeom prst="rect">
              <a:avLst/>
            </a:prstGeom>
          </p:spPr>
          <p:txBody>
            <a:bodyPr anchor="ctr" rtlCol="false" tIns="49169" lIns="49169" bIns="49169" rIns="49169"/>
            <a:lstStyle/>
            <a:p>
              <a:pPr algn="ctr">
                <a:lnSpc>
                  <a:spcPts val="2659"/>
                </a:lnSpc>
              </a:pPr>
            </a:p>
          </p:txBody>
        </p:sp>
      </p:grpSp>
      <p:sp>
        <p:nvSpPr>
          <p:cNvPr name="TextBox 21" id="21"/>
          <p:cNvSpPr txBox="true"/>
          <p:nvPr/>
        </p:nvSpPr>
        <p:spPr>
          <a:xfrm rot="0">
            <a:off x="9432743" y="5243959"/>
            <a:ext cx="3543982" cy="2703195"/>
          </a:xfrm>
          <a:prstGeom prst="rect">
            <a:avLst/>
          </a:prstGeom>
        </p:spPr>
        <p:txBody>
          <a:bodyPr anchor="t" rtlCol="false" tIns="0" lIns="0" bIns="0" rIns="0">
            <a:spAutoFit/>
          </a:bodyPr>
          <a:lstStyle/>
          <a:p>
            <a:pPr algn="l" marL="453390" indent="-226695" lvl="1">
              <a:lnSpc>
                <a:spcPts val="4410"/>
              </a:lnSpc>
              <a:buFont typeface="Arial"/>
              <a:buChar char="•"/>
            </a:pPr>
            <a:r>
              <a:rPr lang="en-US" sz="2100">
                <a:solidFill>
                  <a:srgbClr val="F0CFC7"/>
                </a:solidFill>
                <a:latin typeface="Noto Serif Ethiopic Condensed"/>
                <a:ea typeface="Noto Serif Ethiopic Condensed"/>
                <a:cs typeface="Noto Serif Ethiopic Condensed"/>
                <a:sym typeface="Noto Serif Ethiopic Condensed"/>
              </a:rPr>
              <a:t>Cross-platform deployment (iOS, Android, and Web).</a:t>
            </a:r>
          </a:p>
          <a:p>
            <a:pPr algn="l" marL="453390" indent="-226695" lvl="1">
              <a:lnSpc>
                <a:spcPts val="4410"/>
              </a:lnSpc>
              <a:buFont typeface="Arial"/>
              <a:buChar char="•"/>
            </a:pPr>
            <a:r>
              <a:rPr lang="en-US" sz="2100">
                <a:solidFill>
                  <a:srgbClr val="F0CFC7"/>
                </a:solidFill>
                <a:latin typeface="Noto Serif Ethiopic Condensed"/>
                <a:ea typeface="Noto Serif Ethiopic Condensed"/>
                <a:cs typeface="Noto Serif Ethiopic Condensed"/>
                <a:sym typeface="Noto Serif Ethiopic Condensed"/>
              </a:rPr>
              <a:t>Cloud-integrated architecture for global user growth.</a:t>
            </a:r>
          </a:p>
        </p:txBody>
      </p:sp>
      <p:sp>
        <p:nvSpPr>
          <p:cNvPr name="TextBox 22" id="22"/>
          <p:cNvSpPr txBox="true"/>
          <p:nvPr/>
        </p:nvSpPr>
        <p:spPr>
          <a:xfrm rot="0">
            <a:off x="9551336" y="4233797"/>
            <a:ext cx="3425389" cy="984251"/>
          </a:xfrm>
          <a:prstGeom prst="rect">
            <a:avLst/>
          </a:prstGeom>
        </p:spPr>
        <p:txBody>
          <a:bodyPr anchor="t" rtlCol="false" tIns="0" lIns="0" bIns="0" rIns="0">
            <a:spAutoFit/>
          </a:bodyPr>
          <a:lstStyle/>
          <a:p>
            <a:pPr algn="ctr">
              <a:lnSpc>
                <a:spcPts val="4024"/>
              </a:lnSpc>
            </a:pPr>
            <a:r>
              <a:rPr lang="en-US" sz="2499" b="true">
                <a:solidFill>
                  <a:srgbClr val="3B1B4E"/>
                </a:solidFill>
                <a:latin typeface="Noto Serif Ethiopic Condensed Bold"/>
                <a:ea typeface="Noto Serif Ethiopic Condensed Bold"/>
                <a:cs typeface="Noto Serif Ethiopic Condensed Bold"/>
                <a:sym typeface="Noto Serif Ethiopic Condensed Bold"/>
              </a:rPr>
              <a:t>Scalability &amp; </a:t>
            </a:r>
          </a:p>
          <a:p>
            <a:pPr algn="ctr">
              <a:lnSpc>
                <a:spcPts val="4024"/>
              </a:lnSpc>
            </a:pPr>
            <a:r>
              <a:rPr lang="en-US" sz="2499" b="true">
                <a:solidFill>
                  <a:srgbClr val="3B1B4E"/>
                </a:solidFill>
                <a:latin typeface="Noto Serif Ethiopic Condensed Bold"/>
                <a:ea typeface="Noto Serif Ethiopic Condensed Bold"/>
                <a:cs typeface="Noto Serif Ethiopic Condensed Bold"/>
                <a:sym typeface="Noto Serif Ethiopic Condensed Bold"/>
              </a:rPr>
              <a:t>Platforms</a:t>
            </a:r>
          </a:p>
        </p:txBody>
      </p:sp>
      <p:grpSp>
        <p:nvGrpSpPr>
          <p:cNvPr name="Group 23" id="23"/>
          <p:cNvGrpSpPr/>
          <p:nvPr/>
        </p:nvGrpSpPr>
        <p:grpSpPr>
          <a:xfrm rot="0">
            <a:off x="5396033" y="4096575"/>
            <a:ext cx="3857189" cy="4186337"/>
            <a:chOff x="0" y="0"/>
            <a:chExt cx="1049574" cy="1139138"/>
          </a:xfrm>
        </p:grpSpPr>
        <p:sp>
          <p:nvSpPr>
            <p:cNvPr name="Freeform 24" id="24"/>
            <p:cNvSpPr/>
            <p:nvPr/>
          </p:nvSpPr>
          <p:spPr>
            <a:xfrm flipH="false" flipV="false" rot="0">
              <a:off x="0" y="0"/>
              <a:ext cx="1049574" cy="1139138"/>
            </a:xfrm>
            <a:custGeom>
              <a:avLst/>
              <a:gdLst/>
              <a:ahLst/>
              <a:cxnLst/>
              <a:rect r="r" b="b" t="t" l="l"/>
              <a:pathLst>
                <a:path h="1139138" w="1049574">
                  <a:moveTo>
                    <a:pt x="50179" y="0"/>
                  </a:moveTo>
                  <a:lnTo>
                    <a:pt x="999396" y="0"/>
                  </a:lnTo>
                  <a:cubicBezTo>
                    <a:pt x="1012704" y="0"/>
                    <a:pt x="1025467" y="5287"/>
                    <a:pt x="1034877" y="14697"/>
                  </a:cubicBezTo>
                  <a:cubicBezTo>
                    <a:pt x="1044287" y="24107"/>
                    <a:pt x="1049574" y="36870"/>
                    <a:pt x="1049574" y="50179"/>
                  </a:cubicBezTo>
                  <a:lnTo>
                    <a:pt x="1049574" y="1088960"/>
                  </a:lnTo>
                  <a:cubicBezTo>
                    <a:pt x="1049574" y="1102268"/>
                    <a:pt x="1044287" y="1115031"/>
                    <a:pt x="1034877" y="1124441"/>
                  </a:cubicBezTo>
                  <a:cubicBezTo>
                    <a:pt x="1025467" y="1133851"/>
                    <a:pt x="1012704" y="1139138"/>
                    <a:pt x="999396" y="1139138"/>
                  </a:cubicBezTo>
                  <a:lnTo>
                    <a:pt x="50179" y="1139138"/>
                  </a:lnTo>
                  <a:cubicBezTo>
                    <a:pt x="36870" y="1139138"/>
                    <a:pt x="24107" y="1133851"/>
                    <a:pt x="14697" y="1124441"/>
                  </a:cubicBezTo>
                  <a:cubicBezTo>
                    <a:pt x="5287" y="1115031"/>
                    <a:pt x="0" y="1102268"/>
                    <a:pt x="0" y="1088960"/>
                  </a:cubicBezTo>
                  <a:lnTo>
                    <a:pt x="0" y="50179"/>
                  </a:lnTo>
                  <a:cubicBezTo>
                    <a:pt x="0" y="36870"/>
                    <a:pt x="5287" y="24107"/>
                    <a:pt x="14697" y="14697"/>
                  </a:cubicBezTo>
                  <a:cubicBezTo>
                    <a:pt x="24107" y="5287"/>
                    <a:pt x="36870" y="0"/>
                    <a:pt x="50179" y="0"/>
                  </a:cubicBezTo>
                  <a:close/>
                </a:path>
              </a:pathLst>
            </a:custGeom>
            <a:solidFill>
              <a:srgbClr val="FFFFFF">
                <a:alpha val="12941"/>
              </a:srgbClr>
            </a:solidFill>
            <a:ln w="38100" cap="rnd">
              <a:solidFill>
                <a:srgbClr val="1D0E07">
                  <a:alpha val="12941"/>
                </a:srgbClr>
              </a:solidFill>
              <a:prstDash val="solid"/>
              <a:round/>
            </a:ln>
          </p:spPr>
        </p:sp>
        <p:sp>
          <p:nvSpPr>
            <p:cNvPr name="TextBox 25" id="25"/>
            <p:cNvSpPr txBox="true"/>
            <p:nvPr/>
          </p:nvSpPr>
          <p:spPr>
            <a:xfrm>
              <a:off x="0" y="-38100"/>
              <a:ext cx="1049574" cy="1177238"/>
            </a:xfrm>
            <a:prstGeom prst="rect">
              <a:avLst/>
            </a:prstGeom>
          </p:spPr>
          <p:txBody>
            <a:bodyPr anchor="ctr" rtlCol="false" tIns="49169" lIns="49169" bIns="49169" rIns="49169"/>
            <a:lstStyle/>
            <a:p>
              <a:pPr algn="ctr">
                <a:lnSpc>
                  <a:spcPts val="2659"/>
                </a:lnSpc>
              </a:pPr>
            </a:p>
          </p:txBody>
        </p:sp>
      </p:grpSp>
      <p:sp>
        <p:nvSpPr>
          <p:cNvPr name="TextBox 26" id="26"/>
          <p:cNvSpPr txBox="true"/>
          <p:nvPr/>
        </p:nvSpPr>
        <p:spPr>
          <a:xfrm rot="0">
            <a:off x="5616907" y="5359335"/>
            <a:ext cx="3377439" cy="3150235"/>
          </a:xfrm>
          <a:prstGeom prst="rect">
            <a:avLst/>
          </a:prstGeom>
        </p:spPr>
        <p:txBody>
          <a:bodyPr anchor="t" rtlCol="false" tIns="0" lIns="0" bIns="0" rIns="0">
            <a:spAutoFit/>
          </a:bodyPr>
          <a:lstStyle/>
          <a:p>
            <a:pPr algn="l" marL="431801" indent="-215900" lvl="1">
              <a:lnSpc>
                <a:spcPts val="4220"/>
              </a:lnSpc>
              <a:buFont typeface="Arial"/>
              <a:buChar char="•"/>
            </a:pPr>
            <a:r>
              <a:rPr lang="en-US" sz="2000">
                <a:solidFill>
                  <a:srgbClr val="F0CFC7"/>
                </a:solidFill>
                <a:latin typeface="Noto Serif Ethiopic Condensed"/>
                <a:ea typeface="Noto Serif Ethiopic Condensed"/>
                <a:cs typeface="Noto Serif Ethiopic Condensed"/>
                <a:sym typeface="Noto Serif Ethiopic Condensed"/>
              </a:rPr>
              <a:t>"Error B</a:t>
            </a:r>
            <a:r>
              <a:rPr lang="en-US" sz="2000">
                <a:solidFill>
                  <a:srgbClr val="F0CFC7"/>
                </a:solidFill>
                <a:latin typeface="Noto Serif Ethiopic Condensed"/>
                <a:ea typeface="Noto Serif Ethiopic Condensed"/>
                <a:cs typeface="Noto Serif Ethiopic Condensed"/>
                <a:sym typeface="Noto Serif Ethiopic Condensed"/>
              </a:rPr>
              <a:t>ot" integration for context-aware support.</a:t>
            </a:r>
          </a:p>
          <a:p>
            <a:pPr algn="l" marL="431801" indent="-215900" lvl="1">
              <a:lnSpc>
                <a:spcPts val="4220"/>
              </a:lnSpc>
              <a:buFont typeface="Arial"/>
              <a:buChar char="•"/>
            </a:pPr>
            <a:r>
              <a:rPr lang="en-US" sz="2000">
                <a:solidFill>
                  <a:srgbClr val="F0CFC7"/>
                </a:solidFill>
                <a:latin typeface="Noto Serif Ethiopic Condensed"/>
                <a:ea typeface="Noto Serif Ethiopic Condensed"/>
                <a:cs typeface="Noto Serif Ethiopic Condensed"/>
                <a:sym typeface="Noto Serif Ethiopic Condensed"/>
              </a:rPr>
              <a:t>Sentiment detection for adaptive, mood-based check-ins.</a:t>
            </a:r>
          </a:p>
          <a:p>
            <a:pPr algn="ctr">
              <a:lnSpc>
                <a:spcPts val="4220"/>
              </a:lnSpc>
            </a:pPr>
          </a:p>
        </p:txBody>
      </p:sp>
      <p:sp>
        <p:nvSpPr>
          <p:cNvPr name="TextBox 27" id="27"/>
          <p:cNvSpPr txBox="true"/>
          <p:nvPr/>
        </p:nvSpPr>
        <p:spPr>
          <a:xfrm rot="0">
            <a:off x="6241382" y="4359210"/>
            <a:ext cx="2166491" cy="876300"/>
          </a:xfrm>
          <a:prstGeom prst="rect">
            <a:avLst/>
          </a:prstGeom>
        </p:spPr>
        <p:txBody>
          <a:bodyPr anchor="t" rtlCol="false" tIns="0" lIns="0" bIns="0" rIns="0">
            <a:spAutoFit/>
          </a:bodyPr>
          <a:lstStyle/>
          <a:p>
            <a:pPr algn="ctr">
              <a:lnSpc>
                <a:spcPts val="3599"/>
              </a:lnSpc>
            </a:pPr>
            <a:r>
              <a:rPr lang="en-US" sz="2499" b="true">
                <a:solidFill>
                  <a:srgbClr val="3B1B4E"/>
                </a:solidFill>
                <a:latin typeface="Noto Serif Ethiopic Condensed Bold"/>
                <a:ea typeface="Noto Serif Ethiopic Condensed Bold"/>
                <a:cs typeface="Noto Serif Ethiopic Condensed Bold"/>
                <a:sym typeface="Noto Serif Ethiopic Condensed Bold"/>
              </a:rPr>
              <a:t>AI &amp; Advanced </a:t>
            </a:r>
          </a:p>
          <a:p>
            <a:pPr algn="ctr">
              <a:lnSpc>
                <a:spcPts val="3599"/>
              </a:lnSpc>
            </a:pPr>
            <a:r>
              <a:rPr lang="en-US" sz="2499" b="true">
                <a:solidFill>
                  <a:srgbClr val="3B1B4E"/>
                </a:solidFill>
                <a:latin typeface="Noto Serif Ethiopic Condensed Bold"/>
                <a:ea typeface="Noto Serif Ethiopic Condensed Bold"/>
                <a:cs typeface="Noto Serif Ethiopic Condensed Bold"/>
                <a:sym typeface="Noto Serif Ethiopic Condensed Bold"/>
              </a:rPr>
              <a:t>Features</a:t>
            </a:r>
          </a:p>
        </p:txBody>
      </p:sp>
      <p:grpSp>
        <p:nvGrpSpPr>
          <p:cNvPr name="Group 28" id="28"/>
          <p:cNvGrpSpPr/>
          <p:nvPr/>
        </p:nvGrpSpPr>
        <p:grpSpPr>
          <a:xfrm rot="0">
            <a:off x="13273287" y="4096575"/>
            <a:ext cx="3498829" cy="4186337"/>
            <a:chOff x="0" y="0"/>
            <a:chExt cx="952061" cy="1139138"/>
          </a:xfrm>
        </p:grpSpPr>
        <p:sp>
          <p:nvSpPr>
            <p:cNvPr name="Freeform 29" id="29"/>
            <p:cNvSpPr/>
            <p:nvPr/>
          </p:nvSpPr>
          <p:spPr>
            <a:xfrm flipH="false" flipV="false" rot="0">
              <a:off x="0" y="0"/>
              <a:ext cx="952061" cy="1139138"/>
            </a:xfrm>
            <a:custGeom>
              <a:avLst/>
              <a:gdLst/>
              <a:ahLst/>
              <a:cxnLst/>
              <a:rect r="r" b="b" t="t" l="l"/>
              <a:pathLst>
                <a:path h="1139138" w="952061">
                  <a:moveTo>
                    <a:pt x="55318" y="0"/>
                  </a:moveTo>
                  <a:lnTo>
                    <a:pt x="896743" y="0"/>
                  </a:lnTo>
                  <a:cubicBezTo>
                    <a:pt x="927295" y="0"/>
                    <a:pt x="952061" y="24767"/>
                    <a:pt x="952061" y="55318"/>
                  </a:cubicBezTo>
                  <a:lnTo>
                    <a:pt x="952061" y="1083820"/>
                  </a:lnTo>
                  <a:cubicBezTo>
                    <a:pt x="952061" y="1114371"/>
                    <a:pt x="927295" y="1139138"/>
                    <a:pt x="896743" y="1139138"/>
                  </a:cubicBezTo>
                  <a:lnTo>
                    <a:pt x="55318" y="1139138"/>
                  </a:lnTo>
                  <a:cubicBezTo>
                    <a:pt x="24767" y="1139138"/>
                    <a:pt x="0" y="1114371"/>
                    <a:pt x="0" y="1083820"/>
                  </a:cubicBezTo>
                  <a:lnTo>
                    <a:pt x="0" y="55318"/>
                  </a:lnTo>
                  <a:cubicBezTo>
                    <a:pt x="0" y="24767"/>
                    <a:pt x="24767" y="0"/>
                    <a:pt x="55318" y="0"/>
                  </a:cubicBezTo>
                  <a:close/>
                </a:path>
              </a:pathLst>
            </a:custGeom>
            <a:solidFill>
              <a:srgbClr val="FFFFFF">
                <a:alpha val="12941"/>
              </a:srgbClr>
            </a:solidFill>
            <a:ln w="38100" cap="rnd">
              <a:solidFill>
                <a:srgbClr val="1D0E07">
                  <a:alpha val="12941"/>
                </a:srgbClr>
              </a:solidFill>
              <a:prstDash val="solid"/>
              <a:round/>
            </a:ln>
          </p:spPr>
        </p:sp>
        <p:sp>
          <p:nvSpPr>
            <p:cNvPr name="TextBox 30" id="30"/>
            <p:cNvSpPr txBox="true"/>
            <p:nvPr/>
          </p:nvSpPr>
          <p:spPr>
            <a:xfrm>
              <a:off x="0" y="-38100"/>
              <a:ext cx="952061" cy="1177238"/>
            </a:xfrm>
            <a:prstGeom prst="rect">
              <a:avLst/>
            </a:prstGeom>
          </p:spPr>
          <p:txBody>
            <a:bodyPr anchor="ctr" rtlCol="false" tIns="49169" lIns="49169" bIns="49169" rIns="49169"/>
            <a:lstStyle/>
            <a:p>
              <a:pPr algn="ctr">
                <a:lnSpc>
                  <a:spcPts val="2659"/>
                </a:lnSpc>
              </a:pPr>
            </a:p>
          </p:txBody>
        </p:sp>
      </p:grpSp>
      <p:sp>
        <p:nvSpPr>
          <p:cNvPr name="TextBox 31" id="31"/>
          <p:cNvSpPr txBox="true"/>
          <p:nvPr/>
        </p:nvSpPr>
        <p:spPr>
          <a:xfrm rot="0">
            <a:off x="13398671" y="4275072"/>
            <a:ext cx="3257825" cy="996951"/>
          </a:xfrm>
          <a:prstGeom prst="rect">
            <a:avLst/>
          </a:prstGeom>
        </p:spPr>
        <p:txBody>
          <a:bodyPr anchor="t" rtlCol="false" tIns="0" lIns="0" bIns="0" rIns="0">
            <a:spAutoFit/>
          </a:bodyPr>
          <a:lstStyle/>
          <a:p>
            <a:pPr algn="ctr">
              <a:lnSpc>
                <a:spcPts val="4074"/>
              </a:lnSpc>
            </a:pPr>
            <a:r>
              <a:rPr lang="en-US" sz="2499" b="true">
                <a:solidFill>
                  <a:srgbClr val="3B1B4E"/>
                </a:solidFill>
                <a:latin typeface="Noto Serif Ethiopic Condensed Bold"/>
                <a:ea typeface="Noto Serif Ethiopic Condensed Bold"/>
                <a:cs typeface="Noto Serif Ethiopic Condensed Bold"/>
                <a:sym typeface="Noto Serif Ethiopic Condensed Bold"/>
              </a:rPr>
              <a:t>Partnerships &amp; Validation</a:t>
            </a:r>
          </a:p>
        </p:txBody>
      </p:sp>
      <p:sp>
        <p:nvSpPr>
          <p:cNvPr name="TextBox 32" id="32"/>
          <p:cNvSpPr txBox="true"/>
          <p:nvPr/>
        </p:nvSpPr>
        <p:spPr>
          <a:xfrm rot="0">
            <a:off x="13274839" y="5346900"/>
            <a:ext cx="3505490" cy="2884932"/>
          </a:xfrm>
          <a:prstGeom prst="rect">
            <a:avLst/>
          </a:prstGeom>
        </p:spPr>
        <p:txBody>
          <a:bodyPr anchor="t" rtlCol="false" tIns="0" lIns="0" bIns="0" rIns="0">
            <a:spAutoFit/>
          </a:bodyPr>
          <a:lstStyle/>
          <a:p>
            <a:pPr algn="l" marL="453390" indent="-226695" lvl="1">
              <a:lnSpc>
                <a:spcPts val="4704"/>
              </a:lnSpc>
              <a:buFont typeface="Arial"/>
              <a:buChar char="•"/>
            </a:pPr>
            <a:r>
              <a:rPr lang="en-US" sz="2100">
                <a:solidFill>
                  <a:srgbClr val="F0CFC7"/>
                </a:solidFill>
                <a:latin typeface="Noto Serif Ethiopic Condensed"/>
                <a:ea typeface="Noto Serif Ethiopic Condensed"/>
                <a:cs typeface="Noto Serif Ethiopic Condensed"/>
                <a:sym typeface="Noto Serif Ethiopic Condensed"/>
              </a:rPr>
              <a:t>Clinical content validation by licensed professionals.</a:t>
            </a:r>
          </a:p>
          <a:p>
            <a:pPr algn="l" marL="453390" indent="-226695" lvl="1">
              <a:lnSpc>
                <a:spcPts val="4704"/>
              </a:lnSpc>
              <a:buFont typeface="Arial"/>
              <a:buChar char="•"/>
            </a:pPr>
            <a:r>
              <a:rPr lang="en-US" sz="2100">
                <a:solidFill>
                  <a:srgbClr val="F0CFC7"/>
                </a:solidFill>
                <a:latin typeface="Noto Serif Ethiopic Condensed"/>
                <a:ea typeface="Noto Serif Ethiopic Condensed"/>
                <a:cs typeface="Noto Serif Ethiopic Condensed"/>
                <a:sym typeface="Noto Serif Ethiopic Condensed"/>
              </a:rPr>
              <a:t>Real-time integration with global emergency hotlines.</a:t>
            </a:r>
          </a:p>
          <a:p>
            <a:pPr algn="l">
              <a:lnSpc>
                <a:spcPts val="4704"/>
              </a:lnSpc>
            </a:pPr>
          </a:p>
        </p:txBody>
      </p:sp>
      <p:sp>
        <p:nvSpPr>
          <p:cNvPr name="Freeform 33" id="33"/>
          <p:cNvSpPr/>
          <p:nvPr/>
        </p:nvSpPr>
        <p:spPr>
          <a:xfrm flipH="false" flipV="false" rot="0">
            <a:off x="17550627" y="2882316"/>
            <a:ext cx="480267" cy="480267"/>
          </a:xfrm>
          <a:custGeom>
            <a:avLst/>
            <a:gdLst/>
            <a:ahLst/>
            <a:cxnLst/>
            <a:rect r="r" b="b" t="t" l="l"/>
            <a:pathLst>
              <a:path h="480267" w="480267">
                <a:moveTo>
                  <a:pt x="0" y="0"/>
                </a:moveTo>
                <a:lnTo>
                  <a:pt x="480267" y="0"/>
                </a:lnTo>
                <a:lnTo>
                  <a:pt x="480267" y="480268"/>
                </a:lnTo>
                <a:lnTo>
                  <a:pt x="0" y="48026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ransition spd="fast">
    <p:fade/>
  </p:transition>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542D5C"/>
        </a:solidFill>
      </p:bgPr>
    </p:bg>
    <p:spTree>
      <p:nvGrpSpPr>
        <p:cNvPr id="1" name=""/>
        <p:cNvGrpSpPr/>
        <p:nvPr/>
      </p:nvGrpSpPr>
      <p:grpSpPr>
        <a:xfrm>
          <a:off x="0" y="0"/>
          <a:ext cx="0" cy="0"/>
          <a:chOff x="0" y="0"/>
          <a:chExt cx="0" cy="0"/>
        </a:xfrm>
      </p:grpSpPr>
      <p:sp>
        <p:nvSpPr>
          <p:cNvPr name="Freeform 2" id="2"/>
          <p:cNvSpPr/>
          <p:nvPr/>
        </p:nvSpPr>
        <p:spPr>
          <a:xfrm flipH="false" flipV="false" rot="0">
            <a:off x="8367397" y="8577062"/>
            <a:ext cx="1553207" cy="256985"/>
          </a:xfrm>
          <a:custGeom>
            <a:avLst/>
            <a:gdLst/>
            <a:ahLst/>
            <a:cxnLst/>
            <a:rect r="r" b="b" t="t" l="l"/>
            <a:pathLst>
              <a:path h="256985" w="1553207">
                <a:moveTo>
                  <a:pt x="0" y="0"/>
                </a:moveTo>
                <a:lnTo>
                  <a:pt x="1553206" y="0"/>
                </a:lnTo>
                <a:lnTo>
                  <a:pt x="1553206" y="256985"/>
                </a:lnTo>
                <a:lnTo>
                  <a:pt x="0" y="25698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68208" y="2458359"/>
            <a:ext cx="3674083" cy="2010725"/>
          </a:xfrm>
          <a:custGeom>
            <a:avLst/>
            <a:gdLst/>
            <a:ahLst/>
            <a:cxnLst/>
            <a:rect r="r" b="b" t="t" l="l"/>
            <a:pathLst>
              <a:path h="2010725" w="3674083">
                <a:moveTo>
                  <a:pt x="0" y="0"/>
                </a:moveTo>
                <a:lnTo>
                  <a:pt x="3674083" y="0"/>
                </a:lnTo>
                <a:lnTo>
                  <a:pt x="3674083" y="2010726"/>
                </a:lnTo>
                <a:lnTo>
                  <a:pt x="0" y="201072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185897" y="3821495"/>
            <a:ext cx="3674083" cy="2010725"/>
          </a:xfrm>
          <a:custGeom>
            <a:avLst/>
            <a:gdLst/>
            <a:ahLst/>
            <a:cxnLst/>
            <a:rect r="r" b="b" t="t" l="l"/>
            <a:pathLst>
              <a:path h="2010725" w="3674083">
                <a:moveTo>
                  <a:pt x="0" y="0"/>
                </a:moveTo>
                <a:lnTo>
                  <a:pt x="3674083" y="0"/>
                </a:lnTo>
                <a:lnTo>
                  <a:pt x="3674083" y="2010725"/>
                </a:lnTo>
                <a:lnTo>
                  <a:pt x="0" y="20107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6835903" y="1456290"/>
            <a:ext cx="4616194" cy="4616194"/>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0" t="-11206" r="0" b="-11206"/>
              </a:stretch>
            </a:blipFill>
            <a:ln w="38100" cap="sq">
              <a:solidFill>
                <a:srgbClr val="3B1B4E"/>
              </a:solidFill>
              <a:prstDash val="solid"/>
              <a:miter/>
            </a:ln>
          </p:spPr>
        </p:sp>
      </p:grpSp>
      <p:sp>
        <p:nvSpPr>
          <p:cNvPr name="Freeform 7" id="7"/>
          <p:cNvSpPr/>
          <p:nvPr/>
        </p:nvSpPr>
        <p:spPr>
          <a:xfrm flipH="false" flipV="false" rot="0">
            <a:off x="12530385" y="1028700"/>
            <a:ext cx="4728915" cy="1534434"/>
          </a:xfrm>
          <a:custGeom>
            <a:avLst/>
            <a:gdLst/>
            <a:ahLst/>
            <a:cxnLst/>
            <a:rect r="r" b="b" t="t" l="l"/>
            <a:pathLst>
              <a:path h="1534434" w="4728915">
                <a:moveTo>
                  <a:pt x="0" y="0"/>
                </a:moveTo>
                <a:lnTo>
                  <a:pt x="4728915" y="0"/>
                </a:lnTo>
                <a:lnTo>
                  <a:pt x="4728915" y="1534434"/>
                </a:lnTo>
                <a:lnTo>
                  <a:pt x="0" y="1534434"/>
                </a:lnTo>
                <a:lnTo>
                  <a:pt x="0" y="0"/>
                </a:lnTo>
                <a:close/>
              </a:path>
            </a:pathLst>
          </a:custGeom>
          <a:blipFill>
            <a:blip r:embed="rId7"/>
            <a:stretch>
              <a:fillRect l="0" t="0" r="0" b="0"/>
            </a:stretch>
          </a:blipFill>
        </p:spPr>
      </p:sp>
      <p:sp>
        <p:nvSpPr>
          <p:cNvPr name="TextBox 8" id="8"/>
          <p:cNvSpPr txBox="true"/>
          <p:nvPr/>
        </p:nvSpPr>
        <p:spPr>
          <a:xfrm rot="0">
            <a:off x="2486274" y="6270370"/>
            <a:ext cx="13315452" cy="1961590"/>
          </a:xfrm>
          <a:prstGeom prst="rect">
            <a:avLst/>
          </a:prstGeom>
        </p:spPr>
        <p:txBody>
          <a:bodyPr anchor="t" rtlCol="false" tIns="0" lIns="0" bIns="0" rIns="0">
            <a:spAutoFit/>
          </a:bodyPr>
          <a:lstStyle/>
          <a:p>
            <a:pPr algn="ctr">
              <a:lnSpc>
                <a:spcPts val="14342"/>
              </a:lnSpc>
            </a:pPr>
            <a:r>
              <a:rPr lang="en-US" b="true" sz="15760">
                <a:solidFill>
                  <a:srgbClr val="F0CFC7"/>
                </a:solidFill>
                <a:latin typeface="Noto Serif Ethiopic Condensed Bold"/>
                <a:ea typeface="Noto Serif Ethiopic Condensed Bold"/>
                <a:cs typeface="Noto Serif Ethiopic Condensed Bold"/>
                <a:sym typeface="Noto Serif Ethiopic Condensed Bold"/>
              </a:rPr>
              <a:t>THANK YOU!</a:t>
            </a:r>
          </a:p>
        </p:txBody>
      </p:sp>
      <p:sp>
        <p:nvSpPr>
          <p:cNvPr name="TextBox 9" id="9"/>
          <p:cNvSpPr txBox="true"/>
          <p:nvPr/>
        </p:nvSpPr>
        <p:spPr>
          <a:xfrm rot="0">
            <a:off x="1028700" y="8910247"/>
            <a:ext cx="4530774" cy="381001"/>
          </a:xfrm>
          <a:prstGeom prst="rect">
            <a:avLst/>
          </a:prstGeom>
        </p:spPr>
        <p:txBody>
          <a:bodyPr anchor="t" rtlCol="false" tIns="0" lIns="0" bIns="0" rIns="0">
            <a:spAutoFit/>
          </a:bodyPr>
          <a:lstStyle/>
          <a:p>
            <a:pPr algn="l">
              <a:lnSpc>
                <a:spcPts val="2850"/>
              </a:lnSpc>
            </a:pPr>
            <a:r>
              <a:rPr lang="en-US" sz="3000" b="true">
                <a:solidFill>
                  <a:srgbClr val="EDC4BC"/>
                </a:solidFill>
                <a:latin typeface="Noto Serif Ethiopic Condensed Bold"/>
                <a:ea typeface="Noto Serif Ethiopic Condensed Bold"/>
                <a:cs typeface="Noto Serif Ethiopic Condensed Bold"/>
                <a:sym typeface="Noto Serif Ethiopic Condensed Bold"/>
              </a:rPr>
              <a:t>Presented by:</a:t>
            </a:r>
            <a:r>
              <a:rPr lang="en-US" sz="3000">
                <a:solidFill>
                  <a:srgbClr val="EDC4BC"/>
                </a:solidFill>
                <a:latin typeface="Noto Serif Ethiopic Condensed"/>
                <a:ea typeface="Noto Serif Ethiopic Condensed"/>
                <a:cs typeface="Noto Serif Ethiopic Condensed"/>
                <a:sym typeface="Noto Serif Ethiopic Condensed"/>
              </a:rPr>
              <a:t> UXplorers</a:t>
            </a:r>
          </a:p>
        </p:txBody>
      </p:sp>
      <p:sp>
        <p:nvSpPr>
          <p:cNvPr name="TextBox 10" id="10"/>
          <p:cNvSpPr txBox="true"/>
          <p:nvPr/>
        </p:nvSpPr>
        <p:spPr>
          <a:xfrm rot="0">
            <a:off x="1268834" y="1085850"/>
            <a:ext cx="5089668" cy="317502"/>
          </a:xfrm>
          <a:prstGeom prst="rect">
            <a:avLst/>
          </a:prstGeom>
        </p:spPr>
        <p:txBody>
          <a:bodyPr anchor="t" rtlCol="false" tIns="0" lIns="0" bIns="0" rIns="0">
            <a:spAutoFit/>
          </a:bodyPr>
          <a:lstStyle/>
          <a:p>
            <a:pPr algn="l">
              <a:lnSpc>
                <a:spcPts val="2375"/>
              </a:lnSpc>
            </a:pPr>
            <a:r>
              <a:rPr lang="en-US" sz="2500">
                <a:solidFill>
                  <a:srgbClr val="EDC4BC"/>
                </a:solidFill>
                <a:latin typeface="Noto Serif Ethiopic Condensed"/>
                <a:ea typeface="Noto Serif Ethiopic Condensed"/>
                <a:cs typeface="Noto Serif Ethiopic Condensed"/>
                <a:sym typeface="Noto Serif Ethiopic Condensed"/>
              </a:rPr>
              <a:t>Human Computer Interface ICTE 3002</a:t>
            </a: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DAHEN-um9hY</dc:identifier>
  <dcterms:modified xsi:type="dcterms:W3CDTF">2011-08-01T06:04:30Z</dcterms:modified>
  <cp:revision>1</cp:revision>
  <dc:title>Uxplorers - HelpEra PPT</dc:title>
</cp:coreProperties>
</file>